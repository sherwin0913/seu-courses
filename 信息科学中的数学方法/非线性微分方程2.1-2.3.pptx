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51"/>
  </p:notesMasterIdLst>
  <p:handoutMasterIdLst>
    <p:handoutMasterId r:id="rId52"/>
  </p:handoutMasterIdLst>
  <p:sldIdLst>
    <p:sldId id="370" r:id="rId3"/>
    <p:sldId id="371" r:id="rId4"/>
    <p:sldId id="361" r:id="rId5"/>
    <p:sldId id="376" r:id="rId6"/>
    <p:sldId id="377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85" r:id="rId15"/>
    <p:sldId id="386" r:id="rId16"/>
    <p:sldId id="387" r:id="rId17"/>
    <p:sldId id="390" r:id="rId18"/>
    <p:sldId id="388" r:id="rId19"/>
    <p:sldId id="389" r:id="rId20"/>
    <p:sldId id="391" r:id="rId21"/>
    <p:sldId id="392" r:id="rId22"/>
    <p:sldId id="393" r:id="rId23"/>
    <p:sldId id="394" r:id="rId24"/>
    <p:sldId id="395" r:id="rId25"/>
    <p:sldId id="397" r:id="rId26"/>
    <p:sldId id="398" r:id="rId27"/>
    <p:sldId id="399" r:id="rId28"/>
    <p:sldId id="400" r:id="rId29"/>
    <p:sldId id="401" r:id="rId30"/>
    <p:sldId id="402" r:id="rId31"/>
    <p:sldId id="403" r:id="rId32"/>
    <p:sldId id="404" r:id="rId33"/>
    <p:sldId id="405" r:id="rId34"/>
    <p:sldId id="406" r:id="rId35"/>
    <p:sldId id="407" r:id="rId36"/>
    <p:sldId id="408" r:id="rId37"/>
    <p:sldId id="409" r:id="rId38"/>
    <p:sldId id="396" r:id="rId39"/>
    <p:sldId id="410" r:id="rId40"/>
    <p:sldId id="411" r:id="rId41"/>
    <p:sldId id="412" r:id="rId42"/>
    <p:sldId id="413" r:id="rId43"/>
    <p:sldId id="414" r:id="rId44"/>
    <p:sldId id="415" r:id="rId45"/>
    <p:sldId id="416" r:id="rId46"/>
    <p:sldId id="417" r:id="rId47"/>
    <p:sldId id="418" r:id="rId48"/>
    <p:sldId id="419" r:id="rId49"/>
    <p:sldId id="375" r:id="rId50"/>
  </p:sldIdLst>
  <p:sldSz cx="12190413" cy="6859588"/>
  <p:notesSz cx="6858000" cy="9144000"/>
  <p:defaultTextStyle>
    <a:defPPr>
      <a:defRPr lang="zh-CN"/>
    </a:defPPr>
    <a:lvl1pPr marL="0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44195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88390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32585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76780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720975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5805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000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4195" algn="l" defTabSz="1088390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3838">
          <p15:clr>
            <a:srgbClr val="A4A3A4"/>
          </p15:clr>
        </p15:guide>
        <p15:guide id="3" pos="3839">
          <p15:clr>
            <a:srgbClr val="A4A3A4"/>
          </p15:clr>
        </p15:guide>
        <p15:guide id="4" pos="7196">
          <p15:clr>
            <a:srgbClr val="A4A3A4"/>
          </p15:clr>
        </p15:guide>
        <p15:guide id="5" pos="57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9095"/>
    <a:srgbClr val="5FCACC"/>
    <a:srgbClr val="309096"/>
    <a:srgbClr val="A0BF0A"/>
    <a:srgbClr val="F5841B"/>
    <a:srgbClr val="38B1BF"/>
    <a:srgbClr val="EF7768"/>
    <a:srgbClr val="FF9933"/>
    <a:srgbClr val="C7C7C7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12" autoAdjust="0"/>
    <p:restoredTop sz="94660"/>
  </p:normalViewPr>
  <p:slideViewPr>
    <p:cSldViewPr>
      <p:cViewPr varScale="1">
        <p:scale>
          <a:sx n="74" d="100"/>
          <a:sy n="74" d="100"/>
        </p:scale>
        <p:origin x="66" y="528"/>
      </p:cViewPr>
      <p:guideLst>
        <p:guide orient="horz" pos="2160"/>
        <p:guide orient="horz" pos="3838"/>
        <p:guide pos="3839"/>
        <p:guide pos="7196"/>
        <p:guide pos="57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83" d="100"/>
          <a:sy n="83" d="100"/>
        </p:scale>
        <p:origin x="-384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C15E6-6BD2-4E4B-B1D4-218C26E1B22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55EDCA-2189-4435-B38B-6F3C2C0443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7430C-5A66-4BD0-A971-34190B6C6019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C173A-3DA8-4893-B28A-1E15F55C330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CFFFE-7B4E-1788-9E45-78190431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5F51EE-7B41-37F9-BA95-B9A1CCD31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1324A8-D400-7C4B-3284-5C4BA70F7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EC2859-5616-F9EA-1D20-4DCC7DABA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746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B18C0-CFBB-A82E-E7E3-BBD9E4BA3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09A593-BD5D-7E57-67E6-757FFD15F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E02454-6C07-F081-6474-24B47792C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F0A31B-FBDB-6F44-5F40-A7D4F4D998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064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B523B-D46B-8B22-0F18-8CDA1E206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411459-82D3-E442-DA3C-56F119C6E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FC4191-0C6C-EAFD-96E9-AB9292D02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650878-3C5A-1CAC-D27E-B368F0A05B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841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D739B-A275-CA31-5972-981E4E275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97859D-AF8C-B801-6764-BDF82A986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968455-1405-7980-9C4B-7CB32D669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DA1CD0-03A2-6650-E566-02F4D18BC3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6071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8DDEE-07D6-CA43-37E3-665500648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504BC5-8B5E-7FE3-FD13-12EECB635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1B749D-161A-DA60-8449-807C6E0D6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B645F0-6324-CB12-E4EB-C7329A175E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922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8DFDD-6FFB-1D68-F45F-7190EBC68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EE364A-55AF-B0DA-CAD3-A87655778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08601D-A888-9889-1E12-38DAFCEFF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626765-7F16-8C2E-D9E0-3B9B8AD44B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8258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CAE8E-C1D0-D5E6-0E66-6DC738AA6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7642BB-430F-62DD-0F0B-6BDDDC1E9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B3AE7B5-89F6-4FFF-996C-EAA5C2053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85CE03-47D8-362E-CA21-912658887B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295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0F2E8-0F7F-97ED-0B37-1C85F7636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F9F16C-645E-B5FE-9E3F-1195995A2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4C7BFE-4AE7-FA6E-9CE5-FC9BAFB47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8B09ED-96FC-09C2-DF88-E34163CA72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840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2445F-D9CD-F8D6-FF2E-58D594DED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602F68-8853-D328-E945-82CAC730D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2A37BE-BFD4-418B-BF9A-214915C7E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CCC46E-E3EC-154E-ACAD-7037F99B88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C173A-3DA8-4893-B28A-1E15F55C330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452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D7358-5EFB-DBA0-6E6D-FACE109FB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537A4E-3427-C64C-6345-6DF362E58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CB684E-D36B-A7AF-4546-FC77FD1BB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8656B4-B1C1-7E66-3AE8-A0E6EC7DF2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80929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73F74-AB1C-D038-8B7E-81214840D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2683D2-2115-D0D8-2718-53A3EE208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98D063D-A8BB-15B3-D880-717F9498A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0F735B-C019-B98D-6FB3-19ED9878D9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0110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7658D-D955-0866-FC78-50D9AD136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A86F2B-FE75-5E41-C06D-0B7652F63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9DEBA5-877D-270B-38AA-92FF9FC64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304BB4-049B-01B1-2D50-F0045EB22F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93033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3B467-D23A-8A29-FFFB-EE7DD6FDB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9129D3-783B-BA47-41BD-A5658210D3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D512D7-E2CB-657E-136A-CF3D92A2E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005059-838A-B2BD-642A-7CBDCC7B6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75455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04931-F5AD-927F-A0CE-4F95F62A5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230F43-2D77-7E42-7EDF-7F5445F38D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CE24E6-3419-598D-ED6A-DF4F25AC9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E9995F-9B0D-F019-973E-59E00CC69A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0015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28386-9697-DE29-10BD-A78B07B74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715F4D-C90F-8C43-7FD5-BC0D23F08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7582F2-5314-D434-65B8-3FF57ECF6C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2C5C49-9AE6-7F5C-DC63-2315BFDF64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82697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12CDB-46FE-B12B-5872-0A42B71CA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6407AF-6E44-FD80-CCE1-020E5D7AF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4B9125-2FF7-1CF3-AE78-9BC77B182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41B531-A504-4541-BEBE-908EEF58D4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44936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DCB05-9A6C-F2F8-52A2-F19A80EDF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E164B1-C4BC-CEB4-2097-DF9F11127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2E92EB-FE68-1294-662B-5F0AB8FBC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80E3A0-FDCB-E6D0-A070-E7902A9922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84617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04976-173C-B0DD-C8F7-F7DB22D86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59CD73-8EB4-A240-DE4E-639134245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2A355E-941A-6A82-78F6-369414C62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B6319B-BB0C-F562-CBCF-730991255F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88378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D9B70-5043-5AA0-0D06-E2AB06FA4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6ABB10-D23C-3532-3E4A-FC606432A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427ED3-9931-2997-C8F0-383903BA5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7196A5-0DD4-70F5-7DC0-FEE1B40E07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07864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F7058-8084-0F64-35B5-007E641B8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984614-C46F-7C18-6AAB-62BE7E9DF6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79E31A-7E95-8582-0944-38827986A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424FEF-A4F8-03A5-C03B-24C1DB693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60912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5C9BA-D3EF-66AE-2819-FD9FDBD69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1039889-FD5A-C8F3-F64A-F31F8033E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ABE396D-A300-E62C-491A-2FCF5E2B9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14CAB2-3F60-5B02-FC97-EBB8B3601C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2416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7AB78-503E-376A-C851-820F0CA25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740D49-8579-FC34-122A-08518834A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C24B5E-38B0-E759-C106-3F3DB6B49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CFD150-F9D2-9DCF-7F29-3FD84479D2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2715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F1974-7F20-7B20-5D56-5A578F54F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471610-8A8C-10EC-913D-C33CF597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728E41-C576-E9A3-75BB-6125724AC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F4799C-0E40-6088-296C-2B627EAD4F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01103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05CD0-ABF1-76B1-906A-25B0524D1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63C06A-2062-C709-D183-6A9D53A61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E89CF3-77B0-6E1F-7534-BCDA853EC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DEC2BC-6938-119D-73EA-EAC0AA90E2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6381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1A268-3DCF-94A7-BF1B-2F59435C9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ED3817-5235-97EE-85F2-39CFC57EB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97C1D2-C352-0B00-E2BD-76912780C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4A93F8-961F-E36B-AA98-4119EC5766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73314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91C57-B195-C024-5E47-0D80D6580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4DD870-2503-13DB-5162-E3F3BB3C3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461D05-0CA6-EDEB-10D5-AAFA22536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8E13FD-EA15-1280-16CB-8A8395AE74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69803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00340-BC5E-55CC-F757-2EDC21893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E4B481-7281-270F-7C80-7CA4697640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B47B25-ED63-B3CD-4A0B-0BF9952FF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92A6D7-8425-B2F6-2999-959E678E01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29349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D0901-F647-475E-61CB-9498D9839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321B849-6494-83F8-BBF7-7AECFD80D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A89C41-DE41-5684-95D5-30D1B7C5F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65A297-48F5-148A-6277-DDC14D987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39644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D5BA6-1FEA-DAE8-EF5B-C5E1742D7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123728-A0DE-EC43-2F00-AAD078E14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56AB7D-335A-7E3C-C10B-0E58705D9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67B19A-F2F0-7612-C049-26D15C6B43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96260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AA9EA-6D0D-5704-975D-42613CF38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8FB66F-3BEF-2CAA-6500-328C6303B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178A63-76E6-3A66-76EF-62A7CA007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021F71-5B8F-CD97-3044-0D733EB6CD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0849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5B3B5-B229-1D93-6A70-A0C9ABFCA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493A51-BDB0-1C92-F506-9C8DB60BF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E12189D-2910-FB60-0815-44B981F4A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DA8054-DDCA-734E-88CC-E86D846F0C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4159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F3B89-9483-A92D-F78D-81955C52F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937BF6-1167-EBD1-E898-757EE5E3F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F69D04-CE70-2115-AE5B-93DE1E542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5D8D49-E037-6C90-C34E-447B1D71D1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62231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3A88F-22F1-8722-8F8D-0F2D45ACA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082D0B-12D0-19A4-ED93-F91CA3474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1F7EBF-42AD-011B-D494-683BA3E6A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56D6CB-A3A0-7367-49BD-0F17B0616B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1696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51C7-EEA0-5F15-B963-1D728DAA6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178BE9-7B96-0C25-78D5-06A7DACFA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61CA7D-E0F6-73A9-3BD4-4FB86905C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7C9FEE-6A4B-1992-C7DE-BF423DD1E2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7406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17375-E4A2-6CA4-8626-93FA13AA6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917A3E-E7CA-E607-4EB7-F3226FFF2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482480-1936-D32D-3CEA-78932D2F5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129BDE-CA1D-16D4-49A2-A40931491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54670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5BC15-ECF6-E0EC-FCE1-907DFEF1A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2CAAD4-5AC9-1E38-98E8-85979DBE9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3772FC-8A4B-D1A3-1EDA-4E19B2B0A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B3BC93-8E6E-6027-F580-9AB68528AD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506169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669F9-CA73-6977-7D57-84D4C0658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CDD407-0C45-CAC8-633E-5F09F7494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3AFF802-60E8-943A-DE6E-5B91AB8EC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F5DAF1-3D39-1D4F-F64D-7004412A8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30235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F6915-12CB-5506-B2B7-156FBB72F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9F8C0A-A2BD-2BBC-C65D-12A6421E2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301CDD-AB48-5A46-5E16-2452892D8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317482-6617-9208-DABE-E18053E01A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370386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2D9BB-251C-6BD7-EE55-15E984B09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DB00EC-26AE-F63F-1B3B-1E1D5F55C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7D3FD7-13D6-1987-62D7-026A4C06C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27701F-7393-B1D5-09BF-F0264BA798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148102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BA362-D5EA-8EEF-C8E0-F569C2BB5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9C0DD1-4A61-DC33-933D-D15FDABEC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A7BC09-1469-F4AE-9CBE-2785461E7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2B18B2-76E0-5557-54C2-891EFFD5C9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49308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B6E30-9AEB-DC4A-0203-D82321E92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F19047-4DF7-C179-1591-DBDADE825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14A2AA-3F55-3590-A8A0-AA3B593DF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8E8A3A-7B06-CEF2-1528-C899609212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2185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B106C-71E6-EBEA-C3DA-A9979C22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60A44A-97E1-9C67-83EB-A00A49634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CD3B8E-DF21-B701-A62A-50F75994D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03FBFB-7246-5469-DA42-879B26604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C173A-3DA8-4893-B28A-1E15F55C33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10883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74709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4AC173A-3DA8-4893-B28A-1E15F55C330A}" type="slidenum"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48</a:t>
            </a:fld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两栏内容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两栏内容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5"/>
          <p:cNvSpPr txBox="1"/>
          <p:nvPr userDrawn="1"/>
        </p:nvSpPr>
        <p:spPr>
          <a:xfrm>
            <a:off x="10801374" y="405458"/>
            <a:ext cx="1072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fld id="{2EEF1883-7A0E-4F66-9932-E581691AD397}" type="slidenum">
              <a:rPr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r>
              <a:rPr lang="zh-CN" alt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 b="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两栏内容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223906"/>
      </p:ext>
    </p:extLst>
  </p:cSld>
  <p:clrMapOvr>
    <a:masterClrMapping/>
  </p:clrMapOvr>
  <p:transition spd="med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6" descr="0006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" y="2"/>
            <a:ext cx="12190413" cy="6694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 descr="C:\Users\Administrator\Desktop\矢量httpwww.3lian.comvector（三联www.3lian.com） (2) [转换]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3110" y="189338"/>
            <a:ext cx="734684" cy="45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4"/>
            <a:ext cx="10361851" cy="1362391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med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med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6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6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med">
    <p:blinds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Desktop\矢量httpwww.3lian.comvector（三联www.3lian.com） (2) [转换]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3110" y="189338"/>
            <a:ext cx="734684" cy="45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blinds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24" y="273114"/>
            <a:ext cx="4010562" cy="116232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113" y="273116"/>
            <a:ext cx="6814779" cy="5854469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524" y="1435436"/>
            <a:ext cx="4010562" cy="4692149"/>
          </a:xfrm>
        </p:spPr>
        <p:txBody>
          <a:bodyPr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200" indent="0">
              <a:buNone/>
              <a:defRPr sz="1300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med">
    <p:blinds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06" y="4801713"/>
            <a:ext cx="7314248" cy="566870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06" y="612916"/>
            <a:ext cx="7314248" cy="4115753"/>
          </a:xfrm>
        </p:spPr>
        <p:txBody>
          <a:bodyPr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200" indent="0">
              <a:buNone/>
              <a:defRPr sz="3200"/>
            </a:lvl3pPr>
            <a:lvl4pPr marL="1828800" indent="0">
              <a:buNone/>
              <a:defRPr sz="2700"/>
            </a:lvl4pPr>
            <a:lvl5pPr marL="2438400" indent="0">
              <a:buNone/>
              <a:defRPr sz="2700"/>
            </a:lvl5pPr>
            <a:lvl6pPr marL="3048000" indent="0">
              <a:buNone/>
              <a:defRPr sz="2700"/>
            </a:lvl6pPr>
            <a:lvl7pPr marL="3657600" indent="0">
              <a:buNone/>
              <a:defRPr sz="2700"/>
            </a:lvl7pPr>
            <a:lvl8pPr marL="4267200" indent="0">
              <a:buNone/>
              <a:defRPr sz="2700"/>
            </a:lvl8pPr>
            <a:lvl9pPr marL="4876800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06" y="5368583"/>
            <a:ext cx="7314248" cy="805048"/>
          </a:xfrm>
        </p:spPr>
        <p:txBody>
          <a:bodyPr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200" indent="0">
              <a:buNone/>
              <a:defRPr sz="1300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2" descr="C:\Users\Administrator\Desktop\矢量httpwww.3lian.comvector（三联www.3lian.com） (2) [转换]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3110" y="189338"/>
            <a:ext cx="734684" cy="45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med">
    <p:blinds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 descr="C:\Users\Administrator\Desktop\矢量httpwww.3lian.comvector（三联www.3lian.com） (2) [转换]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3110" y="189338"/>
            <a:ext cx="734684" cy="45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6" r:id="rId6"/>
  </p:sldLayoutIdLst>
  <p:transition spd="med">
    <p:blinds dir="vert"/>
  </p:transition>
  <p:txStyles>
    <p:titleStyle>
      <a:lvl1pPr algn="ctr" defTabSz="1088390" rtl="0" eaLnBrk="1" latinLnBrk="0" hangingPunct="1">
        <a:spcBef>
          <a:spcPct val="0"/>
        </a:spcBef>
        <a:buNone/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8305" indent="-40830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84555" indent="-340360" algn="l" defTabSz="1088390" rtl="0" eaLnBrk="1" latinLnBrk="0" hangingPunct="1">
        <a:spcBef>
          <a:spcPct val="20000"/>
        </a:spcBef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6080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0500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19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339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8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780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975" indent="-272415" algn="l" defTabSz="10883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39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58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78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97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80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0000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195" algn="l" defTabSz="108839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1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4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565"/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2025/9/28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4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565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4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8565"/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ransition spd="med">
    <p:blinds dir="vert"/>
  </p:transition>
  <p:txStyles>
    <p:titleStyle>
      <a:lvl1pPr algn="ctr" defTabSz="1218565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5.bin"/><Relationship Id="rId3" Type="http://schemas.openxmlformats.org/officeDocument/2006/relationships/image" Target="../media/image41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6.wmf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8.w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4.bin"/><Relationship Id="rId5" Type="http://schemas.openxmlformats.org/officeDocument/2006/relationships/oleObject" Target="../embeddings/oleObject1.bin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4" Type="http://schemas.openxmlformats.org/officeDocument/2006/relationships/image" Target="../media/image42.png"/><Relationship Id="rId9" Type="http://schemas.openxmlformats.org/officeDocument/2006/relationships/oleObject" Target="../embeddings/oleObject3.bin"/><Relationship Id="rId14" Type="http://schemas.openxmlformats.org/officeDocument/2006/relationships/image" Target="../media/image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8" Type="http://schemas.openxmlformats.org/officeDocument/2006/relationships/oleObject" Target="../embeddings/oleObject7.bin"/><Relationship Id="rId3" Type="http://schemas.openxmlformats.org/officeDocument/2006/relationships/image" Target="../media/image41.png"/><Relationship Id="rId21" Type="http://schemas.openxmlformats.org/officeDocument/2006/relationships/image" Target="../media/image10.wmf"/><Relationship Id="rId7" Type="http://schemas.openxmlformats.org/officeDocument/2006/relationships/oleObject" Target="../embeddings/oleObject2.bin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20" Type="http://schemas.openxmlformats.org/officeDocument/2006/relationships/oleObject" Target="../embeddings/oleObject8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23" Type="http://schemas.openxmlformats.org/officeDocument/2006/relationships/image" Target="../media/image11.wmf"/><Relationship Id="rId10" Type="http://schemas.openxmlformats.org/officeDocument/2006/relationships/image" Target="../media/image5.wmf"/><Relationship Id="rId19" Type="http://schemas.openxmlformats.org/officeDocument/2006/relationships/image" Target="../media/image9.wmf"/><Relationship Id="rId4" Type="http://schemas.openxmlformats.org/officeDocument/2006/relationships/image" Target="../media/image47.png"/><Relationship Id="rId9" Type="http://schemas.openxmlformats.org/officeDocument/2006/relationships/oleObject" Target="../embeddings/oleObject3.bin"/><Relationship Id="rId22" Type="http://schemas.openxmlformats.org/officeDocument/2006/relationships/oleObject" Target="../embeddings/oleObject9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>
            <a:off x="4655046" y="1127493"/>
            <a:ext cx="2880320" cy="2483034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0" y="6406814"/>
            <a:ext cx="12190412" cy="452774"/>
            <a:chOff x="1" y="6406814"/>
            <a:chExt cx="12190412" cy="452774"/>
          </a:xfrm>
        </p:grpSpPr>
        <p:sp>
          <p:nvSpPr>
            <p:cNvPr id="32" name="六边形 31"/>
            <p:cNvSpPr/>
            <p:nvPr/>
          </p:nvSpPr>
          <p:spPr>
            <a:xfrm>
              <a:off x="1" y="6406814"/>
              <a:ext cx="3041773" cy="452774"/>
            </a:xfrm>
            <a:prstGeom prst="hexagon">
              <a:avLst/>
            </a:prstGeom>
            <a:solidFill>
              <a:srgbClr val="5FCA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六边形 32"/>
            <p:cNvSpPr/>
            <p:nvPr/>
          </p:nvSpPr>
          <p:spPr>
            <a:xfrm>
              <a:off x="3041775" y="6406814"/>
              <a:ext cx="3063750" cy="452774"/>
            </a:xfrm>
            <a:prstGeom prst="hexagon">
              <a:avLst/>
            </a:prstGeom>
            <a:solidFill>
              <a:srgbClr val="A0BF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六边形 33"/>
            <p:cNvSpPr/>
            <p:nvPr/>
          </p:nvSpPr>
          <p:spPr>
            <a:xfrm>
              <a:off x="6095207" y="6406814"/>
              <a:ext cx="3047603" cy="452774"/>
            </a:xfrm>
            <a:prstGeom prst="hexagon">
              <a:avLst/>
            </a:prstGeom>
            <a:solidFill>
              <a:srgbClr val="3190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六边形 34"/>
            <p:cNvSpPr/>
            <p:nvPr/>
          </p:nvSpPr>
          <p:spPr>
            <a:xfrm>
              <a:off x="9142810" y="6406814"/>
              <a:ext cx="3047603" cy="452774"/>
            </a:xfrm>
            <a:prstGeom prst="hexagon">
              <a:avLst/>
            </a:prstGeom>
            <a:solidFill>
              <a:srgbClr val="F58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六边形 35"/>
          <p:cNvSpPr/>
          <p:nvPr/>
        </p:nvSpPr>
        <p:spPr>
          <a:xfrm flipV="1">
            <a:off x="0" y="0"/>
            <a:ext cx="3047603" cy="93401"/>
          </a:xfrm>
          <a:prstGeom prst="hexagon">
            <a:avLst/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4367240" y="1559294"/>
            <a:ext cx="3582998" cy="2062087"/>
          </a:xfrm>
          <a:prstGeom prst="rect">
            <a:avLst/>
          </a:prstGeom>
          <a:noFill/>
        </p:spPr>
        <p:txBody>
          <a:bodyPr wrap="none" lIns="91423" tIns="45712" rIns="91423" bIns="45712" rtlCol="0">
            <a:spAutoFit/>
          </a:bodyPr>
          <a:lstStyle/>
          <a:p>
            <a:r>
              <a:rPr lang="en-US" altLang="zh-CN" sz="12800" dirty="0">
                <a:solidFill>
                  <a:srgbClr val="319095"/>
                </a:solidFill>
                <a:latin typeface="Impact" panose="020B0806030902050204" pitchFamily="34" charset="0"/>
              </a:rPr>
              <a:t>2025</a:t>
            </a:r>
            <a:endParaRPr lang="zh-CN" altLang="en-US" sz="12800" dirty="0">
              <a:solidFill>
                <a:srgbClr val="319095"/>
              </a:solidFill>
              <a:latin typeface="Impact" panose="020B0806030902050204" pitchFamily="34" charset="0"/>
            </a:endParaRPr>
          </a:p>
        </p:txBody>
      </p:sp>
      <p:sp>
        <p:nvSpPr>
          <p:cNvPr id="41" name="文本框 5"/>
          <p:cNvSpPr txBox="1"/>
          <p:nvPr/>
        </p:nvSpPr>
        <p:spPr>
          <a:xfrm>
            <a:off x="3656443" y="4778722"/>
            <a:ext cx="1925493" cy="384705"/>
          </a:xfrm>
          <a:prstGeom prst="rect">
            <a:avLst/>
          </a:prstGeom>
          <a:noFill/>
        </p:spPr>
        <p:txBody>
          <a:bodyPr wrap="none" lIns="91423" tIns="45712" rIns="91423" bIns="45712" rtlCol="0">
            <a:spAutoFit/>
          </a:bodyPr>
          <a:lstStyle/>
          <a:p>
            <a:pPr algn="ctr"/>
            <a:r>
              <a:rPr lang="zh-CN" alt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汇报人：谢铭宇</a:t>
            </a:r>
            <a:endParaRPr lang="en-US" altLang="zh-CN" sz="19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308657" y="3552761"/>
            <a:ext cx="5570721" cy="1015647"/>
          </a:xfrm>
          <a:prstGeom prst="rect">
            <a:avLst/>
          </a:prstGeom>
          <a:noFill/>
          <a:ln>
            <a:noFill/>
          </a:ln>
          <a:effectLst>
            <a:glow rad="1905000">
              <a:srgbClr val="F14124">
                <a:alpha val="40000"/>
              </a:srgbClr>
            </a:glow>
            <a:softEdge rad="1270000"/>
          </a:effectLst>
        </p:spPr>
        <p:txBody>
          <a:bodyPr wrap="none" lIns="91423" tIns="45712" rIns="91423" bIns="45712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非线性微分方程</a:t>
            </a:r>
          </a:p>
        </p:txBody>
      </p:sp>
      <p:sp>
        <p:nvSpPr>
          <p:cNvPr id="43" name="文本框 5"/>
          <p:cNvSpPr txBox="1"/>
          <p:nvPr/>
        </p:nvSpPr>
        <p:spPr>
          <a:xfrm>
            <a:off x="5736656" y="4778722"/>
            <a:ext cx="2787908" cy="384705"/>
          </a:xfrm>
          <a:prstGeom prst="rect">
            <a:avLst/>
          </a:prstGeom>
          <a:noFill/>
        </p:spPr>
        <p:txBody>
          <a:bodyPr wrap="none" lIns="91423" tIns="45712" rIns="91423" bIns="45712" rtlCol="0">
            <a:spAutoFit/>
          </a:bodyPr>
          <a:lstStyle/>
          <a:p>
            <a:pPr algn="ctr"/>
            <a:r>
              <a:rPr lang="zh-CN" alt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日期：</a:t>
            </a:r>
            <a:r>
              <a:rPr lang="en-US" altLang="zh-CN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r>
              <a:rPr lang="zh-CN" alt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en-US" altLang="zh-CN" sz="19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8543" y="113000"/>
            <a:ext cx="2144171" cy="692493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ctr"/>
            <a:r>
              <a:rPr lang="zh-CN" altLang="en-US" sz="37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东南大学</a:t>
            </a:r>
          </a:p>
        </p:txBody>
      </p:sp>
      <p:sp>
        <p:nvSpPr>
          <p:cNvPr id="19" name="六边形 18"/>
          <p:cNvSpPr/>
          <p:nvPr/>
        </p:nvSpPr>
        <p:spPr>
          <a:xfrm flipV="1">
            <a:off x="3041774" y="2632"/>
            <a:ext cx="3047603" cy="93401"/>
          </a:xfrm>
          <a:prstGeom prst="hexagon">
            <a:avLst/>
          </a:prstGeom>
          <a:solidFill>
            <a:srgbClr val="A0B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/>
          <p:cNvSpPr/>
          <p:nvPr/>
        </p:nvSpPr>
        <p:spPr>
          <a:xfrm flipV="1">
            <a:off x="6083548" y="2632"/>
            <a:ext cx="3047603" cy="93401"/>
          </a:xfrm>
          <a:prstGeom prst="hexag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/>
          <p:cNvSpPr/>
          <p:nvPr/>
        </p:nvSpPr>
        <p:spPr>
          <a:xfrm flipV="1">
            <a:off x="9142810" y="2632"/>
            <a:ext cx="3047603" cy="93401"/>
          </a:xfrm>
          <a:prstGeom prst="hexagon">
            <a:avLst/>
          </a:prstGeom>
          <a:solidFill>
            <a:srgbClr val="F58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标题层"/>
          <p:cNvSpPr txBox="1"/>
          <p:nvPr/>
        </p:nvSpPr>
        <p:spPr bwMode="auto">
          <a:xfrm>
            <a:off x="2549257" y="2205658"/>
            <a:ext cx="896527" cy="697788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sz="3700" kern="0" dirty="0">
                <a:solidFill>
                  <a:srgbClr val="319095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2.1</a:t>
            </a:r>
            <a:endParaRPr lang="zh-CN" altLang="en-US" sz="3700" kern="0" dirty="0">
              <a:solidFill>
                <a:srgbClr val="319095"/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71" name="直接连接符 70"/>
          <p:cNvCxnSpPr/>
          <p:nvPr/>
        </p:nvCxnSpPr>
        <p:spPr>
          <a:xfrm>
            <a:off x="3445786" y="2276259"/>
            <a:ext cx="0" cy="55658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72" name="标题层"/>
          <p:cNvSpPr txBox="1"/>
          <p:nvPr/>
        </p:nvSpPr>
        <p:spPr bwMode="auto">
          <a:xfrm>
            <a:off x="3537053" y="2205658"/>
            <a:ext cx="2126106" cy="697788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defTabSz="1218565">
              <a:defRPr/>
            </a:pPr>
            <a:r>
              <a:rPr lang="zh-CN" altLang="en-US" sz="3700" b="1" dirty="0">
                <a:solidFill>
                  <a:srgbClr val="3190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数学基础</a:t>
            </a:r>
          </a:p>
        </p:txBody>
      </p:sp>
      <p:cxnSp>
        <p:nvCxnSpPr>
          <p:cNvPr id="73" name="直接连接符 72"/>
          <p:cNvCxnSpPr>
            <a:cxnSpLocks/>
            <a:stCxn id="72" idx="3"/>
            <a:endCxn id="74" idx="1"/>
          </p:cNvCxnSpPr>
          <p:nvPr/>
        </p:nvCxnSpPr>
        <p:spPr>
          <a:xfrm>
            <a:off x="5663159" y="2554552"/>
            <a:ext cx="3192519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tailEnd type="oval"/>
          </a:ln>
          <a:effectLst/>
        </p:spPr>
      </p:cxnSp>
      <p:sp>
        <p:nvSpPr>
          <p:cNvPr id="74" name="标题层"/>
          <p:cNvSpPr txBox="1"/>
          <p:nvPr/>
        </p:nvSpPr>
        <p:spPr bwMode="auto">
          <a:xfrm>
            <a:off x="8855678" y="2328797"/>
            <a:ext cx="785476" cy="451510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kern="0" dirty="0">
                <a:solidFill>
                  <a:srgbClr val="319095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P3</a:t>
            </a:r>
            <a:endParaRPr lang="zh-CN" altLang="en-US" kern="0" dirty="0">
              <a:solidFill>
                <a:srgbClr val="319095"/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0" name="标题层"/>
          <p:cNvSpPr txBox="1"/>
          <p:nvPr/>
        </p:nvSpPr>
        <p:spPr bwMode="auto">
          <a:xfrm>
            <a:off x="2549259" y="3354957"/>
            <a:ext cx="896525" cy="692473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sz="37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2.2</a:t>
            </a:r>
            <a:endParaRPr lang="zh-CN" altLang="en-US" sz="3700" kern="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3445786" y="3425558"/>
            <a:ext cx="0" cy="55658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92" name="标题层"/>
          <p:cNvSpPr txBox="1"/>
          <p:nvPr/>
        </p:nvSpPr>
        <p:spPr bwMode="auto">
          <a:xfrm>
            <a:off x="3537052" y="3354957"/>
            <a:ext cx="4528625" cy="692473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defTabSz="1218565">
              <a:defRPr/>
            </a:pPr>
            <a:r>
              <a:rPr lang="zh-CN" altLang="en-US" sz="37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诱导范数和矩阵测度</a:t>
            </a:r>
          </a:p>
        </p:txBody>
      </p:sp>
      <p:cxnSp>
        <p:nvCxnSpPr>
          <p:cNvPr id="93" name="直接连接符 92"/>
          <p:cNvCxnSpPr>
            <a:cxnSpLocks/>
            <a:stCxn id="92" idx="3"/>
            <a:endCxn id="94" idx="1"/>
          </p:cNvCxnSpPr>
          <p:nvPr/>
        </p:nvCxnSpPr>
        <p:spPr>
          <a:xfrm>
            <a:off x="8065677" y="3701194"/>
            <a:ext cx="790001" cy="2657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tailEnd type="oval"/>
          </a:ln>
          <a:effectLst/>
        </p:spPr>
      </p:cxnSp>
      <p:sp>
        <p:nvSpPr>
          <p:cNvPr id="94" name="标题层"/>
          <p:cNvSpPr txBox="1"/>
          <p:nvPr/>
        </p:nvSpPr>
        <p:spPr bwMode="auto">
          <a:xfrm>
            <a:off x="8855678" y="3478096"/>
            <a:ext cx="785476" cy="451510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kern="0" dirty="0">
                <a:solidFill>
                  <a:prstClr val="black">
                    <a:lumMod val="65000"/>
                    <a:lumOff val="35000"/>
                  </a:prst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P23</a:t>
            </a:r>
            <a:endParaRPr lang="zh-CN" altLang="en-US" kern="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5" name="标题层"/>
          <p:cNvSpPr txBox="1"/>
          <p:nvPr/>
        </p:nvSpPr>
        <p:spPr bwMode="auto">
          <a:xfrm>
            <a:off x="2549257" y="4532206"/>
            <a:ext cx="896527" cy="692473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sz="37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2.3</a:t>
            </a:r>
            <a:endParaRPr lang="zh-CN" altLang="en-US" sz="3700" kern="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96" name="直接连接符 95"/>
          <p:cNvCxnSpPr/>
          <p:nvPr/>
        </p:nvCxnSpPr>
        <p:spPr>
          <a:xfrm>
            <a:off x="3445786" y="4602807"/>
            <a:ext cx="0" cy="55658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97" name="标题层"/>
          <p:cNvSpPr txBox="1"/>
          <p:nvPr/>
        </p:nvSpPr>
        <p:spPr bwMode="auto">
          <a:xfrm>
            <a:off x="3537052" y="4532206"/>
            <a:ext cx="3063749" cy="692473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defTabSz="1218565">
              <a:defRPr/>
            </a:pPr>
            <a:r>
              <a:rPr lang="zh-CN" altLang="en-US" sz="37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压缩映射原理</a:t>
            </a:r>
          </a:p>
        </p:txBody>
      </p:sp>
      <p:cxnSp>
        <p:nvCxnSpPr>
          <p:cNvPr id="98" name="直接连接符 97"/>
          <p:cNvCxnSpPr>
            <a:cxnSpLocks/>
            <a:stCxn id="97" idx="3"/>
          </p:cNvCxnSpPr>
          <p:nvPr/>
        </p:nvCxnSpPr>
        <p:spPr>
          <a:xfrm>
            <a:off x="6600801" y="4878443"/>
            <a:ext cx="2254877" cy="2657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tailEnd type="oval"/>
          </a:ln>
          <a:effectLst/>
        </p:spPr>
      </p:cxnSp>
      <p:sp>
        <p:nvSpPr>
          <p:cNvPr id="99" name="标题层"/>
          <p:cNvSpPr txBox="1"/>
          <p:nvPr/>
        </p:nvSpPr>
        <p:spPr bwMode="auto">
          <a:xfrm>
            <a:off x="8851154" y="4655345"/>
            <a:ext cx="790000" cy="451510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kern="0" dirty="0">
                <a:solidFill>
                  <a:prstClr val="black">
                    <a:lumMod val="65000"/>
                    <a:lumOff val="35000"/>
                  </a:prst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P38</a:t>
            </a:r>
            <a:endParaRPr lang="zh-CN" altLang="en-US" kern="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0" y="0"/>
            <a:ext cx="12192000" cy="1125538"/>
          </a:xfrm>
          <a:prstGeom prst="rect">
            <a:avLst/>
          </a:prstGeom>
          <a:solidFill>
            <a:srgbClr val="319095"/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774410" y="212081"/>
            <a:ext cx="464159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r>
              <a:rPr lang="en-US" altLang="zh-CN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0" y="6615474"/>
            <a:ext cx="12190412" cy="244114"/>
            <a:chOff x="-42912" y="6615474"/>
            <a:chExt cx="12190412" cy="244114"/>
          </a:xfrm>
        </p:grpSpPr>
        <p:sp>
          <p:nvSpPr>
            <p:cNvPr id="24" name="六边形 23"/>
            <p:cNvSpPr/>
            <p:nvPr/>
          </p:nvSpPr>
          <p:spPr>
            <a:xfrm>
              <a:off x="-42912" y="6615474"/>
              <a:ext cx="3041773" cy="244114"/>
            </a:xfrm>
            <a:prstGeom prst="hexagon">
              <a:avLst/>
            </a:prstGeom>
            <a:solidFill>
              <a:srgbClr val="5FCA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六边形 24"/>
            <p:cNvSpPr/>
            <p:nvPr/>
          </p:nvSpPr>
          <p:spPr>
            <a:xfrm>
              <a:off x="2998862" y="6615474"/>
              <a:ext cx="3063750" cy="244114"/>
            </a:xfrm>
            <a:prstGeom prst="hexagon">
              <a:avLst/>
            </a:prstGeom>
            <a:solidFill>
              <a:srgbClr val="A0BF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>
              <a:off x="6052294" y="6615474"/>
              <a:ext cx="3047603" cy="244114"/>
            </a:xfrm>
            <a:prstGeom prst="hexagon">
              <a:avLst/>
            </a:prstGeom>
            <a:solidFill>
              <a:srgbClr val="3190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六边形 26"/>
            <p:cNvSpPr/>
            <p:nvPr/>
          </p:nvSpPr>
          <p:spPr>
            <a:xfrm>
              <a:off x="9099897" y="6615474"/>
              <a:ext cx="3047603" cy="244114"/>
            </a:xfrm>
            <a:prstGeom prst="hexagon">
              <a:avLst/>
            </a:prstGeom>
            <a:solidFill>
              <a:srgbClr val="F58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/>
          <p:cNvSpPr/>
          <p:nvPr/>
        </p:nvSpPr>
        <p:spPr>
          <a:xfrm>
            <a:off x="1054646" y="1269554"/>
            <a:ext cx="10153128" cy="51845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/>
          <p:cNvSpPr/>
          <p:nvPr/>
        </p:nvSpPr>
        <p:spPr>
          <a:xfrm>
            <a:off x="1054646" y="1269554"/>
            <a:ext cx="424847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 1. 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实线性空间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或复线性空间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054646" y="1695649"/>
                <a:ext cx="10153128" cy="4648549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 indent="457200"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𝑉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是一个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带有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加法运算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sym typeface="Arial"/>
                      </a:rPr>
                      <m:t>+: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sym typeface="Arial"/>
                      </a:rPr>
                      <m:t>𝑉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×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𝑉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𝑉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和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乘法运算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sym typeface="Arial"/>
                      </a:rPr>
                      <m:t>∙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sym typeface="Arial"/>
                      </a:rPr>
                      <m:t>: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×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𝑉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𝑉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∙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: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𝑉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→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𝑉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的非空集合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如果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𝑉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是一个实线性空间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或复线性空间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), 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下列公理成立：</a:t>
                </a:r>
              </a:p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(V1)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𝑉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(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加法交换律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). 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(V2)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𝑧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𝑧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 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 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𝑧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𝑉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(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加法结合律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). </a:t>
                </a:r>
              </a:p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(V3)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∃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𝑂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𝑣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𝑉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使得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𝑂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𝑣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𝑂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𝑣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𝑉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(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存在零元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).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(V4)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𝑉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∃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 −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𝑉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使得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𝑂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存在负元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).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(V5)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ℂ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𝑉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我们有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或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  <m:sSub>
                          <m:sSubPr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).</a:t>
                </a:r>
              </a:p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(V6)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𝑟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𝑐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ℂ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),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我们有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𝑟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𝑟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𝑟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𝑐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𝑐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𝑐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).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(V7)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𝑐</m:t>
                        </m:r>
                      </m:e>
                      <m:sub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ℂ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𝑉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我们有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𝑟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𝑟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(V8)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𝑉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有 </a:t>
                </a:r>
                <a14:m>
                  <m:oMath xmlns:m="http://schemas.openxmlformats.org/officeDocument/2006/math"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1⋅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695649"/>
                <a:ext cx="10153128" cy="4648549"/>
              </a:xfrm>
              <a:prstGeom prst="rect">
                <a:avLst/>
              </a:prstGeom>
              <a:blipFill>
                <a:blip r:embed="rId3"/>
                <a:stretch>
                  <a:fillRect l="-4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/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/>
          <p:cNvSpPr txBox="1">
            <a:spLocks noChangeArrowheads="1"/>
          </p:cNvSpPr>
          <p:nvPr/>
        </p:nvSpPr>
        <p:spPr bwMode="auto">
          <a:xfrm>
            <a:off x="2590428" y="189434"/>
            <a:ext cx="4080842" cy="523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线性向量空间</a:t>
            </a:r>
          </a:p>
        </p:txBody>
      </p:sp>
      <p:sp>
        <p:nvSpPr>
          <p:cNvPr id="17" name="燕尾形 16"/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/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2.1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9291C-1D76-3AAA-9C91-650194ACA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E5AB9C53-1E3C-58F1-4F76-97FE81F1AAFF}"/>
              </a:ext>
            </a:extLst>
          </p:cNvPr>
          <p:cNvSpPr/>
          <p:nvPr/>
        </p:nvSpPr>
        <p:spPr>
          <a:xfrm>
            <a:off x="1054646" y="1398011"/>
            <a:ext cx="10153128" cy="131169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663D9997-7C7D-42A3-6914-55D11937A91D}"/>
              </a:ext>
            </a:extLst>
          </p:cNvPr>
          <p:cNvSpPr/>
          <p:nvPr/>
        </p:nvSpPr>
        <p:spPr>
          <a:xfrm>
            <a:off x="1054646" y="1398011"/>
            <a:ext cx="792088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1. 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797EED2-E572-4442-6731-834380CD979D}"/>
                  </a:ext>
                </a:extLst>
              </p:cNvPr>
              <p:cNvSpPr txBox="1"/>
              <p:nvPr/>
            </p:nvSpPr>
            <p:spPr>
              <a:xfrm>
                <a:off x="1054646" y="1824106"/>
                <a:ext cx="10153128" cy="458491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 indent="457200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是一个实线性空间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特别的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当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𝑛</m:t>
                    </m:r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=1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时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p>
                    </m:sSup>
                    <m:r>
                      <a:rPr lang="en-US" altLang="zh-CN" sz="1800" b="0" i="1" smtClean="0"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是一个实线性空间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797EED2-E572-4442-6731-834380CD9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824106"/>
                <a:ext cx="10153128" cy="458491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E53266C-EE7B-BBAA-390B-F041D1F05C2C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65AC8044-C1E2-53A8-DE51-781566831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线性向量空间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549DF022-94A0-A898-B3A5-91E85429BC7A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85919A47-C90F-5CFA-FF1C-9C747273B817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2.1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C1A250DC-8C9B-21FD-CE0E-F9AA0EE69146}"/>
              </a:ext>
            </a:extLst>
          </p:cNvPr>
          <p:cNvSpPr/>
          <p:nvPr/>
        </p:nvSpPr>
        <p:spPr>
          <a:xfrm>
            <a:off x="1054646" y="2925738"/>
            <a:ext cx="10153128" cy="352839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EF4C7837-40A7-F206-7926-30913E2F34BC}"/>
              </a:ext>
            </a:extLst>
          </p:cNvPr>
          <p:cNvSpPr/>
          <p:nvPr/>
        </p:nvSpPr>
        <p:spPr>
          <a:xfrm>
            <a:off x="1054646" y="2925738"/>
            <a:ext cx="792088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2. 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0C1FF5DB-EA23-3E3F-B42D-5D05A9E80902}"/>
                  </a:ext>
                </a:extLst>
              </p:cNvPr>
              <p:cNvSpPr txBox="1"/>
              <p:nvPr/>
            </p:nvSpPr>
            <p:spPr>
              <a:xfrm>
                <a:off x="1054646" y="3351833"/>
                <a:ext cx="10153128" cy="2728151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表示由区间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映射到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的所有函数的集合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如果加法和数量乘法定义如下：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设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和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中的两个函数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𝑟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𝑡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𝑡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𝑡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.</m:t>
                    </m:r>
                  </m:oMath>
                </a14:m>
                <a:endParaRPr lang="en-US" altLang="zh-CN" sz="1800" i="1" dirty="0">
                  <a:solidFill>
                    <a:schemeClr val="tx1"/>
                  </a:solidFill>
                  <a:latin typeface="Cambria Math" panose="02040503050406030204" pitchFamily="18" charset="0"/>
                  <a:sym typeface="Arial"/>
                </a:endParaRPr>
              </a:p>
              <a:p>
                <a:pPr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𝑟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𝑡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𝑟𝑥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𝑡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是一个实线性空间．</a:t>
                </a: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0C1FF5DB-EA23-3E3F-B42D-5D05A9E80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3351833"/>
                <a:ext cx="10153128" cy="2728151"/>
              </a:xfrm>
              <a:prstGeom prst="rect">
                <a:avLst/>
              </a:prstGeom>
              <a:blipFill>
                <a:blip r:embed="rId4"/>
                <a:stretch>
                  <a:fillRect l="-480" b="-26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625654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  <p:bldP spid="2" grpId="0" animBg="1"/>
      <p:bldP spid="3" grpId="0" animBg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D46B-2126-641B-E2B7-202FF1DAA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80EE238B-5848-3C98-6EF6-20B8AAFB0830}"/>
              </a:ext>
            </a:extLst>
          </p:cNvPr>
          <p:cNvSpPr/>
          <p:nvPr/>
        </p:nvSpPr>
        <p:spPr>
          <a:xfrm>
            <a:off x="1054646" y="1614035"/>
            <a:ext cx="10153128" cy="131169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68D39820-E3D1-1AFE-C7C9-02597BF8B6E1}"/>
              </a:ext>
            </a:extLst>
          </p:cNvPr>
          <p:cNvSpPr/>
          <p:nvPr/>
        </p:nvSpPr>
        <p:spPr>
          <a:xfrm>
            <a:off x="1054646" y="1614035"/>
            <a:ext cx="792088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3. 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9D342DD-9F20-1C56-2FC7-7E62B4FBC325}"/>
                  </a:ext>
                </a:extLst>
              </p:cNvPr>
              <p:cNvSpPr txBox="1"/>
              <p:nvPr/>
            </p:nvSpPr>
            <p:spPr>
              <a:xfrm>
                <a:off x="1054646" y="2040130"/>
                <a:ext cx="10153128" cy="874439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 indent="457200">
                  <a:lnSpc>
                    <a:spcPct val="150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由区间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映射到集合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的所有函数组成的集合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𝐹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是一个线性空间．</a:t>
                </a:r>
              </a:p>
              <a:p>
                <a:pPr indent="457200">
                  <a:lnSpc>
                    <a:spcPct val="150000"/>
                  </a:lnSpc>
                </a:pP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9D342DD-9F20-1C56-2FC7-7E62B4FBC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2040130"/>
                <a:ext cx="10153128" cy="8744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024E314-9933-DC34-4993-840A4A2A8DFE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1F62FF0E-2E53-84FF-FA1C-6BDA69986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线性向量空间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77FA3387-DEF0-38FA-6098-8FA1D2A6918E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CEA7796A-1660-95BC-A74F-85AA49DDB23A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2.1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9B9717F4-4798-6B8C-46CE-39DA26E822C8}"/>
              </a:ext>
            </a:extLst>
          </p:cNvPr>
          <p:cNvSpPr/>
          <p:nvPr/>
        </p:nvSpPr>
        <p:spPr>
          <a:xfrm>
            <a:off x="1054646" y="3141762"/>
            <a:ext cx="10153128" cy="302433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74CD7919-2643-CA76-3D31-EA44806AAB3F}"/>
              </a:ext>
            </a:extLst>
          </p:cNvPr>
          <p:cNvSpPr/>
          <p:nvPr/>
        </p:nvSpPr>
        <p:spPr>
          <a:xfrm>
            <a:off x="1054646" y="3141762"/>
            <a:ext cx="792088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4. 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3BC07CEB-ECF6-BEC7-301E-4196D3595BFB}"/>
                  </a:ext>
                </a:extLst>
              </p:cNvPr>
              <p:cNvSpPr txBox="1"/>
              <p:nvPr/>
            </p:nvSpPr>
            <p:spPr>
              <a:xfrm>
                <a:off x="1054646" y="3567857"/>
                <a:ext cx="10153128" cy="2279311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bg2">
                        <a:lumMod val="50000"/>
                      </a:schemeClr>
                    </a:solidFill>
                    <a:latin typeface="Arial"/>
                    <a:ea typeface="微软雅黑"/>
                    <a:sym typeface="Arial"/>
                  </a:rPr>
                  <a:t>      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sym typeface="Arial"/>
                      </a:rPr>
                      <m:t>𝑆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表示所有复值序列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=0</m:t>
                        </m:r>
                      </m:sub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的集合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如果加法和数量乘法定义如下：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设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𝑟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</a:p>
              <a:p>
                <a:pPr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∀ⅈ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</a:p>
              <a:p>
                <a:pPr lvl="0"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𝑟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⋅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b>
                        <m:acc>
                          <m:accPr>
                            <m:chr m:val="̇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𝑙</m:t>
                            </m:r>
                          </m:e>
                        </m:acc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𝑟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∀ⅈ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则通过选择相关的数量集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可以将其转化成实线性空间或复线性空间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3BC07CEB-ECF6-BEC7-301E-4196D3595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3567857"/>
                <a:ext cx="10153128" cy="2279311"/>
              </a:xfrm>
              <a:prstGeom prst="rect">
                <a:avLst/>
              </a:prstGeom>
              <a:blipFill>
                <a:blip r:embed="rId4"/>
                <a:stretch>
                  <a:fillRect l="-480" b="-3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9762271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  <p:bldP spid="2" grpId="0" animBg="1"/>
      <p:bldP spid="3" grpId="0" animBg="1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DFC97-6A2E-061E-9E9A-D3F2808D5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EDF5634E-FA98-C526-E701-6F4CEA06B7D7}"/>
              </a:ext>
            </a:extLst>
          </p:cNvPr>
          <p:cNvSpPr/>
          <p:nvPr/>
        </p:nvSpPr>
        <p:spPr>
          <a:xfrm>
            <a:off x="1054646" y="1629593"/>
            <a:ext cx="10153128" cy="259228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88415FE7-13B1-CFBF-822F-2D93B8B69842}"/>
              </a:ext>
            </a:extLst>
          </p:cNvPr>
          <p:cNvSpPr/>
          <p:nvPr/>
        </p:nvSpPr>
        <p:spPr>
          <a:xfrm>
            <a:off x="1054646" y="1629594"/>
            <a:ext cx="1944216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 2. 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子空间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1DD7030-9AFE-BA51-9ED3-78206DCDBECF}"/>
                  </a:ext>
                </a:extLst>
              </p:cNvPr>
              <p:cNvSpPr txBox="1"/>
              <p:nvPr/>
            </p:nvSpPr>
            <p:spPr>
              <a:xfrm>
                <a:off x="1054646" y="2055689"/>
                <a:ext cx="10153128" cy="1830470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如果线性空间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dirty="0">
                        <a:latin typeface="Cambria Math" panose="02040503050406030204" pitchFamily="18" charset="0"/>
                        <a:ea typeface="微软雅黑"/>
                        <a:sym typeface="Arial"/>
                      </a:rPr>
                      <m:t>V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的子集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/>
                        <a:sym typeface="Arial"/>
                      </a:rPr>
                      <m:t>𝑀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满足以下两个条件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微软雅黑"/>
                        <a:sym typeface="Arial"/>
                      </a:rPr>
                      <m:t>𝑀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dirty="0">
                        <a:latin typeface="Cambria Math" panose="02040503050406030204" pitchFamily="18" charset="0"/>
                        <a:ea typeface="微软雅黑"/>
                        <a:sym typeface="Arial"/>
                      </a:rPr>
                      <m:t>V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的子空间：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1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）如果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2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）如果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𝑟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或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ℂ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𝑟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微软雅黑"/>
                        <a:sym typeface="Arial"/>
                      </a:rPr>
                      <m:t>𝑀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是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dirty="0">
                        <a:latin typeface="Cambria Math" panose="02040503050406030204" pitchFamily="18" charset="0"/>
                        <a:ea typeface="微软雅黑"/>
                        <a:sym typeface="Arial"/>
                      </a:rPr>
                      <m:t>V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的子空间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则它本身就是一个线性空间．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1DD7030-9AFE-BA51-9ED3-78206DCDB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2055689"/>
                <a:ext cx="10153128" cy="1830470"/>
              </a:xfrm>
              <a:prstGeom prst="rect">
                <a:avLst/>
              </a:prstGeom>
              <a:blipFill>
                <a:blip r:embed="rId3"/>
                <a:stretch>
                  <a:fillRect l="-480" b="-4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19C75BD-E53A-AA60-D617-74B4B6505195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FD595A70-2238-EE62-EA80-ABC628A62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线性向量空间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C96BCDE8-6C7B-74A9-3F2B-47F8868264DB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581661EE-40E1-0C78-EF06-AB63FFC33F2F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2.1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圆角矩形 21">
            <a:extLst>
              <a:ext uri="{FF2B5EF4-FFF2-40B4-BE49-F238E27FC236}">
                <a16:creationId xmlns:a16="http://schemas.microsoft.com/office/drawing/2014/main" id="{B26B70B4-7F2D-EC2B-ACB3-D06F697E04F6}"/>
              </a:ext>
            </a:extLst>
          </p:cNvPr>
          <p:cNvSpPr/>
          <p:nvPr/>
        </p:nvSpPr>
        <p:spPr>
          <a:xfrm>
            <a:off x="1054646" y="4437906"/>
            <a:ext cx="10153128" cy="172819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六边形 5">
            <a:extLst>
              <a:ext uri="{FF2B5EF4-FFF2-40B4-BE49-F238E27FC236}">
                <a16:creationId xmlns:a16="http://schemas.microsoft.com/office/drawing/2014/main" id="{9AE25B5A-9EB7-C9F9-C064-9DE4C334614B}"/>
              </a:ext>
            </a:extLst>
          </p:cNvPr>
          <p:cNvSpPr/>
          <p:nvPr/>
        </p:nvSpPr>
        <p:spPr>
          <a:xfrm>
            <a:off x="1054646" y="4437906"/>
            <a:ext cx="792088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4. 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416B9249-0D07-1ECA-022E-41E981078ABB}"/>
                  </a:ext>
                </a:extLst>
              </p:cNvPr>
              <p:cNvSpPr txBox="1"/>
              <p:nvPr/>
            </p:nvSpPr>
            <p:spPr>
              <a:xfrm>
                <a:off x="1054646" y="4864001"/>
                <a:ext cx="10153128" cy="961642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如例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2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中定义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𝑡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表示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的子集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由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中使得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=0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的函数组成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那么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𝐹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的子空间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416B9249-0D07-1ECA-022E-41E981078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4864001"/>
                <a:ext cx="10153128" cy="961642"/>
              </a:xfrm>
              <a:prstGeom prst="rect">
                <a:avLst/>
              </a:prstGeom>
              <a:blipFill>
                <a:blip r:embed="rId4"/>
                <a:stretch>
                  <a:fillRect l="-480" b="-5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4050390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  <p:bldP spid="5" grpId="0" animBg="1"/>
      <p:bldP spid="6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2078B-E222-1DD4-25C1-8C64A9F2E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0086D5AD-EF61-1CD1-D476-9B8EDE513DDD}"/>
              </a:ext>
            </a:extLst>
          </p:cNvPr>
          <p:cNvSpPr/>
          <p:nvPr/>
        </p:nvSpPr>
        <p:spPr>
          <a:xfrm>
            <a:off x="1054646" y="2133650"/>
            <a:ext cx="10153128" cy="303989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FE0F7545-F9B8-00D7-3BD0-BCC4B2C6DD68}"/>
              </a:ext>
            </a:extLst>
          </p:cNvPr>
          <p:cNvSpPr/>
          <p:nvPr/>
        </p:nvSpPr>
        <p:spPr>
          <a:xfrm>
            <a:off x="1054646" y="2133651"/>
            <a:ext cx="28083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Def 3. </a:t>
            </a:r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赋范线性空间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7B1A864-D561-ECD3-0681-9B5E2A2F8E1F}"/>
                  </a:ext>
                </a:extLst>
              </p:cNvPr>
              <p:cNvSpPr txBox="1"/>
              <p:nvPr/>
            </p:nvSpPr>
            <p:spPr>
              <a:xfrm>
                <a:off x="1054646" y="2559746"/>
                <a:ext cx="10153128" cy="2279311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</a:t>
                </a:r>
                <a:r>
                  <a:rPr lang="zh-CN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是实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或复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)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的线性空间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函数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满足下列公理：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(N1).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≥0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;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=0</m:t>
                    </m:r>
                    <m:r>
                      <a:rPr lang="en-US" altLang="zh-CN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⇔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(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非负性及正定性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).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(N2).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dirty="0"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sym typeface="Arial"/>
                      </a:rPr>
                      <m:t>𝛼</m:t>
                    </m:r>
                    <m:r>
                      <a:rPr lang="en-US" altLang="zh-CN" sz="1800" dirty="0"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dirty="0"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  <m:r>
                      <a:rPr lang="zh-CN" altLang="en-US" sz="1800" i="1" dirty="0">
                        <a:latin typeface="Cambria Math" panose="02040503050406030204" pitchFamily="18" charset="0"/>
                        <a:sym typeface="Arial"/>
                      </a:rPr>
                      <m:t>或</m:t>
                    </m:r>
                    <m:r>
                      <a:rPr lang="en-US" altLang="zh-CN" sz="1800" dirty="0">
                        <a:latin typeface="Cambria Math" panose="02040503050406030204" pitchFamily="18" charset="0"/>
                        <a:sym typeface="Arial"/>
                      </a:rPr>
                      <m:t>ℂ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𝛼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𝛼</m:t>
                        </m:r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(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正齐性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).</a:t>
                </a:r>
              </a:p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(N3).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(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三角不等式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).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则称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上的一个范数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称为赋范线性空间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简称为赋范空间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7B1A864-D561-ECD3-0681-9B5E2A2F8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2559746"/>
                <a:ext cx="10153128" cy="2279311"/>
              </a:xfrm>
              <a:prstGeom prst="rect">
                <a:avLst/>
              </a:prstGeom>
              <a:blipFill>
                <a:blip r:embed="rId3"/>
                <a:stretch>
                  <a:fillRect l="-480" b="-3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DFF3DA5-F4BC-67BA-9DBA-52AC7FD6226C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1332C0DD-0F31-3060-4326-C4C63E844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赋范线性空间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8D758597-117E-85B1-B3CF-FB3773D88BFA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DB1A0638-A8B5-6562-C44F-D228B7297DCA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1279583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ED6D1-1C19-84D5-80DA-66036A361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837C759A-F694-3009-9168-40A355670B27}"/>
              </a:ext>
            </a:extLst>
          </p:cNvPr>
          <p:cNvSpPr/>
          <p:nvPr/>
        </p:nvSpPr>
        <p:spPr>
          <a:xfrm>
            <a:off x="1054646" y="1614034"/>
            <a:ext cx="10153128" cy="440804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41DB4322-8049-32A8-4B0B-39418FC55F30}"/>
              </a:ext>
            </a:extLst>
          </p:cNvPr>
          <p:cNvSpPr/>
          <p:nvPr/>
        </p:nvSpPr>
        <p:spPr>
          <a:xfrm>
            <a:off x="1054646" y="1614034"/>
            <a:ext cx="792088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6.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9301B6B-6809-1335-C73B-C4BEB96F4324}"/>
                  </a:ext>
                </a:extLst>
              </p:cNvPr>
              <p:cNvSpPr txBox="1"/>
              <p:nvPr/>
            </p:nvSpPr>
            <p:spPr>
              <a:xfrm>
                <a:off x="1054646" y="2040129"/>
                <a:ext cx="10153128" cy="3683092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40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是一个线性空间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在其上定义如下范数：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 algn="ctr">
                  <a:lnSpc>
                    <a:spcPts val="4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∞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max</m:t>
                        </m:r>
                      </m:e>
                      <m:lim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1≤ⅈ≤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</a:p>
              <a:p>
                <a:pPr algn="ctr">
                  <a:lnSpc>
                    <a:spcPts val="4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naryPr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=1</m:t>
                        </m:r>
                      </m:sub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 algn="ctr">
                  <a:lnSpc>
                    <a:spcPts val="4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𝑃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naryPr>
                              <m:sub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𝑖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zh-CN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Arial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sz="18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sym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18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sym typeface="Arial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sz="18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sym typeface="Arial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𝑃</m:t>
                                    </m:r>
                                  </m:sup>
                                </m:sSup>
                              </m:e>
                            </m:nary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fPr>
                          <m:num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𝑃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𝑝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1,∞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</a:p>
              <a:p>
                <a:pPr>
                  <a:lnSpc>
                    <a:spcPts val="4000"/>
                  </a:lnSpc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Arial"/>
                                  </a:rPr>
                                  <m:t>∙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∞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Arial"/>
                                  </a:rPr>
                                  <m:t>∙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ℝ</m:t>
                            </m:r>
                          </m:e>
                          <m:sup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p>
                        </m:sSup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Arial"/>
                                  </a:rPr>
                                  <m:t>∙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Arial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都是赋范线性空间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</a:p>
              <a:p>
                <a:pPr>
                  <a:lnSpc>
                    <a:spcPts val="4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叫做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范数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叫做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范数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叫做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范数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ts val="40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特别的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如果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𝑝</m:t>
                    </m:r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=2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naryPr>
                              <m:sub>
                                <m:acc>
                                  <m:accPr>
                                    <m:chr m:val="̇"/>
                                    <m:ctrlP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𝑖</m:t>
                                    </m:r>
                                  </m:e>
                                </m:acc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zh-CN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Arial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sz="18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sym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18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sym typeface="Arial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sz="18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sym typeface="Arial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fPr>
                          <m:num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它通常被称作欧几里得范数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或者是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𝑙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范数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9301B6B-6809-1335-C73B-C4BEB96F43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2040129"/>
                <a:ext cx="10153128" cy="3683092"/>
              </a:xfrm>
              <a:prstGeom prst="rect">
                <a:avLst/>
              </a:prstGeom>
              <a:blipFill>
                <a:blip r:embed="rId3"/>
                <a:stretch>
                  <a:fillRect l="-4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AC02DA8-F703-6F8C-0B53-E4002E56E1F9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BBC10666-A4DF-1C8B-3B44-CB1F1DF4C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赋范线性空间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7C990227-CB1C-621D-7CBE-4C9AA083109E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D5866A7C-A7D8-E238-7CBB-F2D2549FFA20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2000570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65682-ADA6-F0C3-74FC-545E157C8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211E8AEA-B0B7-EE9D-8058-9A35B5477F34}"/>
              </a:ext>
            </a:extLst>
          </p:cNvPr>
          <p:cNvSpPr/>
          <p:nvPr/>
        </p:nvSpPr>
        <p:spPr>
          <a:xfrm>
            <a:off x="1054646" y="2133650"/>
            <a:ext cx="10153128" cy="311190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A05DEE2-6CD1-4F3A-BCF4-A9B046A4ABC3}"/>
                  </a:ext>
                </a:extLst>
              </p:cNvPr>
              <p:cNvSpPr txBox="1"/>
              <p:nvPr/>
            </p:nvSpPr>
            <p:spPr>
              <a:xfrm>
                <a:off x="1054646" y="2559745"/>
                <a:ext cx="10153128" cy="2278798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给定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上任意两个范数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存在常数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𝑘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  <m:t>𝑘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使得：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𝑘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𝑘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e>
                      <m:sup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(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或</m:t>
                    </m:r>
                    <m:sSup>
                      <m:sSup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)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等价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例如：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∞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e>
                      <m:sup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∞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fPr>
                          <m:num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2</m:t>
                            </m:r>
                          </m:den>
                        </m:f>
                      </m:sup>
                    </m:sSup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e>
                      <m:sup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rgbClr val="E7E6E6">
                      <a:lumMod val="5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A05DEE2-6CD1-4F3A-BCF4-A9B046A4A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2559745"/>
                <a:ext cx="10153128" cy="2278798"/>
              </a:xfrm>
              <a:prstGeom prst="rect">
                <a:avLst/>
              </a:prstGeom>
              <a:blipFill>
                <a:blip r:embed="rId3"/>
                <a:stretch>
                  <a:fillRect l="-480" b="-3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67AD64C-1C3D-0307-A9CE-2C8BAB693947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1985A867-7C25-2493-F984-DE960080D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赋范线性空间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A646D68D-BB8C-A035-7219-D3679188D31D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8DFC8CEF-E4FB-9443-940E-F131115927F5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六边形 1">
            <a:extLst>
              <a:ext uri="{FF2B5EF4-FFF2-40B4-BE49-F238E27FC236}">
                <a16:creationId xmlns:a16="http://schemas.microsoft.com/office/drawing/2014/main" id="{358486B6-1CF8-15F0-9C58-82DA480C35E2}"/>
              </a:ext>
            </a:extLst>
          </p:cNvPr>
          <p:cNvSpPr/>
          <p:nvPr/>
        </p:nvSpPr>
        <p:spPr>
          <a:xfrm>
            <a:off x="1054646" y="2133650"/>
            <a:ext cx="136815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范数等价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673429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8" grpId="0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708B0-0519-A858-333F-0BD44F975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ED46F811-003B-E81B-A09F-6AD8EDF24E11}"/>
              </a:ext>
            </a:extLst>
          </p:cNvPr>
          <p:cNvSpPr/>
          <p:nvPr/>
        </p:nvSpPr>
        <p:spPr>
          <a:xfrm>
            <a:off x="1054646" y="1917626"/>
            <a:ext cx="10153128" cy="180019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7F2ED69A-E955-1A8D-8856-EEC83533EF4C}"/>
              </a:ext>
            </a:extLst>
          </p:cNvPr>
          <p:cNvSpPr/>
          <p:nvPr/>
        </p:nvSpPr>
        <p:spPr>
          <a:xfrm>
            <a:off x="1054646" y="1917626"/>
            <a:ext cx="172819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Def 4. </a:t>
            </a:r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A10A4B8-1D29-E359-2C50-59BDE018D4D9}"/>
                  </a:ext>
                </a:extLst>
              </p:cNvPr>
              <p:cNvSpPr txBox="1"/>
              <p:nvPr/>
            </p:nvSpPr>
            <p:spPr>
              <a:xfrm>
                <a:off x="1054646" y="2343721"/>
                <a:ext cx="10153128" cy="932788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1800" i="1"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  <a:sym typeface="Arial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  <m:t>ⅈ=0</m:t>
                        </m:r>
                      </m:sub>
                      <m:sup>
                        <m: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是赋范空间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 dirty="0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 dirty="0"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 dirty="0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中的序列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如果对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&gt;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∃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𝑁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ℤ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∀ⅈ≥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𝑁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使得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1800" i="1"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  <a:sym typeface="Arial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  <m:t>ⅈ=0</m:t>
                        </m:r>
                      </m:sub>
                      <m:sup>
                        <m: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依范数收敛到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A10A4B8-1D29-E359-2C50-59BDE018D4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2343721"/>
                <a:ext cx="10153128" cy="932788"/>
              </a:xfrm>
              <a:prstGeom prst="rect">
                <a:avLst/>
              </a:prstGeom>
              <a:blipFill>
                <a:blip r:embed="rId3"/>
                <a:stretch>
                  <a:fillRect l="-480" b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C034788-D78C-DCA2-CABD-A4EAD566CEBC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9D288E07-C091-E8DA-AC93-5D748A412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巴拿赫空间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0D50A12F-D4CD-F2CF-41A3-9C8D080B28D3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698648D7-1D42-FB57-6920-8EE1C2B9DB4E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F4A2C316-292D-4496-52F7-5740A16CEDA9}"/>
              </a:ext>
            </a:extLst>
          </p:cNvPr>
          <p:cNvSpPr/>
          <p:nvPr/>
        </p:nvSpPr>
        <p:spPr>
          <a:xfrm>
            <a:off x="1054646" y="4005857"/>
            <a:ext cx="10153128" cy="172819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FCF7C8DE-FA73-2156-7D87-8CAF84CBE379}"/>
              </a:ext>
            </a:extLst>
          </p:cNvPr>
          <p:cNvSpPr/>
          <p:nvPr/>
        </p:nvSpPr>
        <p:spPr>
          <a:xfrm>
            <a:off x="1054646" y="4005857"/>
            <a:ext cx="2232248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 5. 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柯西序列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7F4FE00A-AAE9-7DC2-6372-EB34FE8D1880}"/>
                  </a:ext>
                </a:extLst>
              </p:cNvPr>
              <p:cNvSpPr txBox="1"/>
              <p:nvPr/>
            </p:nvSpPr>
            <p:spPr>
              <a:xfrm>
                <a:off x="1054646" y="4431952"/>
                <a:ext cx="10153128" cy="954011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是赋范线性空间中的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序列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如果对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&gt;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∃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𝑁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ℤ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当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ⅈ,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𝑗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𝑁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时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有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𝐽</m:t>
                                </m:r>
                              </m:e>
                            </m:acc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则称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为柯西序列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7F4FE00A-AAE9-7DC2-6372-EB34FE8D1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4431952"/>
                <a:ext cx="10153128" cy="954011"/>
              </a:xfrm>
              <a:prstGeom prst="rect">
                <a:avLst/>
              </a:prstGeom>
              <a:blipFill>
                <a:blip r:embed="rId4"/>
                <a:stretch>
                  <a:fillRect r="-360" b="-70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2836354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  <p:bldP spid="2" grpId="0" animBg="1"/>
      <p:bldP spid="3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82EAB-256B-1ED8-9866-8AFA08FC5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F45626B7-6615-A10D-BF77-923F279250C1}"/>
              </a:ext>
            </a:extLst>
          </p:cNvPr>
          <p:cNvSpPr/>
          <p:nvPr/>
        </p:nvSpPr>
        <p:spPr>
          <a:xfrm>
            <a:off x="1054646" y="1557586"/>
            <a:ext cx="10153128" cy="122413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9DA627EF-DBE1-F6B0-0A81-5115D8B2A394}"/>
              </a:ext>
            </a:extLst>
          </p:cNvPr>
          <p:cNvSpPr/>
          <p:nvPr/>
        </p:nvSpPr>
        <p:spPr>
          <a:xfrm>
            <a:off x="1054646" y="1557586"/>
            <a:ext cx="1080120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引理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DDBA52-FCE7-7C3E-ACF7-F66E9F7F6D37}"/>
              </a:ext>
            </a:extLst>
          </p:cNvPr>
          <p:cNvSpPr txBox="1"/>
          <p:nvPr/>
        </p:nvSpPr>
        <p:spPr>
          <a:xfrm>
            <a:off x="1054646" y="1983681"/>
            <a:ext cx="10153128" cy="483947"/>
          </a:xfrm>
          <a:prstGeom prst="rect">
            <a:avLst/>
          </a:prstGeom>
          <a:noFill/>
        </p:spPr>
        <p:txBody>
          <a:bodyPr wrap="square" lIns="91472" tIns="45736" rIns="91472" bIns="45736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       在赋范线性空间中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,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收敛序列一定是柯西序列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,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反之不成立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.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E3DAE91-F16D-6AC6-8628-D39190FDE0C9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AC73EB3C-DD8E-9D3B-8C70-64E521183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巴拿赫空间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CD9C7B27-B181-82BE-179A-8D4FB6A65B64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6059DA61-3E56-30BD-4E51-97646FE208CA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9B88554B-9DDE-4B83-4D8D-738254B5A23E}"/>
              </a:ext>
            </a:extLst>
          </p:cNvPr>
          <p:cNvSpPr/>
          <p:nvPr/>
        </p:nvSpPr>
        <p:spPr>
          <a:xfrm>
            <a:off x="1054646" y="2997746"/>
            <a:ext cx="10153128" cy="316835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4A948D18-F4B3-CFF6-5435-AB31916ADB9F}"/>
              </a:ext>
            </a:extLst>
          </p:cNvPr>
          <p:cNvSpPr/>
          <p:nvPr/>
        </p:nvSpPr>
        <p:spPr>
          <a:xfrm>
            <a:off x="1054646" y="2997746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Proof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D762E5E1-C7EA-CE61-22C6-7A01DCC63AD5}"/>
                  </a:ext>
                </a:extLst>
              </p:cNvPr>
              <p:cNvSpPr txBox="1"/>
              <p:nvPr/>
            </p:nvSpPr>
            <p:spPr>
              <a:xfrm>
                <a:off x="1054646" y="3423841"/>
                <a:ext cx="10153128" cy="2279311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假设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是赋范线性空间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中的一个收敛序列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表示它的极限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假设对于给定的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&gt;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存在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一个整数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sym typeface="Arial"/>
                      </a:rPr>
                      <m:t>𝑁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满足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f>
                      <m:f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num>
                      <m:den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∀ⅈ≥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𝑁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当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ⅈ,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𝑗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𝑁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时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根据三角不等式有 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zh-CN" alt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sym typeface="Arial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1800" i="1"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f>
                      <m:f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num>
                      <m:den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den>
                    </m:f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f>
                      <m:f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num>
                      <m:den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den>
                    </m:f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因此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是柯西序列．</a:t>
                </a: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D762E5E1-C7EA-CE61-22C6-7A01DCC63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3423841"/>
                <a:ext cx="10153128" cy="2279311"/>
              </a:xfrm>
              <a:prstGeom prst="rect">
                <a:avLst/>
              </a:prstGeom>
              <a:blipFill>
                <a:blip r:embed="rId3"/>
                <a:stretch>
                  <a:fillRect l="-480" r="-720" b="-3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7644586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  <p:bldP spid="2" grpId="0" animBg="1"/>
      <p:bldP spid="3" grpId="0" animBg="1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9E325-4E65-6486-72FF-4E80750F9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124A35B9-6E9A-446A-5AFA-0C280BFE5889}"/>
              </a:ext>
            </a:extLst>
          </p:cNvPr>
          <p:cNvSpPr/>
          <p:nvPr/>
        </p:nvSpPr>
        <p:spPr>
          <a:xfrm>
            <a:off x="1054646" y="1773610"/>
            <a:ext cx="10153128" cy="18002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A4E5180A-BEE6-7338-23B1-6DC0A2A394B0}"/>
              </a:ext>
            </a:extLst>
          </p:cNvPr>
          <p:cNvSpPr/>
          <p:nvPr/>
        </p:nvSpPr>
        <p:spPr>
          <a:xfrm>
            <a:off x="1054646" y="1773611"/>
            <a:ext cx="2520280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 6. 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巴拿赫空间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8654920-ABFF-C69D-DDB9-4A32A1F7C19C}"/>
                  </a:ext>
                </a:extLst>
              </p:cNvPr>
              <p:cNvSpPr txBox="1"/>
              <p:nvPr/>
            </p:nvSpPr>
            <p:spPr>
              <a:xfrm>
                <a:off x="1054646" y="2199706"/>
                <a:ext cx="10153128" cy="932788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如果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中的每一个柯西序列都收敛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是完备的赋范线性空间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完备的赋范线性空间称为巴拿赫空间．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8654920-ABFF-C69D-DDB9-4A32A1F7C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2199706"/>
                <a:ext cx="10153128" cy="932788"/>
              </a:xfrm>
              <a:prstGeom prst="rect">
                <a:avLst/>
              </a:prstGeom>
              <a:blipFill>
                <a:blip r:embed="rId3"/>
                <a:stretch>
                  <a:fillRect l="-480" b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17DBECD-07BE-B214-0F40-4C8C1851D2C1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9766B156-FD37-8792-560A-94469205F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巴拿赫空间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3D3C0C13-8687-7937-FBB5-797A64EF55AD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8A2A7A9C-AC68-23FF-4C47-40D3BA9CDA68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2"/>
                </a:solidFill>
                <a:latin typeface="Eras Bold ITC" panose="020B0907030504020204" pitchFamily="34" charset="0"/>
                <a:ea typeface="微软雅黑" panose="020B0503020204020204" pitchFamily="34" charset="-122"/>
              </a:rPr>
              <a:t>2.1</a:t>
            </a:r>
            <a:endParaRPr lang="zh-CN" altLang="en-US" sz="3200" dirty="0">
              <a:solidFill>
                <a:schemeClr val="tx2"/>
              </a:solidFill>
              <a:latin typeface="Eras Bold ITC" panose="020B0907030504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圆角矩形 21">
            <a:extLst>
              <a:ext uri="{FF2B5EF4-FFF2-40B4-BE49-F238E27FC236}">
                <a16:creationId xmlns:a16="http://schemas.microsoft.com/office/drawing/2014/main" id="{227D8E1F-D29C-8076-3353-B105B9A94343}"/>
              </a:ext>
            </a:extLst>
          </p:cNvPr>
          <p:cNvSpPr/>
          <p:nvPr/>
        </p:nvSpPr>
        <p:spPr>
          <a:xfrm>
            <a:off x="1054646" y="3789835"/>
            <a:ext cx="10153128" cy="216023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六边形 5">
            <a:extLst>
              <a:ext uri="{FF2B5EF4-FFF2-40B4-BE49-F238E27FC236}">
                <a16:creationId xmlns:a16="http://schemas.microsoft.com/office/drawing/2014/main" id="{493D14A7-318A-9D2A-E6C0-CDCA5341B868}"/>
              </a:ext>
            </a:extLst>
          </p:cNvPr>
          <p:cNvSpPr/>
          <p:nvPr/>
        </p:nvSpPr>
        <p:spPr>
          <a:xfrm>
            <a:off x="1054646" y="3789835"/>
            <a:ext cx="792088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D9899ABE-E6B7-1BFA-7662-48908CD48BB7}"/>
                  </a:ext>
                </a:extLst>
              </p:cNvPr>
              <p:cNvSpPr txBox="1"/>
              <p:nvPr/>
            </p:nvSpPr>
            <p:spPr>
              <a:xfrm>
                <a:off x="1054646" y="4215930"/>
                <a:ext cx="10153128" cy="1381629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1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）如果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是一个巴拿赫空间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那么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其中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每一个柯西序列都是收敛的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;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2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）即使一个特定的赋范线性空间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不完备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我们可以通过添加一些元素的方式使其成为一个巴拿赫空间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这个过程称为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“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完备化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”.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endPara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D9899ABE-E6B7-1BFA-7662-48908CD48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4215930"/>
                <a:ext cx="10153128" cy="1381629"/>
              </a:xfrm>
              <a:prstGeom prst="rect">
                <a:avLst/>
              </a:prstGeom>
              <a:blipFill>
                <a:blip r:embed="rId4"/>
                <a:stretch>
                  <a:fillRect l="-480" b="-66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0913077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  <p:bldP spid="5" grpId="0" animBg="1"/>
      <p:bldP spid="6" grpId="0" animBg="1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7AD7F-A422-C4CC-5EF5-85BA7E97C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95F08A69-C42D-0872-18BA-B08964AD0BF3}"/>
              </a:ext>
            </a:extLst>
          </p:cNvPr>
          <p:cNvSpPr/>
          <p:nvPr/>
        </p:nvSpPr>
        <p:spPr>
          <a:xfrm>
            <a:off x="1054646" y="2493690"/>
            <a:ext cx="10153128" cy="224780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EFCA43D7-0440-4D6A-5FEB-A5BD4E941E26}"/>
              </a:ext>
            </a:extLst>
          </p:cNvPr>
          <p:cNvSpPr/>
          <p:nvPr/>
        </p:nvSpPr>
        <p:spPr>
          <a:xfrm>
            <a:off x="1054646" y="2493690"/>
            <a:ext cx="792088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 </a:t>
            </a:r>
            <a:r>
              <a: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3AE6A0F-F67C-68D7-9292-CD91E3DAB052}"/>
                  </a:ext>
                </a:extLst>
              </p:cNvPr>
              <p:cNvSpPr txBox="1"/>
              <p:nvPr/>
            </p:nvSpPr>
            <p:spPr>
              <a:xfrm>
                <a:off x="1054646" y="2919785"/>
                <a:ext cx="10153128" cy="1415035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设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C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表示将区间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映射到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中的所有连续函数的集合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定义函数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𝑐</m:t>
                        </m:r>
                      </m:sub>
                    </m:sSub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max</m:t>
                        </m:r>
                      </m:e>
                      <m:lim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≤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𝑡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≤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d>
                          <m:dPr>
                            <m:ctrlPr>
                              <a:rPr lang="en-US" altLang="zh-C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首先容易验证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𝑎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𝑏</m:t>
                            </m:r>
                          </m:e>
                        </m:d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∙</m:t>
                                </m:r>
                              </m:e>
                            </m:d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是一个赋范线性空间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又它是完备的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所以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pitchFamily="18" charset="0"/>
                        <a:sym typeface="Arial"/>
                      </a:rPr>
                      <m:t>C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是巴拿赫空间．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3AE6A0F-F67C-68D7-9292-CD91E3DAB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2919785"/>
                <a:ext cx="10153128" cy="1415035"/>
              </a:xfrm>
              <a:prstGeom prst="rect">
                <a:avLst/>
              </a:prstGeom>
              <a:blipFill>
                <a:blip r:embed="rId3"/>
                <a:stretch>
                  <a:fillRect l="-480" b="-38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1F7A867-02E4-9BE9-C868-8973CC200F89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1B0345A2-6584-F403-C231-6D34F6898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巴拿赫空间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BEB0241A-598E-6938-6857-8AB2B42B8226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1CF7FFBF-7F86-88F3-9642-291380185A78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7632457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09227-BB74-531B-E44F-7C43FD5B3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25D896C9-D4E3-8D17-A5BA-DE001ACEF36E}"/>
              </a:ext>
            </a:extLst>
          </p:cNvPr>
          <p:cNvSpPr/>
          <p:nvPr/>
        </p:nvSpPr>
        <p:spPr>
          <a:xfrm>
            <a:off x="1054646" y="1773610"/>
            <a:ext cx="10153128" cy="18002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338E3728-78C2-BA97-8B07-BE2B42798745}"/>
              </a:ext>
            </a:extLst>
          </p:cNvPr>
          <p:cNvSpPr/>
          <p:nvPr/>
        </p:nvSpPr>
        <p:spPr>
          <a:xfrm>
            <a:off x="1054646" y="1773610"/>
            <a:ext cx="172819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 7. 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A2FD3FD-408A-FD00-CB82-5129B3AAE128}"/>
                  </a:ext>
                </a:extLst>
              </p:cNvPr>
              <p:cNvSpPr txBox="1"/>
              <p:nvPr/>
            </p:nvSpPr>
            <p:spPr>
              <a:xfrm>
                <a:off x="1054646" y="2199705"/>
                <a:ext cx="10153128" cy="932788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∙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𝑋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𝑌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∙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𝑌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是两个赋范线性空间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𝑌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如果对于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&gt;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∃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𝛿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𝛿</m:t>
                    </m:r>
                    <m:d>
                      <m:dPr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𝛿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时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𝑌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我们就称函数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是连续的．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A2FD3FD-408A-FD00-CB82-5129B3AAE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2199705"/>
                <a:ext cx="10153128" cy="932788"/>
              </a:xfrm>
              <a:prstGeom prst="rect">
                <a:avLst/>
              </a:prstGeom>
              <a:blipFill>
                <a:blip r:embed="rId3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3BCA02C-7D63-6B49-BF04-CE752BDF024D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E6AD68CC-F220-D82C-F186-5576C0B9A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巴拿赫空间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87C393B4-871B-4C2C-85D1-3B5AE6D8FDA6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423B62B2-F6FB-9103-435E-D57A04BDB21F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313F46D4-5E84-C01C-AB69-36B086DFA802}"/>
              </a:ext>
            </a:extLst>
          </p:cNvPr>
          <p:cNvSpPr/>
          <p:nvPr/>
        </p:nvSpPr>
        <p:spPr>
          <a:xfrm>
            <a:off x="1054646" y="3861842"/>
            <a:ext cx="10153128" cy="18002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380A3362-04DF-3277-7A93-42E74E3E19A7}"/>
              </a:ext>
            </a:extLst>
          </p:cNvPr>
          <p:cNvSpPr/>
          <p:nvPr/>
        </p:nvSpPr>
        <p:spPr>
          <a:xfrm>
            <a:off x="1054646" y="3861842"/>
            <a:ext cx="2232248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 8. 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一致连续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5589A920-8854-CD7C-F012-44242EEE3D1F}"/>
                  </a:ext>
                </a:extLst>
              </p:cNvPr>
              <p:cNvSpPr txBox="1"/>
              <p:nvPr/>
            </p:nvSpPr>
            <p:spPr>
              <a:xfrm>
                <a:off x="1054646" y="4287937"/>
                <a:ext cx="10153128" cy="954011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 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sz="1800" i="1"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  <a:sym typeface="Arial"/>
                                  </a:rPr>
                                  <m:t>∙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𝑋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sym typeface="Arial"/>
                          </a:rPr>
                          <m:t>𝑌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sz="1800" i="1"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  <a:sym typeface="Arial"/>
                                  </a:rPr>
                                  <m:t>∙</m:t>
                                </m:r>
                              </m:e>
                            </m:d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𝑌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是两个赋范线性空间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𝑌</m:t>
                    </m:r>
                  </m:oMath>
                </a14:m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如果对于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&gt;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0</m:t>
                    </m:r>
                  </m:oMath>
                </a14:m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∃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sym typeface="Arial"/>
                      </a:rPr>
                      <m:t>𝛿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sym typeface="Arial"/>
                      </a:rPr>
                      <m:t>𝛿</m:t>
                    </m:r>
                    <m:d>
                      <m:d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</m:sub>
                    </m:sSub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𝛿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时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sz="1800" i="1"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r>
                              <a:rPr lang="zh-CN" altLang="en-US" sz="1800" i="1">
                                <a:latin typeface="Cambria Math" panose="02040503050406030204" pitchFamily="18" charset="0"/>
                                <a:sym typeface="Arial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sz="1800" i="1"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  <a:sym typeface="Arial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  <a:sym typeface="Arial"/>
                          </a:rPr>
                          <m:t>𝑌</m:t>
                        </m:r>
                      </m:sub>
                    </m:sSub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</m:oMath>
                </a14:m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我们就称函数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是一致连续的．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5589A920-8854-CD7C-F012-44242EEE3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4287937"/>
                <a:ext cx="10153128" cy="954011"/>
              </a:xfrm>
              <a:prstGeom prst="rect">
                <a:avLst/>
              </a:prstGeom>
              <a:blipFill>
                <a:blip r:embed="rId4"/>
                <a:stretch>
                  <a:fillRect b="-70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8930778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  <p:bldP spid="2" grpId="0" animBg="1"/>
      <p:bldP spid="3" grpId="0" animBg="1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516CC-D0DB-0DFF-AE2E-CF20056D4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E1E06396-12FA-60A5-F846-CA33902DB09B}"/>
              </a:ext>
            </a:extLst>
          </p:cNvPr>
          <p:cNvSpPr/>
          <p:nvPr/>
        </p:nvSpPr>
        <p:spPr>
          <a:xfrm>
            <a:off x="1054646" y="1773614"/>
            <a:ext cx="10153128" cy="396043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D4B8C3B-E2E4-352D-3B59-9B5B83F21CE4}"/>
              </a:ext>
            </a:extLst>
          </p:cNvPr>
          <p:cNvSpPr/>
          <p:nvPr/>
        </p:nvSpPr>
        <p:spPr>
          <a:xfrm>
            <a:off x="1054646" y="1773614"/>
            <a:ext cx="2232248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 9. 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内积空间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909E26-4747-E6E7-99E9-FAC8F124D80B}"/>
                  </a:ext>
                </a:extLst>
              </p:cNvPr>
              <p:cNvSpPr txBox="1"/>
              <p:nvPr/>
            </p:nvSpPr>
            <p:spPr>
              <a:xfrm>
                <a:off x="1054646" y="2199709"/>
                <a:ext cx="10153128" cy="3176992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是线性空间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如果函数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∙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∙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×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𝐹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满足下列公理：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1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如果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𝐹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对称性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)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；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如果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𝐹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ℂ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acc>
                      <m:accPr>
                        <m:chr m:val="̅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acc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</m:acc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共轭对称性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)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；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2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𝑧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𝑧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3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𝛼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𝐹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𝛼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𝛼</m:t>
                    </m:r>
                    <m:d>
                      <m:dPr>
                        <m:begChr m:val="⟨"/>
                        <m:endChr m:val="⟩"/>
                        <m:ctrlP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4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≥0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=0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当且仅当 </a:t>
                </a:r>
                <a14:m>
                  <m:oMath xmlns:m="http://schemas.openxmlformats.org/officeDocument/2006/math"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𝑂</m:t>
                        </m:r>
                      </m:e>
                      <m:sub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．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则称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∙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∙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上的内积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称为内积空间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909E26-4747-E6E7-99E9-FAC8F124D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2199709"/>
                <a:ext cx="10153128" cy="3176992"/>
              </a:xfrm>
              <a:prstGeom prst="rect">
                <a:avLst/>
              </a:prstGeom>
              <a:blipFill>
                <a:blip r:embed="rId3"/>
                <a:stretch>
                  <a:fillRect l="-480" b="-2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DBA4984-BFCF-4CA4-7030-57597BFF477B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8E878856-4C7B-6E14-4770-29EC5A599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内积空间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C1B10C33-437C-E871-FABC-40435A322835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A04689E3-B9D9-8CCD-5116-788215C2B50B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070920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C5389-FF16-AD1F-2310-BEB68378E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01E17F67-C5E9-CD95-6500-6B30428DA8D7}"/>
              </a:ext>
            </a:extLst>
          </p:cNvPr>
          <p:cNvSpPr/>
          <p:nvPr/>
        </p:nvSpPr>
        <p:spPr>
          <a:xfrm>
            <a:off x="1054646" y="1197546"/>
            <a:ext cx="10153128" cy="165618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02B04E40-4E01-CA18-E4AA-E3BB54F67827}"/>
              </a:ext>
            </a:extLst>
          </p:cNvPr>
          <p:cNvSpPr/>
          <p:nvPr/>
        </p:nvSpPr>
        <p:spPr>
          <a:xfrm>
            <a:off x="1054646" y="1197546"/>
            <a:ext cx="1080120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理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8A40D2E-71CD-E889-FF4A-9FC451AEF78C}"/>
                  </a:ext>
                </a:extLst>
              </p:cNvPr>
              <p:cNvSpPr txBox="1"/>
              <p:nvPr/>
            </p:nvSpPr>
            <p:spPr>
              <a:xfrm>
                <a:off x="1054646" y="1623641"/>
                <a:ext cx="10153128" cy="932788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给定一个内积空间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定义函数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∙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fPr>
                          <m:num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∙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上的一个范数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是赋范线性空间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8A40D2E-71CD-E889-FF4A-9FC451AEF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623641"/>
                <a:ext cx="10153128" cy="932788"/>
              </a:xfrm>
              <a:prstGeom prst="rect">
                <a:avLst/>
              </a:prstGeom>
              <a:blipFill>
                <a:blip r:embed="rId3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FA1E63C-C228-5B09-2EC0-DABA601932DA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D130DF57-D48C-17C8-5913-2C42CC4C1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内积空间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E2A1BDD6-37D0-CB27-AC7A-75587F4223BC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3D757E46-3934-80A5-0C4F-4BAE2E223DB5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BD0F4E31-912A-3193-69EA-CBFD7EFC74F3}"/>
              </a:ext>
            </a:extLst>
          </p:cNvPr>
          <p:cNvSpPr/>
          <p:nvPr/>
        </p:nvSpPr>
        <p:spPr>
          <a:xfrm>
            <a:off x="1054646" y="3069753"/>
            <a:ext cx="10153128" cy="345638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DBE1C6DA-3B3E-49F7-608E-504D12E41BDA}"/>
              </a:ext>
            </a:extLst>
          </p:cNvPr>
          <p:cNvSpPr/>
          <p:nvPr/>
        </p:nvSpPr>
        <p:spPr>
          <a:xfrm>
            <a:off x="1054646" y="3069753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Proof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E25E53F3-0A1D-0902-4922-D5571CB031A1}"/>
                  </a:ext>
                </a:extLst>
              </p:cNvPr>
              <p:cNvSpPr txBox="1"/>
              <p:nvPr/>
            </p:nvSpPr>
            <p:spPr>
              <a:xfrm>
                <a:off x="1054646" y="3495848"/>
                <a:ext cx="10153128" cy="2728151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对于赋范线性空间的非负性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正定性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正齐性很容易检验证明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只需验证三角不等式性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假设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有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𝑥</m:t>
                              </m:r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+</m:t>
                              </m:r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2</m:t>
                          </m:r>
                        </m:sup>
                      </m:sSup>
                      <m:r>
                        <a:rPr lang="zh-CN" alt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𝑥</m:t>
                          </m:r>
                          <m: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+</m:t>
                          </m:r>
                          <m: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𝑦</m:t>
                          </m:r>
                          <m: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,</m:t>
                          </m:r>
                          <m: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𝑥</m:t>
                          </m:r>
                          <m: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+</m:t>
                          </m:r>
                          <m: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𝑦</m:t>
                          </m:r>
                        </m:e>
                      </m:d>
                      <m:r>
                        <a:rPr lang="zh-CN" alt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sSup>
                        <m:sSupPr>
                          <m:ctrlP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2</m:t>
                          </m:r>
                        </m:sup>
                      </m:sSup>
                      <m:r>
                        <a:rPr lang="zh-CN" alt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+</m:t>
                      </m:r>
                      <m:sSup>
                        <m:sSupPr>
                          <m:ctrlP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dPr>
                            <m:e>
                              <m: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2</m:t>
                          </m:r>
                        </m:sup>
                      </m:sSup>
                      <m:r>
                        <a:rPr lang="zh-CN" alt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+2</m:t>
                      </m:r>
                      <m:d>
                        <m:dPr>
                          <m:begChr m:val="⟨"/>
                          <m:endChr m:val="⟩"/>
                          <m:ctrlP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𝑥</m:t>
                          </m:r>
                          <m:r>
                            <a:rPr lang="en-US" altLang="zh-CN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,</m:t>
                          </m:r>
                          <m: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  <m:t>𝑦</m:t>
                          </m:r>
                        </m:e>
                      </m:d>
                      <m:r>
                        <a:rPr lang="en-US" altLang="zh-C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  </m:t>
                      </m:r>
                    </m:oMath>
                  </m:oMathPara>
                </a14:m>
                <a:endParaRPr lang="en-US" altLang="zh-CN" sz="1800" i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                                          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+2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</m:oMath>
                </a14:m>
                <a:endParaRPr lang="en-US" altLang="zh-CN" sz="1800" i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en-US" altLang="zh-CN" sz="1800" i="1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对等式两边取平方根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得三角不等式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是赋范线性空间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E25E53F3-0A1D-0902-4922-D5571CB03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3495848"/>
                <a:ext cx="10153128" cy="2728151"/>
              </a:xfrm>
              <a:prstGeom prst="rect">
                <a:avLst/>
              </a:prstGeom>
              <a:blipFill>
                <a:blip r:embed="rId4"/>
                <a:stretch>
                  <a:fillRect l="-480" b="-2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6283782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  <p:bldP spid="2" grpId="0" animBg="1"/>
      <p:bldP spid="3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49435-3CF3-451E-A88C-9D3C6C49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FFBEB8A4-BF9D-1C0F-4D26-B3A70AE0D064}"/>
              </a:ext>
            </a:extLst>
          </p:cNvPr>
          <p:cNvSpPr/>
          <p:nvPr/>
        </p:nvSpPr>
        <p:spPr>
          <a:xfrm>
            <a:off x="1054646" y="2637706"/>
            <a:ext cx="10153128" cy="16415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55643586-3896-6E0C-24AF-F2ADC11D214C}"/>
              </a:ext>
            </a:extLst>
          </p:cNvPr>
          <p:cNvSpPr/>
          <p:nvPr/>
        </p:nvSpPr>
        <p:spPr>
          <a:xfrm>
            <a:off x="1054646" y="2637706"/>
            <a:ext cx="316835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引理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2. Schwarz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不等式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6B828E2-5ADD-FF92-228F-BF81ED61E221}"/>
                  </a:ext>
                </a:extLst>
              </p:cNvPr>
              <p:cNvSpPr txBox="1"/>
              <p:nvPr/>
            </p:nvSpPr>
            <p:spPr>
              <a:xfrm>
                <a:off x="1054646" y="3063801"/>
                <a:ext cx="10153128" cy="932788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如果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当且仅当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是线性相关的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即存在不同时为零的标量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𝛼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𝛽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𝐹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使得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𝛼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𝛽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𝑂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6B828E2-5ADD-FF92-228F-BF81ED61E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3063801"/>
                <a:ext cx="10153128" cy="932788"/>
              </a:xfrm>
              <a:prstGeom prst="rect">
                <a:avLst/>
              </a:prstGeom>
              <a:blipFill>
                <a:blip r:embed="rId3"/>
                <a:stretch>
                  <a:fillRect l="-480" r="-660" b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86D7F7F-6C7D-F0AF-F8B4-3FC6A02D3494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C484F5F6-F702-77CD-D5A0-3AE7FF391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内积空间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17B1ECE8-5E73-53BB-511B-EDCF89729AC3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F0DA83D1-7B13-3FF8-F5DA-62BD2507F97E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919053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8DAB2-E82A-8816-3BB0-D37BBC30E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C7B2FFD-7E9B-2E98-612B-21C5830785FA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905360E3-52D0-20D5-37C5-8CBCED0CA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内积空间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B170DB8C-D5F1-6E71-C30D-53FA1288A4EA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F1587BAB-B096-E320-E431-1337B4460F49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395A4908-6BA6-0834-D44B-E526A176189E}"/>
              </a:ext>
            </a:extLst>
          </p:cNvPr>
          <p:cNvSpPr/>
          <p:nvPr/>
        </p:nvSpPr>
        <p:spPr>
          <a:xfrm>
            <a:off x="1054646" y="1557586"/>
            <a:ext cx="10153128" cy="453650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D25C9D04-90A4-A3EE-7064-252242E2F066}"/>
              </a:ext>
            </a:extLst>
          </p:cNvPr>
          <p:cNvSpPr/>
          <p:nvPr/>
        </p:nvSpPr>
        <p:spPr>
          <a:xfrm>
            <a:off x="1054646" y="1557586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Proof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DE669616-7BED-76D1-518D-5F6FAB697D4D}"/>
                  </a:ext>
                </a:extLst>
              </p:cNvPr>
              <p:cNvSpPr txBox="1"/>
              <p:nvPr/>
            </p:nvSpPr>
            <p:spPr>
              <a:xfrm>
                <a:off x="1054646" y="1983681"/>
                <a:ext cx="10153128" cy="3625255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考虑函数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𝛼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𝛽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𝛼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𝛽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𝛼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𝛽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𝛼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𝛽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</m:oMath>
                </a14:m>
                <a:endParaRPr lang="en-US" altLang="zh-CN" sz="1800" i="1" dirty="0">
                  <a:solidFill>
                    <a:schemeClr val="tx1"/>
                  </a:solidFill>
                  <a:latin typeface="Cambria Math" panose="02040503050406030204" pitchFamily="18" charset="0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sym typeface="Arial"/>
                  </a:rPr>
                  <a:t>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𝛼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+2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𝛼𝛽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&gt;+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𝛽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因为对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𝛼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𝛽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有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𝛼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𝛽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≥0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由于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是这两个标量的二次型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𝛼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𝛽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≥0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当且仅当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4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𝛽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−4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𝛽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≤0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即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两边开方后则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 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现在假设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是线性无关的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即当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𝛼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𝛽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不同时为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0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时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𝛼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𝛽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≠0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那么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𝛼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𝛽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&gt;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当且仅当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4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𝛽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−4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𝛽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                           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即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引理得证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DE669616-7BED-76D1-518D-5F6FAB697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983681"/>
                <a:ext cx="10153128" cy="3625255"/>
              </a:xfrm>
              <a:prstGeom prst="rect">
                <a:avLst/>
              </a:prstGeom>
              <a:blipFill>
                <a:blip r:embed="rId3"/>
                <a:stretch>
                  <a:fillRect l="-480" b="-16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6904079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88B30-6646-3458-0656-D6B0A191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A7896FFB-767C-F7A5-4BCD-3F8EBF1A0DFE}"/>
              </a:ext>
            </a:extLst>
          </p:cNvPr>
          <p:cNvSpPr/>
          <p:nvPr/>
        </p:nvSpPr>
        <p:spPr>
          <a:xfrm>
            <a:off x="1054646" y="1197546"/>
            <a:ext cx="10153128" cy="122413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98054F93-E481-0F28-91E4-F653AAD72F9B}"/>
              </a:ext>
            </a:extLst>
          </p:cNvPr>
          <p:cNvSpPr/>
          <p:nvPr/>
        </p:nvSpPr>
        <p:spPr>
          <a:xfrm>
            <a:off x="1054646" y="1197546"/>
            <a:ext cx="2952328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10.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希尔伯特空间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4D8BF6-00EF-807F-F9C9-026EF9527472}"/>
              </a:ext>
            </a:extLst>
          </p:cNvPr>
          <p:cNvSpPr txBox="1"/>
          <p:nvPr/>
        </p:nvSpPr>
        <p:spPr>
          <a:xfrm>
            <a:off x="1054646" y="1623641"/>
            <a:ext cx="10153128" cy="483947"/>
          </a:xfrm>
          <a:prstGeom prst="rect">
            <a:avLst/>
          </a:prstGeom>
          <a:noFill/>
        </p:spPr>
        <p:txBody>
          <a:bodyPr wrap="square" lIns="91472" tIns="45736" rIns="91472" bIns="45736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       完备的内积空间称为希尔伯特空间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.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3ABC8BF-E631-A7FD-42D7-5917269115C9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8723F764-7034-8B4C-2477-99A741512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希尔伯特空间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EB806969-B6F6-0929-E784-6331E5863106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B7AC824B-9F5A-F07E-E2DA-2550225EAE66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B712701C-D89E-F847-8E0D-60462EDEEF94}"/>
              </a:ext>
            </a:extLst>
          </p:cNvPr>
          <p:cNvSpPr/>
          <p:nvPr/>
        </p:nvSpPr>
        <p:spPr>
          <a:xfrm>
            <a:off x="1054646" y="2637706"/>
            <a:ext cx="10153128" cy="172819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3CC7F5F4-2DAD-B2D0-42C4-C7FD6A74D507}"/>
              </a:ext>
            </a:extLst>
          </p:cNvPr>
          <p:cNvSpPr/>
          <p:nvPr/>
        </p:nvSpPr>
        <p:spPr>
          <a:xfrm>
            <a:off x="1054646" y="2637706"/>
            <a:ext cx="792088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 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B18B72FE-92CA-8B09-1990-8A1F7FE18759}"/>
                  </a:ext>
                </a:extLst>
              </p:cNvPr>
              <p:cNvSpPr txBox="1"/>
              <p:nvPr/>
            </p:nvSpPr>
            <p:spPr>
              <a:xfrm>
                <a:off x="1054646" y="3063801"/>
                <a:ext cx="10153128" cy="1001268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考虑线性空间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定义函数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∙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∙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×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naryPr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=1</m:t>
                        </m:r>
                      </m:sub>
                      <m:sup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𝑙</m:t>
                                </m:r>
                              </m:e>
                            </m:acc>
                          </m:sub>
                        </m:sSub>
                      </m:e>
                    </m:nary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为内积空间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由这个内积可以定义范数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grow m:val="on"/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naryPr>
                              <m:sub>
                                <m:acc>
                                  <m:accPr>
                                    <m:chr m:val="̇"/>
                                    <m:ctrlP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𝑖</m:t>
                                    </m:r>
                                  </m:e>
                                </m:acc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zh-CN" altLang="en-US" sz="18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sym typeface="Arial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sz="18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sym typeface="Arial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sz="18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sym typeface="Arial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 sz="18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sym typeface="Arial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d>
                      </m:e>
                      <m:sup>
                        <m:f>
                          <m:f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fPr>
                          <m:num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实际上是一个希尔伯特空间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B18B72FE-92CA-8B09-1990-8A1F7FE18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3063801"/>
                <a:ext cx="10153128" cy="1001268"/>
              </a:xfrm>
              <a:prstGeom prst="rect">
                <a:avLst/>
              </a:prstGeom>
              <a:blipFill>
                <a:blip r:embed="rId3"/>
                <a:stretch>
                  <a:fillRect l="-480" t="-48171" b="-35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圆角矩形 21">
            <a:extLst>
              <a:ext uri="{FF2B5EF4-FFF2-40B4-BE49-F238E27FC236}">
                <a16:creationId xmlns:a16="http://schemas.microsoft.com/office/drawing/2014/main" id="{46F548D5-0254-A9E8-03C0-8E5717F68309}"/>
              </a:ext>
            </a:extLst>
          </p:cNvPr>
          <p:cNvSpPr/>
          <p:nvPr/>
        </p:nvSpPr>
        <p:spPr>
          <a:xfrm>
            <a:off x="1054646" y="4581927"/>
            <a:ext cx="10153128" cy="172819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六边形 5">
            <a:extLst>
              <a:ext uri="{FF2B5EF4-FFF2-40B4-BE49-F238E27FC236}">
                <a16:creationId xmlns:a16="http://schemas.microsoft.com/office/drawing/2014/main" id="{A079EE19-BE93-3A73-15AE-AD5DBDE0F8B3}"/>
              </a:ext>
            </a:extLst>
          </p:cNvPr>
          <p:cNvSpPr/>
          <p:nvPr/>
        </p:nvSpPr>
        <p:spPr>
          <a:xfrm>
            <a:off x="1054646" y="4581927"/>
            <a:ext cx="792088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 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9.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16A9D85A-FDCC-7E2A-2CA2-3C07A63839F0}"/>
                  </a:ext>
                </a:extLst>
              </p:cNvPr>
              <p:cNvSpPr txBox="1"/>
              <p:nvPr/>
            </p:nvSpPr>
            <p:spPr>
              <a:xfrm>
                <a:off x="1054646" y="5008022"/>
                <a:ext cx="10153128" cy="932339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在线性空间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定义内积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⋅</m:t>
                                </m:r>
                              </m:e>
                            </m:d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⋅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𝑐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nary>
                      <m:naryPr>
                        <m:limLoc m:val="undOvr"/>
                        <m:grow m:val="on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naryPr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</m:sub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sup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ⅆ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𝑡</m:t>
                        </m:r>
                      </m:e>
                    </m:nary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其中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对于这个内积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𝑎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不是希尔伯特空间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16A9D85A-FDCC-7E2A-2CA2-3C07A6383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5008022"/>
                <a:ext cx="10153128" cy="932339"/>
              </a:xfrm>
              <a:prstGeom prst="rect">
                <a:avLst/>
              </a:prstGeom>
              <a:blipFill>
                <a:blip r:embed="rId4"/>
                <a:stretch>
                  <a:fillRect l="-480" t="-46711" b="-427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0539250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  <p:bldP spid="2" grpId="0" animBg="1"/>
      <p:bldP spid="3" grpId="0" animBg="1"/>
      <p:bldP spid="4" grpId="0"/>
      <p:bldP spid="5" grpId="0" animBg="1"/>
      <p:bldP spid="6" grpId="0" animBg="1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69A8E-7BA3-E1AC-6080-1DB1B715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346EFCDA-BF26-8CC8-36BB-B528A962AC41}"/>
              </a:ext>
            </a:extLst>
          </p:cNvPr>
          <p:cNvSpPr/>
          <p:nvPr/>
        </p:nvSpPr>
        <p:spPr>
          <a:xfrm>
            <a:off x="1054646" y="1413570"/>
            <a:ext cx="10153128" cy="129614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3192DAD2-8FAE-8908-A81E-E57D9590DC18}"/>
              </a:ext>
            </a:extLst>
          </p:cNvPr>
          <p:cNvSpPr/>
          <p:nvPr/>
        </p:nvSpPr>
        <p:spPr>
          <a:xfrm>
            <a:off x="1054646" y="1413570"/>
            <a:ext cx="1080120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lang="zh-CN" altLang="en-US" sz="18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理 </a:t>
            </a:r>
            <a:r>
              <a: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8235B9-ABD5-7755-B3C1-433929F45648}"/>
                  </a:ext>
                </a:extLst>
              </p:cNvPr>
              <p:cNvSpPr txBox="1"/>
              <p:nvPr/>
            </p:nvSpPr>
            <p:spPr>
              <a:xfrm>
                <a:off x="1054646" y="1839665"/>
                <a:ext cx="10153128" cy="483947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是赋范线性空间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则范数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∙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是一致连续的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68235B9-ABD5-7755-B3C1-433929F45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839665"/>
                <a:ext cx="10153128" cy="483947"/>
              </a:xfrm>
              <a:prstGeom prst="rect">
                <a:avLst/>
              </a:prstGeom>
              <a:blipFill>
                <a:blip r:embed="rId3"/>
                <a:stretch>
                  <a:fillRect b="-202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FBA550B-8640-6A90-642F-385FE76413E7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DA83A447-5CCD-021C-2A0A-5C272B494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希尔伯特空间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A2EE481E-8F92-BEE2-5BF5-2401280D509F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CC44DCBC-D6C3-458A-BA33-D71C5A2137BD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4C3A0749-A325-5F35-7918-E39A159670D3}"/>
              </a:ext>
            </a:extLst>
          </p:cNvPr>
          <p:cNvSpPr/>
          <p:nvPr/>
        </p:nvSpPr>
        <p:spPr>
          <a:xfrm>
            <a:off x="1054646" y="2925738"/>
            <a:ext cx="10153128" cy="165618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5BF1B3C4-F136-198C-A4C5-607643454644}"/>
              </a:ext>
            </a:extLst>
          </p:cNvPr>
          <p:cNvSpPr/>
          <p:nvPr/>
        </p:nvSpPr>
        <p:spPr>
          <a:xfrm>
            <a:off x="1054646" y="2925738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Proof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2D585C71-1895-B7F2-F061-6FDF49D570A6}"/>
                  </a:ext>
                </a:extLst>
              </p:cNvPr>
              <p:cNvSpPr txBox="1"/>
              <p:nvPr/>
            </p:nvSpPr>
            <p:spPr>
              <a:xfrm>
                <a:off x="1054646" y="3351833"/>
                <a:ext cx="10153128" cy="932339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给定任意的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&gt;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设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𝛿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当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𝛿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时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则引理得证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2D585C71-1895-B7F2-F061-6FDF49D57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3351833"/>
                <a:ext cx="10153128" cy="932339"/>
              </a:xfrm>
              <a:prstGeom prst="rect">
                <a:avLst/>
              </a:prstGeom>
              <a:blipFill>
                <a:blip r:embed="rId4"/>
                <a:stretch>
                  <a:fillRect l="-480" b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圆角矩形 21">
            <a:extLst>
              <a:ext uri="{FF2B5EF4-FFF2-40B4-BE49-F238E27FC236}">
                <a16:creationId xmlns:a16="http://schemas.microsoft.com/office/drawing/2014/main" id="{7F2A30D8-353F-1383-3A0E-F4AF8D961BC1}"/>
              </a:ext>
            </a:extLst>
          </p:cNvPr>
          <p:cNvSpPr/>
          <p:nvPr/>
        </p:nvSpPr>
        <p:spPr>
          <a:xfrm>
            <a:off x="1054646" y="4797949"/>
            <a:ext cx="10153128" cy="13681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六边形 5">
            <a:extLst>
              <a:ext uri="{FF2B5EF4-FFF2-40B4-BE49-F238E27FC236}">
                <a16:creationId xmlns:a16="http://schemas.microsoft.com/office/drawing/2014/main" id="{50AE895B-9082-B265-7AEB-B753293EDC17}"/>
              </a:ext>
            </a:extLst>
          </p:cNvPr>
          <p:cNvSpPr/>
          <p:nvPr/>
        </p:nvSpPr>
        <p:spPr>
          <a:xfrm>
            <a:off x="1054646" y="4797949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3BC3CDC4-D111-4AC1-4CFC-8FDAC48E85DC}"/>
                  </a:ext>
                </a:extLst>
              </p:cNvPr>
              <p:cNvSpPr txBox="1"/>
              <p:nvPr/>
            </p:nvSpPr>
            <p:spPr>
              <a:xfrm>
                <a:off x="1054646" y="5224044"/>
                <a:ext cx="10153128" cy="483498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是赋范线性空间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中收敛到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的序列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则实数序列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收敛到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bg2">
                        <a:lumMod val="50000"/>
                      </a:schemeClr>
                    </a:solidFill>
                    <a:latin typeface="Arial"/>
                    <a:ea typeface="微软雅黑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微软雅黑"/>
                  <a:sym typeface="Arial"/>
                </a:endParaRPr>
              </a:p>
            </p:txBody>
          </p:sp>
        </mc:Choice>
        <mc:Fallback xmlns="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3BC3CDC4-D111-4AC1-4CFC-8FDAC48E8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5224044"/>
                <a:ext cx="10153128" cy="483498"/>
              </a:xfrm>
              <a:prstGeom prst="rect">
                <a:avLst/>
              </a:prstGeom>
              <a:blipFill>
                <a:blip r:embed="rId5"/>
                <a:stretch>
                  <a:fillRect r="-420" b="-202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986688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  <p:bldP spid="2" grpId="0" animBg="1"/>
      <p:bldP spid="3" grpId="0" animBg="1"/>
      <p:bldP spid="4" grpId="0"/>
      <p:bldP spid="5" grpId="0" animBg="1"/>
      <p:bldP spid="6" grpId="0" animBg="1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0DF87-9C56-75D2-A121-8487529FF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9BEBE219-225B-C784-256B-7C97BDAAEAD7}"/>
              </a:ext>
            </a:extLst>
          </p:cNvPr>
          <p:cNvSpPr/>
          <p:nvPr/>
        </p:nvSpPr>
        <p:spPr>
          <a:xfrm>
            <a:off x="1054646" y="1341562"/>
            <a:ext cx="10153128" cy="129614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E82DFA5D-B5D8-DADA-BB35-320ACBE5D4A0}"/>
              </a:ext>
            </a:extLst>
          </p:cNvPr>
          <p:cNvSpPr/>
          <p:nvPr/>
        </p:nvSpPr>
        <p:spPr>
          <a:xfrm>
            <a:off x="1054646" y="1341562"/>
            <a:ext cx="1080120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理 </a:t>
            </a:r>
            <a:r>
              <a: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9C6F13B-2E78-1160-4799-25314BEB79CF}"/>
                  </a:ext>
                </a:extLst>
              </p:cNvPr>
              <p:cNvSpPr txBox="1"/>
              <p:nvPr/>
            </p:nvSpPr>
            <p:spPr>
              <a:xfrm>
                <a:off x="1054646" y="1767657"/>
                <a:ext cx="10153128" cy="483947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是内积空间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则对每一个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将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映射到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的函数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是一致连续的．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9C6F13B-2E78-1160-4799-25314BEB7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767657"/>
                <a:ext cx="10153128" cy="483947"/>
              </a:xfrm>
              <a:prstGeom prst="rect">
                <a:avLst/>
              </a:prstGeom>
              <a:blipFill>
                <a:blip r:embed="rId3"/>
                <a:stretch>
                  <a:fillRect r="-240" b="-202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66FAD0B-6A2B-D22E-C36E-BAD847C0DFB3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4F522DC3-E5CE-E773-60C4-4CBC07E3D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希尔伯特空间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82E26D44-2097-C47C-C6C6-2C6D07C989FC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65812A71-284A-4CA9-76F4-DE514C4EA6E4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2.1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5446A8DB-5515-1CE3-91B3-39E121349EBA}"/>
              </a:ext>
            </a:extLst>
          </p:cNvPr>
          <p:cNvSpPr/>
          <p:nvPr/>
        </p:nvSpPr>
        <p:spPr>
          <a:xfrm>
            <a:off x="1054646" y="2853730"/>
            <a:ext cx="10153128" cy="345638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D7F9D0C4-BDF6-98EA-25D7-F54F8868E5BC}"/>
              </a:ext>
            </a:extLst>
          </p:cNvPr>
          <p:cNvSpPr/>
          <p:nvPr/>
        </p:nvSpPr>
        <p:spPr>
          <a:xfrm>
            <a:off x="1054646" y="2853730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Proof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9973793E-4593-125E-9006-8A9CFDAD5E1B}"/>
                  </a:ext>
                </a:extLst>
              </p:cNvPr>
              <p:cNvSpPr txBox="1"/>
              <p:nvPr/>
            </p:nvSpPr>
            <p:spPr>
              <a:xfrm>
                <a:off x="1054646" y="3279825"/>
                <a:ext cx="10153128" cy="2728151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如果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,0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=0,∀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显然是一致连续的；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只需考虑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≠0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的情况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给定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&gt;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定义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𝛿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假设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𝑧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 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且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𝑧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𝛿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sym typeface="Arial"/>
                  </a:rPr>
                  <a:t>                                                       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𝑧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𝑧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                                                          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𝑧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</m:oMath>
                </a14:m>
                <a:endParaRPr lang="en-US" altLang="zh-CN" sz="1800" i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f>
                      <m:f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𝑦</m:t>
                            </m:r>
                          </m:e>
                        </m:d>
                      </m:den>
                    </m:f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引理得证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9973793E-4593-125E-9006-8A9CFDAD5E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3279825"/>
                <a:ext cx="10153128" cy="2728151"/>
              </a:xfrm>
              <a:prstGeom prst="rect">
                <a:avLst/>
              </a:prstGeom>
              <a:blipFill>
                <a:blip r:embed="rId4"/>
                <a:stretch>
                  <a:fillRect l="-480" b="-2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4985091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  <p:bldP spid="2" grpId="0" animBg="1"/>
      <p:bldP spid="3" grpId="0" animBg="1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D2C37-3D85-8DFF-5539-CF1A083D1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标题层">
            <a:extLst>
              <a:ext uri="{FF2B5EF4-FFF2-40B4-BE49-F238E27FC236}">
                <a16:creationId xmlns:a16="http://schemas.microsoft.com/office/drawing/2014/main" id="{770AB9A6-C3E9-48DF-5BCC-EB331BF961E5}"/>
              </a:ext>
            </a:extLst>
          </p:cNvPr>
          <p:cNvSpPr txBox="1"/>
          <p:nvPr/>
        </p:nvSpPr>
        <p:spPr bwMode="auto">
          <a:xfrm>
            <a:off x="2549257" y="2205658"/>
            <a:ext cx="896527" cy="697788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sz="37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2.1</a:t>
            </a:r>
            <a:endParaRPr lang="zh-CN" altLang="en-US" sz="3700" kern="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88D76A30-A708-AB0B-8A52-26C2B9E6A730}"/>
              </a:ext>
            </a:extLst>
          </p:cNvPr>
          <p:cNvCxnSpPr/>
          <p:nvPr/>
        </p:nvCxnSpPr>
        <p:spPr>
          <a:xfrm>
            <a:off x="3445786" y="2276259"/>
            <a:ext cx="0" cy="55658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72" name="标题层">
            <a:extLst>
              <a:ext uri="{FF2B5EF4-FFF2-40B4-BE49-F238E27FC236}">
                <a16:creationId xmlns:a16="http://schemas.microsoft.com/office/drawing/2014/main" id="{075689CD-7211-24EC-812D-A5C2AC150EE0}"/>
              </a:ext>
            </a:extLst>
          </p:cNvPr>
          <p:cNvSpPr txBox="1"/>
          <p:nvPr/>
        </p:nvSpPr>
        <p:spPr bwMode="auto">
          <a:xfrm>
            <a:off x="3537053" y="2205658"/>
            <a:ext cx="2126106" cy="697788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defTabSz="1218565">
              <a:defRPr/>
            </a:pPr>
            <a:r>
              <a:rPr lang="zh-CN" altLang="en-US" sz="3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数学基础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9E45B322-874F-08C9-9E1E-D616CECEE41A}"/>
              </a:ext>
            </a:extLst>
          </p:cNvPr>
          <p:cNvCxnSpPr>
            <a:cxnSpLocks/>
            <a:stCxn id="72" idx="3"/>
            <a:endCxn id="74" idx="1"/>
          </p:cNvCxnSpPr>
          <p:nvPr/>
        </p:nvCxnSpPr>
        <p:spPr>
          <a:xfrm>
            <a:off x="5663159" y="2554552"/>
            <a:ext cx="3192519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tailEnd type="oval"/>
          </a:ln>
          <a:effectLst/>
        </p:spPr>
      </p:cxnSp>
      <p:sp>
        <p:nvSpPr>
          <p:cNvPr id="74" name="标题层">
            <a:extLst>
              <a:ext uri="{FF2B5EF4-FFF2-40B4-BE49-F238E27FC236}">
                <a16:creationId xmlns:a16="http://schemas.microsoft.com/office/drawing/2014/main" id="{825438C7-73A0-1148-56DB-4248DEA3B1B6}"/>
              </a:ext>
            </a:extLst>
          </p:cNvPr>
          <p:cNvSpPr txBox="1"/>
          <p:nvPr/>
        </p:nvSpPr>
        <p:spPr bwMode="auto">
          <a:xfrm>
            <a:off x="8855678" y="2328797"/>
            <a:ext cx="785476" cy="451510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P3</a:t>
            </a:r>
            <a:endParaRPr lang="zh-CN" altLang="en-US" kern="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0" name="标题层">
            <a:extLst>
              <a:ext uri="{FF2B5EF4-FFF2-40B4-BE49-F238E27FC236}">
                <a16:creationId xmlns:a16="http://schemas.microsoft.com/office/drawing/2014/main" id="{2D1E1710-27B3-9181-3302-6B5CEB1C6F45}"/>
              </a:ext>
            </a:extLst>
          </p:cNvPr>
          <p:cNvSpPr txBox="1"/>
          <p:nvPr/>
        </p:nvSpPr>
        <p:spPr bwMode="auto">
          <a:xfrm>
            <a:off x="2549259" y="3354957"/>
            <a:ext cx="896525" cy="692473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sz="3700" kern="0" dirty="0">
                <a:solidFill>
                  <a:srgbClr val="319095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2.2</a:t>
            </a:r>
            <a:endParaRPr lang="zh-CN" altLang="en-US" sz="3700" kern="0" dirty="0">
              <a:solidFill>
                <a:srgbClr val="319095"/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2034E2F3-1B07-7E94-E7B7-68292A21AD58}"/>
              </a:ext>
            </a:extLst>
          </p:cNvPr>
          <p:cNvCxnSpPr/>
          <p:nvPr/>
        </p:nvCxnSpPr>
        <p:spPr>
          <a:xfrm>
            <a:off x="3445786" y="3425558"/>
            <a:ext cx="0" cy="55658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92" name="标题层">
            <a:extLst>
              <a:ext uri="{FF2B5EF4-FFF2-40B4-BE49-F238E27FC236}">
                <a16:creationId xmlns:a16="http://schemas.microsoft.com/office/drawing/2014/main" id="{8417C220-EBA4-DDE8-3EEE-D71C10D1D235}"/>
              </a:ext>
            </a:extLst>
          </p:cNvPr>
          <p:cNvSpPr txBox="1"/>
          <p:nvPr/>
        </p:nvSpPr>
        <p:spPr bwMode="auto">
          <a:xfrm>
            <a:off x="3537052" y="3354957"/>
            <a:ext cx="4528625" cy="692473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defTabSz="1218565">
              <a:defRPr/>
            </a:pPr>
            <a:r>
              <a:rPr lang="zh-CN" altLang="en-US" sz="3700" b="1" dirty="0">
                <a:solidFill>
                  <a:srgbClr val="3190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诱导范数和矩阵测度</a:t>
            </a:r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CDCBF4AD-8C5B-788E-EBD1-ECAFD35C61B2}"/>
              </a:ext>
            </a:extLst>
          </p:cNvPr>
          <p:cNvCxnSpPr>
            <a:cxnSpLocks/>
            <a:stCxn id="92" idx="3"/>
            <a:endCxn id="94" idx="1"/>
          </p:cNvCxnSpPr>
          <p:nvPr/>
        </p:nvCxnSpPr>
        <p:spPr>
          <a:xfrm>
            <a:off x="8065677" y="3701194"/>
            <a:ext cx="790001" cy="2657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tailEnd type="oval"/>
          </a:ln>
          <a:effectLst/>
        </p:spPr>
      </p:cxnSp>
      <p:sp>
        <p:nvSpPr>
          <p:cNvPr id="94" name="标题层">
            <a:extLst>
              <a:ext uri="{FF2B5EF4-FFF2-40B4-BE49-F238E27FC236}">
                <a16:creationId xmlns:a16="http://schemas.microsoft.com/office/drawing/2014/main" id="{6BA4C66F-25A8-0B1B-7368-445F02F147A5}"/>
              </a:ext>
            </a:extLst>
          </p:cNvPr>
          <p:cNvSpPr txBox="1"/>
          <p:nvPr/>
        </p:nvSpPr>
        <p:spPr bwMode="auto">
          <a:xfrm>
            <a:off x="8855678" y="3478096"/>
            <a:ext cx="785476" cy="451510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kern="0" dirty="0">
                <a:solidFill>
                  <a:srgbClr val="319095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P23</a:t>
            </a:r>
            <a:endParaRPr lang="zh-CN" altLang="en-US" kern="0" dirty="0">
              <a:solidFill>
                <a:srgbClr val="319095"/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5" name="标题层">
            <a:extLst>
              <a:ext uri="{FF2B5EF4-FFF2-40B4-BE49-F238E27FC236}">
                <a16:creationId xmlns:a16="http://schemas.microsoft.com/office/drawing/2014/main" id="{462A2122-175C-3FA2-25F1-EF77E4464008}"/>
              </a:ext>
            </a:extLst>
          </p:cNvPr>
          <p:cNvSpPr txBox="1"/>
          <p:nvPr/>
        </p:nvSpPr>
        <p:spPr bwMode="auto">
          <a:xfrm>
            <a:off x="2549257" y="4532206"/>
            <a:ext cx="896527" cy="692473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sz="3700" kern="0" dirty="0">
                <a:solidFill>
                  <a:prstClr val="black">
                    <a:lumMod val="65000"/>
                    <a:lumOff val="35000"/>
                  </a:prst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2.3</a:t>
            </a:r>
            <a:endParaRPr lang="zh-CN" altLang="en-US" sz="3700" kern="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39885990-20BC-962B-676E-546D5A3B8F06}"/>
              </a:ext>
            </a:extLst>
          </p:cNvPr>
          <p:cNvCxnSpPr/>
          <p:nvPr/>
        </p:nvCxnSpPr>
        <p:spPr>
          <a:xfrm>
            <a:off x="3445786" y="4602807"/>
            <a:ext cx="0" cy="55658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97" name="标题层">
            <a:extLst>
              <a:ext uri="{FF2B5EF4-FFF2-40B4-BE49-F238E27FC236}">
                <a16:creationId xmlns:a16="http://schemas.microsoft.com/office/drawing/2014/main" id="{A371B7A9-936D-0CD2-F538-EC7484FE65D1}"/>
              </a:ext>
            </a:extLst>
          </p:cNvPr>
          <p:cNvSpPr txBox="1"/>
          <p:nvPr/>
        </p:nvSpPr>
        <p:spPr bwMode="auto">
          <a:xfrm>
            <a:off x="3537052" y="4532206"/>
            <a:ext cx="3063749" cy="692473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defTabSz="1218565">
              <a:defRPr/>
            </a:pPr>
            <a:r>
              <a:rPr lang="zh-CN" altLang="en-US" sz="37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压缩映射原理</a:t>
            </a:r>
          </a:p>
        </p:txBody>
      </p: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C77BDF79-64EB-381F-0693-2AF9C24EEC95}"/>
              </a:ext>
            </a:extLst>
          </p:cNvPr>
          <p:cNvCxnSpPr>
            <a:cxnSpLocks/>
            <a:stCxn id="97" idx="3"/>
          </p:cNvCxnSpPr>
          <p:nvPr/>
        </p:nvCxnSpPr>
        <p:spPr>
          <a:xfrm>
            <a:off x="6600801" y="4878443"/>
            <a:ext cx="2254877" cy="2657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tailEnd type="oval"/>
          </a:ln>
          <a:effectLst/>
        </p:spPr>
      </p:cxnSp>
      <p:sp>
        <p:nvSpPr>
          <p:cNvPr id="99" name="标题层">
            <a:extLst>
              <a:ext uri="{FF2B5EF4-FFF2-40B4-BE49-F238E27FC236}">
                <a16:creationId xmlns:a16="http://schemas.microsoft.com/office/drawing/2014/main" id="{7B647CEA-F6EB-BDFD-3E93-3AAF3CC18ACC}"/>
              </a:ext>
            </a:extLst>
          </p:cNvPr>
          <p:cNvSpPr txBox="1"/>
          <p:nvPr/>
        </p:nvSpPr>
        <p:spPr bwMode="auto">
          <a:xfrm>
            <a:off x="8851154" y="4655345"/>
            <a:ext cx="790000" cy="451510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kern="0" dirty="0">
                <a:solidFill>
                  <a:prstClr val="black">
                    <a:lumMod val="65000"/>
                    <a:lumOff val="35000"/>
                  </a:prst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P38</a:t>
            </a:r>
            <a:endParaRPr lang="zh-CN" altLang="en-US" kern="0" dirty="0">
              <a:solidFill>
                <a:prstClr val="black">
                  <a:lumMod val="65000"/>
                  <a:lumOff val="35000"/>
                </a:prst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5D75D1F-D489-6241-2E35-4E098797F1F6}"/>
              </a:ext>
            </a:extLst>
          </p:cNvPr>
          <p:cNvSpPr/>
          <p:nvPr/>
        </p:nvSpPr>
        <p:spPr>
          <a:xfrm>
            <a:off x="0" y="0"/>
            <a:ext cx="12192000" cy="1125538"/>
          </a:xfrm>
          <a:prstGeom prst="rect">
            <a:avLst/>
          </a:prstGeom>
          <a:solidFill>
            <a:srgbClr val="319095"/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F118100-5267-6E43-A59B-8919076C3CED}"/>
              </a:ext>
            </a:extLst>
          </p:cNvPr>
          <p:cNvSpPr/>
          <p:nvPr/>
        </p:nvSpPr>
        <p:spPr>
          <a:xfrm>
            <a:off x="3774410" y="212081"/>
            <a:ext cx="464159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r>
              <a:rPr lang="en-US" altLang="zh-CN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546BC11-CD58-9F9E-FFA3-B4B27E0CA281}"/>
              </a:ext>
            </a:extLst>
          </p:cNvPr>
          <p:cNvGrpSpPr/>
          <p:nvPr/>
        </p:nvGrpSpPr>
        <p:grpSpPr>
          <a:xfrm>
            <a:off x="0" y="6615474"/>
            <a:ext cx="12190412" cy="244114"/>
            <a:chOff x="-42912" y="6615474"/>
            <a:chExt cx="12190412" cy="244114"/>
          </a:xfrm>
        </p:grpSpPr>
        <p:sp>
          <p:nvSpPr>
            <p:cNvPr id="24" name="六边形 23">
              <a:extLst>
                <a:ext uri="{FF2B5EF4-FFF2-40B4-BE49-F238E27FC236}">
                  <a16:creationId xmlns:a16="http://schemas.microsoft.com/office/drawing/2014/main" id="{891CEE73-8C43-52B7-0B7C-423E22D2A2A8}"/>
                </a:ext>
              </a:extLst>
            </p:cNvPr>
            <p:cNvSpPr/>
            <p:nvPr/>
          </p:nvSpPr>
          <p:spPr>
            <a:xfrm>
              <a:off x="-42912" y="6615474"/>
              <a:ext cx="3041773" cy="244114"/>
            </a:xfrm>
            <a:prstGeom prst="hexagon">
              <a:avLst/>
            </a:prstGeom>
            <a:solidFill>
              <a:srgbClr val="5FCA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DC78210F-1DAE-A3B9-6ACA-9DA61065C0E5}"/>
                </a:ext>
              </a:extLst>
            </p:cNvPr>
            <p:cNvSpPr/>
            <p:nvPr/>
          </p:nvSpPr>
          <p:spPr>
            <a:xfrm>
              <a:off x="2998862" y="6615474"/>
              <a:ext cx="3063750" cy="244114"/>
            </a:xfrm>
            <a:prstGeom prst="hexagon">
              <a:avLst/>
            </a:prstGeom>
            <a:solidFill>
              <a:srgbClr val="A0BF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B6D63F8C-0DC3-838A-4D8D-5CE848A4EF23}"/>
                </a:ext>
              </a:extLst>
            </p:cNvPr>
            <p:cNvSpPr/>
            <p:nvPr/>
          </p:nvSpPr>
          <p:spPr>
            <a:xfrm>
              <a:off x="6052294" y="6615474"/>
              <a:ext cx="3047603" cy="244114"/>
            </a:xfrm>
            <a:prstGeom prst="hexagon">
              <a:avLst/>
            </a:prstGeom>
            <a:solidFill>
              <a:srgbClr val="3190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六边形 26">
              <a:extLst>
                <a:ext uri="{FF2B5EF4-FFF2-40B4-BE49-F238E27FC236}">
                  <a16:creationId xmlns:a16="http://schemas.microsoft.com/office/drawing/2014/main" id="{B5AF4C17-B662-5E98-19DD-F6B0BAE36002}"/>
                </a:ext>
              </a:extLst>
            </p:cNvPr>
            <p:cNvSpPr/>
            <p:nvPr/>
          </p:nvSpPr>
          <p:spPr>
            <a:xfrm>
              <a:off x="9099897" y="6615474"/>
              <a:ext cx="3047603" cy="244114"/>
            </a:xfrm>
            <a:prstGeom prst="hexagon">
              <a:avLst/>
            </a:prstGeom>
            <a:solidFill>
              <a:srgbClr val="F58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08311523"/>
      </p:ext>
    </p:extLst>
  </p:cSld>
  <p:clrMapOvr>
    <a:masterClrMapping/>
  </p:clrMapOvr>
  <p:transition spd="med">
    <p:blinds dir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8421A-F91C-E2CE-57B0-F18110C64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E03F3A66-CCE2-CE6D-0D11-58085B77B630}"/>
              </a:ext>
            </a:extLst>
          </p:cNvPr>
          <p:cNvSpPr/>
          <p:nvPr/>
        </p:nvSpPr>
        <p:spPr>
          <a:xfrm>
            <a:off x="1054646" y="1269556"/>
            <a:ext cx="10153128" cy="216023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9784F50A-81E4-48EC-A007-6778601198D7}"/>
              </a:ext>
            </a:extLst>
          </p:cNvPr>
          <p:cNvSpPr/>
          <p:nvPr/>
        </p:nvSpPr>
        <p:spPr>
          <a:xfrm>
            <a:off x="1054646" y="1269556"/>
            <a:ext cx="244827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lang="en-US" altLang="zh-CN" sz="18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8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 </a:t>
            </a:r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诱导范数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F669F44-4542-F19E-3AF8-3023A3705F14}"/>
                  </a:ext>
                </a:extLst>
              </p:cNvPr>
              <p:cNvSpPr txBox="1"/>
              <p:nvPr/>
            </p:nvSpPr>
            <p:spPr>
              <a:xfrm>
                <a:off x="1054646" y="1695651"/>
                <a:ext cx="10153128" cy="1381629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∙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上给定的范数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则对于每一个矩阵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𝐴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定义为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:</a:t>
                </a:r>
              </a:p>
              <a:p>
                <a:pPr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sup</m:t>
                        </m:r>
                      </m:e>
                      <m:lim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≠0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∈</m:t>
                        </m:r>
                        <m:sSup>
                          <m:sSupPr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ℂ</m:t>
                            </m:r>
                          </m:e>
                          <m:sup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p>
                        </m:sSup>
                      </m:lim>
                    </m:limLow>
                    <m:f>
                      <m:f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𝐴𝑥</m:t>
                            </m:r>
                          </m:e>
                        </m:d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sup</m:t>
                        </m:r>
                      </m:e>
                      <m:lim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=1</m:t>
                        </m:r>
                      </m:lim>
                    </m:limLow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sup</m:t>
                        </m:r>
                      </m:e>
                      <m:lim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≤1</m:t>
                        </m:r>
                      </m:lim>
                    </m:limLow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𝐴𝑥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称为对应于向量范数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∙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的诱导范数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F669F44-4542-F19E-3AF8-3023A3705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695651"/>
                <a:ext cx="10153128" cy="1381629"/>
              </a:xfrm>
              <a:prstGeom prst="rect">
                <a:avLst/>
              </a:prstGeom>
              <a:blipFill>
                <a:blip r:embed="rId3"/>
                <a:stretch>
                  <a:fillRect l="-480" b="-6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BBA2921-BD98-6CC1-F5DA-DBCB8A1957F9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82F066FC-70B9-04C5-6DA9-CC05AA416A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诱导范数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82BDFD49-C5EE-7DC1-9838-66458F86E925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1B81F2A0-EE2F-B129-9D45-CB11004A1C03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BC069681-74AB-9272-7CE2-A811D3544421}"/>
              </a:ext>
            </a:extLst>
          </p:cNvPr>
          <p:cNvSpPr/>
          <p:nvPr/>
        </p:nvSpPr>
        <p:spPr>
          <a:xfrm>
            <a:off x="1054646" y="3645818"/>
            <a:ext cx="10153128" cy="129614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F76CF770-BAE9-CD42-1B21-6663D296B517}"/>
              </a:ext>
            </a:extLst>
          </p:cNvPr>
          <p:cNvSpPr/>
          <p:nvPr/>
        </p:nvSpPr>
        <p:spPr>
          <a:xfrm>
            <a:off x="1054646" y="3645818"/>
            <a:ext cx="936104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99EE6770-3518-499F-10E0-3EAC5373E970}"/>
                  </a:ext>
                </a:extLst>
              </p:cNvPr>
              <p:cNvSpPr txBox="1"/>
              <p:nvPr/>
            </p:nvSpPr>
            <p:spPr>
              <a:xfrm>
                <a:off x="1054646" y="4071913"/>
                <a:ext cx="10153128" cy="501580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∙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映射到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映射到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99EE6770-3518-499F-10E0-3EAC5373E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4071913"/>
                <a:ext cx="10153128" cy="501580"/>
              </a:xfrm>
              <a:prstGeom prst="rect">
                <a:avLst/>
              </a:prstGeom>
              <a:blipFill>
                <a:blip r:embed="rId4"/>
                <a:stretch>
                  <a:fillRect b="-158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圆角矩形 21">
            <a:extLst>
              <a:ext uri="{FF2B5EF4-FFF2-40B4-BE49-F238E27FC236}">
                <a16:creationId xmlns:a16="http://schemas.microsoft.com/office/drawing/2014/main" id="{0D0D292B-4F13-6E0E-06C9-D590FA36EDA2}"/>
              </a:ext>
            </a:extLst>
          </p:cNvPr>
          <p:cNvSpPr/>
          <p:nvPr/>
        </p:nvSpPr>
        <p:spPr>
          <a:xfrm>
            <a:off x="1054646" y="5157986"/>
            <a:ext cx="10153128" cy="129614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六边形 5">
            <a:extLst>
              <a:ext uri="{FF2B5EF4-FFF2-40B4-BE49-F238E27FC236}">
                <a16:creationId xmlns:a16="http://schemas.microsoft.com/office/drawing/2014/main" id="{B2069877-5552-93E9-C699-7AB456FB9348}"/>
              </a:ext>
            </a:extLst>
          </p:cNvPr>
          <p:cNvSpPr/>
          <p:nvPr/>
        </p:nvSpPr>
        <p:spPr>
          <a:xfrm>
            <a:off x="1054646" y="5157986"/>
            <a:ext cx="1080120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引理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70C83E29-2B46-32D2-69BF-2D9BAE516D3C}"/>
                  </a:ext>
                </a:extLst>
              </p:cNvPr>
              <p:cNvSpPr txBox="1"/>
              <p:nvPr/>
            </p:nvSpPr>
            <p:spPr>
              <a:xfrm>
                <a:off x="1054646" y="5584081"/>
                <a:ext cx="10153128" cy="483947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对于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中的每一个范数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∙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诱导范数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d>
                      <m:dPr>
                        <m:begChr m:val="[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,∞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上的范数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70C83E29-2B46-32D2-69BF-2D9BAE516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5584081"/>
                <a:ext cx="10153128" cy="483947"/>
              </a:xfrm>
              <a:prstGeom prst="rect">
                <a:avLst/>
              </a:prstGeom>
              <a:blipFill>
                <a:blip r:embed="rId5"/>
                <a:stretch>
                  <a:fillRect b="-202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6519876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  <p:bldP spid="2" grpId="0" animBg="1"/>
      <p:bldP spid="3" grpId="0" animBg="1"/>
      <p:bldP spid="4" grpId="0"/>
      <p:bldP spid="5" grpId="0" animBg="1"/>
      <p:bldP spid="6" grpId="0" animBg="1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53AE1-0B4A-795D-F9D8-670215626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40EFE8FE-33EF-1EB2-328F-B1EF1763C997}"/>
              </a:ext>
            </a:extLst>
          </p:cNvPr>
          <p:cNvSpPr/>
          <p:nvPr/>
        </p:nvSpPr>
        <p:spPr>
          <a:xfrm>
            <a:off x="1054646" y="5157988"/>
            <a:ext cx="10153128" cy="129614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B03F1CA6-C4BF-F4B5-1B3C-2B0E88D97F13}"/>
              </a:ext>
            </a:extLst>
          </p:cNvPr>
          <p:cNvSpPr/>
          <p:nvPr/>
        </p:nvSpPr>
        <p:spPr>
          <a:xfrm>
            <a:off x="1054646" y="5157990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B84C9A-94CA-1389-7070-6B82021D1DF9}"/>
                  </a:ext>
                </a:extLst>
              </p:cNvPr>
              <p:cNvSpPr txBox="1"/>
              <p:nvPr/>
            </p:nvSpPr>
            <p:spPr>
              <a:xfrm>
                <a:off x="1054646" y="5584085"/>
                <a:ext cx="10153128" cy="480933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由引理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5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可知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对于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中的每一个范数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𝑛𝑥𝑛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上都有一个相应的诱导范数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反之不成立．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B84C9A-94CA-1389-7070-6B82021D1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5584085"/>
                <a:ext cx="10153128" cy="480933"/>
              </a:xfrm>
              <a:prstGeom prst="rect">
                <a:avLst/>
              </a:prstGeom>
              <a:blipFill>
                <a:blip r:embed="rId3"/>
                <a:stretch>
                  <a:fillRect b="-202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D852774-627B-BEEF-4E42-88E528CBF228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140E149F-FC4D-8CB1-E1D8-8D1885D21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诱导范数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0BDA8534-82C8-B176-9CCB-8C7D53AF500F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DEA9B30C-1C2C-0C03-80F8-B51A0221D051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C3CD9FFA-47F0-4751-2BB9-F64BE7726831}"/>
              </a:ext>
            </a:extLst>
          </p:cNvPr>
          <p:cNvSpPr/>
          <p:nvPr/>
        </p:nvSpPr>
        <p:spPr>
          <a:xfrm>
            <a:off x="1054646" y="1413572"/>
            <a:ext cx="10153128" cy="351428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4A2B0826-9606-0E66-3454-793A6C0DAE99}"/>
              </a:ext>
            </a:extLst>
          </p:cNvPr>
          <p:cNvSpPr/>
          <p:nvPr/>
        </p:nvSpPr>
        <p:spPr>
          <a:xfrm>
            <a:off x="1054646" y="1413572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Proof: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D3EB32BF-CC3D-2E05-8A9B-0AACB4A3559D}"/>
                  </a:ext>
                </a:extLst>
              </p:cNvPr>
              <p:cNvSpPr txBox="1"/>
              <p:nvPr/>
            </p:nvSpPr>
            <p:spPr>
              <a:xfrm>
                <a:off x="1054646" y="1839667"/>
                <a:ext cx="10153128" cy="2728151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显然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acc>
                          <m:accPr>
                            <m:chr m:val="̇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e>
                        </m:acc>
                      </m:sub>
                    </m:sSub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≥0,∀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𝐴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𝑛𝑥𝑛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(N1)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和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(N2)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容易验证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下证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(N3),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假设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𝐴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𝐵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</a:t>
                </a:r>
                <a:endParaRPr lang="en-US" altLang="zh-CN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Arial"/>
                  </a:rPr>
                  <a:t>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𝐵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sup</m:t>
                        </m:r>
                      </m:e>
                      <m:lim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=1</m:t>
                        </m:r>
                      </m:lim>
                    </m:limLow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𝐵</m:t>
                            </m:r>
                          </m:e>
                        </m:d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sup</m:t>
                        </m:r>
                      </m:e>
                      <m:lim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=1</m:t>
                        </m:r>
                      </m:lim>
                    </m:limLow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𝐴𝑥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𝐵𝑥</m:t>
                        </m:r>
                      </m:e>
                    </m:d>
                  </m:oMath>
                </a14:m>
                <a:endParaRPr lang="en-US" altLang="zh-CN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                                                        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limLow>
                      <m:limLow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sup</m:t>
                        </m:r>
                      </m:e>
                      <m:lim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=1</m:t>
                        </m:r>
                      </m:lim>
                    </m:limLow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𝐵𝑥</m:t>
                            </m:r>
                          </m:e>
                        </m:d>
                      </m:e>
                    </m:d>
                  </m:oMath>
                </a14:m>
                <a:endParaRPr lang="en-US" altLang="zh-CN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                                                        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limLow>
                      <m:limLow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sup</m:t>
                        </m:r>
                      </m:e>
                      <m:lim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≤1</m:t>
                        </m:r>
                      </m:lim>
                    </m:limLow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limLow>
                      <m:limLow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sup</m:t>
                        </m:r>
                      </m:e>
                      <m:lim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≤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lim>
                    </m:limLow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𝐵𝑥</m:t>
                        </m:r>
                      </m:e>
                    </m:d>
                  </m:oMath>
                </a14:m>
                <a:endParaRPr lang="en-US" altLang="zh-CN" sz="1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sym typeface="Arial"/>
                  </a:rPr>
                  <a:t>            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𝐵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(N3)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满足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上的范数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D3EB32BF-CC3D-2E05-8A9B-0AACB4A35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839667"/>
                <a:ext cx="10153128" cy="2728151"/>
              </a:xfrm>
              <a:prstGeom prst="rect">
                <a:avLst/>
              </a:prstGeom>
              <a:blipFill>
                <a:blip r:embed="rId4"/>
                <a:stretch>
                  <a:fillRect l="-480" b="-26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930361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  <p:bldP spid="2" grpId="0" animBg="1"/>
      <p:bldP spid="3" grpId="0" animBg="1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3645F-D388-746B-8594-7090DAE2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0DE26B5-F7D5-50CC-107C-AB38AF54A427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A7DEFA0F-C8D2-60D7-5452-DE3DAF37D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诱导范数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78719253-FA59-BD2D-A720-A62352CF7CD0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B093C50A-B331-41F9-0088-1C7DB328DCB9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0448DA77-E20F-006E-14B1-3385A50F28CE}"/>
              </a:ext>
            </a:extLst>
          </p:cNvPr>
          <p:cNvSpPr/>
          <p:nvPr/>
        </p:nvSpPr>
        <p:spPr>
          <a:xfrm>
            <a:off x="1054646" y="2637706"/>
            <a:ext cx="10153128" cy="173745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CF549E35-AB93-0D5E-7504-FE3737602F59}"/>
              </a:ext>
            </a:extLst>
          </p:cNvPr>
          <p:cNvSpPr/>
          <p:nvPr/>
        </p:nvSpPr>
        <p:spPr>
          <a:xfrm>
            <a:off x="1054646" y="2637706"/>
            <a:ext cx="936104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 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45B9BF6A-7D49-E91F-E3C5-8C2E25CE2CB7}"/>
                  </a:ext>
                </a:extLst>
              </p:cNvPr>
              <p:cNvSpPr txBox="1"/>
              <p:nvPr/>
            </p:nvSpPr>
            <p:spPr>
              <a:xfrm>
                <a:off x="1054646" y="3063801"/>
                <a:ext cx="10153128" cy="932788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考虑函数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𝑠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zh-CN" altLang="en-US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定义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𝑠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max</m:t>
                        </m:r>
                      </m:e>
                      <m:lim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ⅈ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𝑗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我们可以验证知道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上的范数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但是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上没有的范数使得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是相应的诱导矩阵范数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45B9BF6A-7D49-E91F-E3C5-8C2E25CE2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3063801"/>
                <a:ext cx="10153128" cy="932788"/>
              </a:xfrm>
              <a:prstGeom prst="rect">
                <a:avLst/>
              </a:prstGeom>
              <a:blipFill>
                <a:blip r:embed="rId3"/>
                <a:stretch>
                  <a:fillRect l="-480" b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858622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7EC13-D34E-24F2-C87D-D67EA1BA5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圆角矩形 21">
            <a:extLst>
              <a:ext uri="{FF2B5EF4-FFF2-40B4-BE49-F238E27FC236}">
                <a16:creationId xmlns:a16="http://schemas.microsoft.com/office/drawing/2014/main" id="{0EB656E7-D006-8815-ACCA-3FD97B6A2EE7}"/>
              </a:ext>
            </a:extLst>
          </p:cNvPr>
          <p:cNvSpPr/>
          <p:nvPr/>
        </p:nvSpPr>
        <p:spPr>
          <a:xfrm>
            <a:off x="1054646" y="1341562"/>
            <a:ext cx="10153128" cy="129614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B2422AB0-05EE-962D-AE47-4FE6308A95BD}"/>
              </a:ext>
            </a:extLst>
          </p:cNvPr>
          <p:cNvSpPr/>
          <p:nvPr/>
        </p:nvSpPr>
        <p:spPr>
          <a:xfrm>
            <a:off x="1054646" y="1341562"/>
            <a:ext cx="1080120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lang="zh-CN" altLang="en-US" sz="18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理 </a:t>
            </a:r>
            <a:r>
              <a:rPr lang="en-US" altLang="zh-CN" sz="1800" b="1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3327904-E806-0853-FE92-4F1D0D203204}"/>
                  </a:ext>
                </a:extLst>
              </p:cNvPr>
              <p:cNvSpPr txBox="1"/>
              <p:nvPr/>
            </p:nvSpPr>
            <p:spPr>
              <a:xfrm>
                <a:off x="1054646" y="1767657"/>
                <a:ext cx="10153128" cy="483498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上的诱导范数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𝐴𝐵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𝐵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,∀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𝐴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𝐵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𝑛𝑥𝑛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3327904-E806-0853-FE92-4F1D0D203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767657"/>
                <a:ext cx="10153128" cy="483498"/>
              </a:xfrm>
              <a:prstGeom prst="rect">
                <a:avLst/>
              </a:prstGeom>
              <a:blipFill>
                <a:blip r:embed="rId3"/>
                <a:stretch>
                  <a:fillRect b="-202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C04595D-7756-3AF2-B18C-CE18C049BE04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FB4F6B42-17AF-6266-AD99-DC79FF57C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诱导范数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8EAE2A81-E74C-AB14-79F1-A6C5BC08E131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6ADE5992-78CC-8D50-669B-50269071144E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C63976CC-D6D3-42B6-8D0A-5EABB31B2516}"/>
              </a:ext>
            </a:extLst>
          </p:cNvPr>
          <p:cNvSpPr/>
          <p:nvPr/>
        </p:nvSpPr>
        <p:spPr>
          <a:xfrm>
            <a:off x="1054646" y="2853730"/>
            <a:ext cx="10153128" cy="216024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ABD32DFA-AFC2-ECC9-E1F9-1110C48BD0F7}"/>
              </a:ext>
            </a:extLst>
          </p:cNvPr>
          <p:cNvSpPr/>
          <p:nvPr/>
        </p:nvSpPr>
        <p:spPr>
          <a:xfrm>
            <a:off x="1054646" y="2853730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Proof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452AAF3A-3802-CEB9-E438-CD4B9FB6E638}"/>
                  </a:ext>
                </a:extLst>
              </p:cNvPr>
              <p:cNvSpPr txBox="1"/>
              <p:nvPr/>
            </p:nvSpPr>
            <p:spPr>
              <a:xfrm>
                <a:off x="1054646" y="3279825"/>
                <a:ext cx="10153128" cy="1381629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根据定义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有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𝐴𝐵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sup</m:t>
                        </m:r>
                      </m:e>
                      <m:lim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=1</m:t>
                        </m:r>
                      </m:lim>
                    </m:limLow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𝐴𝐵𝑥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又由定义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11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可知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,∀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endParaRPr lang="en-US" altLang="zh-CN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特别地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𝐴𝐵𝑥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𝐵𝑥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,∀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类似地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𝐵𝑥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𝐵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,∀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endParaRPr lang="zh-CN" alt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从而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𝐴𝐵𝑥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𝐵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∙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,∀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因此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𝐴𝐵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𝐵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,∀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𝐴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𝐵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𝑛𝑥𝑛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452AAF3A-3802-CEB9-E438-CD4B9FB6E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3279825"/>
                <a:ext cx="10153128" cy="1381629"/>
              </a:xfrm>
              <a:prstGeom prst="rect">
                <a:avLst/>
              </a:prstGeom>
              <a:blipFill>
                <a:blip r:embed="rId4"/>
                <a:stretch>
                  <a:fillRect l="-480" t="-1322" b="-6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圆角矩形 21">
            <a:extLst>
              <a:ext uri="{FF2B5EF4-FFF2-40B4-BE49-F238E27FC236}">
                <a16:creationId xmlns:a16="http://schemas.microsoft.com/office/drawing/2014/main" id="{AE167F88-352E-969A-FA1F-D5E6C9BE41BD}"/>
              </a:ext>
            </a:extLst>
          </p:cNvPr>
          <p:cNvSpPr/>
          <p:nvPr/>
        </p:nvSpPr>
        <p:spPr>
          <a:xfrm>
            <a:off x="1054646" y="5229997"/>
            <a:ext cx="10153128" cy="122413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六边形 5">
            <a:extLst>
              <a:ext uri="{FF2B5EF4-FFF2-40B4-BE49-F238E27FC236}">
                <a16:creationId xmlns:a16="http://schemas.microsoft.com/office/drawing/2014/main" id="{8A1FEB0F-D2DE-C137-A41B-78B7FBF5763B}"/>
              </a:ext>
            </a:extLst>
          </p:cNvPr>
          <p:cNvSpPr/>
          <p:nvPr/>
        </p:nvSpPr>
        <p:spPr>
          <a:xfrm>
            <a:off x="1054646" y="5229997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推论：</a:t>
            </a:r>
          </a:p>
        </p:txBody>
      </p:sp>
      <p:sp>
        <p:nvSpPr>
          <p:cNvPr id="7" name="TextBox 27">
            <a:extLst>
              <a:ext uri="{FF2B5EF4-FFF2-40B4-BE49-F238E27FC236}">
                <a16:creationId xmlns:a16="http://schemas.microsoft.com/office/drawing/2014/main" id="{3731D9D3-CBBF-3635-120F-8F8FB4BEF724}"/>
              </a:ext>
            </a:extLst>
          </p:cNvPr>
          <p:cNvSpPr txBox="1"/>
          <p:nvPr/>
        </p:nvSpPr>
        <p:spPr>
          <a:xfrm>
            <a:off x="1054646" y="5656092"/>
            <a:ext cx="10153128" cy="501580"/>
          </a:xfrm>
          <a:prstGeom prst="rect">
            <a:avLst/>
          </a:prstGeom>
          <a:noFill/>
        </p:spPr>
        <p:txBody>
          <a:bodyPr wrap="square" lIns="91472" tIns="45736" rIns="91472" bIns="45736" rtlCol="0">
            <a:spAutoFit/>
          </a:bodyPr>
          <a:lstStyle/>
          <a:p>
            <a:pPr>
              <a:lnSpc>
                <a:spcPts val="3500"/>
              </a:lnSpc>
            </a:pP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       例</a:t>
            </a:r>
            <a:r>
              <a:rPr lang="en-US" altLang="zh-C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10</a:t>
            </a:r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不具有这个性质，从而不能是诱导范数</a:t>
            </a:r>
            <a:r>
              <a:rPr lang="en-US" altLang="zh-CN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.</a:t>
            </a:r>
            <a:endParaRPr lang="zh-CN" altLang="en-US" sz="1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7339180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8" grpId="0"/>
      <p:bldP spid="2" grpId="0" animBg="1"/>
      <p:bldP spid="3" grpId="0" animBg="1"/>
      <p:bldP spid="4" grpId="0"/>
      <p:bldP spid="5" grpId="0" animBg="1"/>
      <p:bldP spid="6" grpId="0" animBg="1"/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28AC4-E4A9-5B33-57FA-AE2E537A7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圆角矩形 21">
            <a:extLst>
              <a:ext uri="{FF2B5EF4-FFF2-40B4-BE49-F238E27FC236}">
                <a16:creationId xmlns:a16="http://schemas.microsoft.com/office/drawing/2014/main" id="{54CC89DF-0125-C634-7E94-14CB19DAFD28}"/>
              </a:ext>
            </a:extLst>
          </p:cNvPr>
          <p:cNvSpPr/>
          <p:nvPr/>
        </p:nvSpPr>
        <p:spPr>
          <a:xfrm>
            <a:off x="6046090" y="4189735"/>
            <a:ext cx="4873652" cy="118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圆角矩形 21">
            <a:extLst>
              <a:ext uri="{FF2B5EF4-FFF2-40B4-BE49-F238E27FC236}">
                <a16:creationId xmlns:a16="http://schemas.microsoft.com/office/drawing/2014/main" id="{3EEA4500-A63E-918A-C984-ABA969F99EAF}"/>
              </a:ext>
            </a:extLst>
          </p:cNvPr>
          <p:cNvSpPr/>
          <p:nvPr/>
        </p:nvSpPr>
        <p:spPr>
          <a:xfrm>
            <a:off x="1172438" y="4182750"/>
            <a:ext cx="4873652" cy="119126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圆角矩形 21">
            <a:extLst>
              <a:ext uri="{FF2B5EF4-FFF2-40B4-BE49-F238E27FC236}">
                <a16:creationId xmlns:a16="http://schemas.microsoft.com/office/drawing/2014/main" id="{08B0A42B-B20C-F330-45BD-2A92E5E0A062}"/>
              </a:ext>
            </a:extLst>
          </p:cNvPr>
          <p:cNvSpPr/>
          <p:nvPr/>
        </p:nvSpPr>
        <p:spPr>
          <a:xfrm>
            <a:off x="6046090" y="3005460"/>
            <a:ext cx="4873652" cy="118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圆角矩形 21">
            <a:extLst>
              <a:ext uri="{FF2B5EF4-FFF2-40B4-BE49-F238E27FC236}">
                <a16:creationId xmlns:a16="http://schemas.microsoft.com/office/drawing/2014/main" id="{915A7642-A988-7863-CFE5-181A34ADE328}"/>
              </a:ext>
            </a:extLst>
          </p:cNvPr>
          <p:cNvSpPr/>
          <p:nvPr/>
        </p:nvSpPr>
        <p:spPr>
          <a:xfrm>
            <a:off x="1172438" y="3005460"/>
            <a:ext cx="4873652" cy="118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圆角矩形 21">
            <a:extLst>
              <a:ext uri="{FF2B5EF4-FFF2-40B4-BE49-F238E27FC236}">
                <a16:creationId xmlns:a16="http://schemas.microsoft.com/office/drawing/2014/main" id="{D13C91A5-7697-4F99-34BB-5D70EDED50DB}"/>
              </a:ext>
            </a:extLst>
          </p:cNvPr>
          <p:cNvSpPr/>
          <p:nvPr/>
        </p:nvSpPr>
        <p:spPr>
          <a:xfrm>
            <a:off x="6046090" y="1828170"/>
            <a:ext cx="4873652" cy="118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圆角矩形 21">
            <a:extLst>
              <a:ext uri="{FF2B5EF4-FFF2-40B4-BE49-F238E27FC236}">
                <a16:creationId xmlns:a16="http://schemas.microsoft.com/office/drawing/2014/main" id="{192BFEEA-E090-FA5E-8DE9-B62F2E48C91E}"/>
              </a:ext>
            </a:extLst>
          </p:cNvPr>
          <p:cNvSpPr/>
          <p:nvPr/>
        </p:nvSpPr>
        <p:spPr>
          <a:xfrm>
            <a:off x="1172438" y="1828170"/>
            <a:ext cx="4873652" cy="118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DDEE358-178C-B6A1-3E76-B488D8FA554B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4BA840D5-E6B3-A9F0-10EC-15329015A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诱导范数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AA80446C-AC4E-AE7B-CFB1-0D7324D4E9C7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57DAC9AC-6768-E2BB-8913-9C7D04C2D0C1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6EB68DF2-E1C2-FD57-2530-75972CBEEBAD}"/>
                  </a:ext>
                </a:extLst>
              </p:cNvPr>
              <p:cNvSpPr/>
              <p:nvPr/>
            </p:nvSpPr>
            <p:spPr>
              <a:xfrm>
                <a:off x="2553417" y="1256350"/>
                <a:ext cx="1879534" cy="458455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/>
                    <a:ea typeface="微软雅黑"/>
                    <a:sym typeface="Arial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/>
                    <a:ea typeface="微软雅黑"/>
                    <a:sym typeface="Arial"/>
                  </a:rPr>
                  <a:t>上的范数        </a:t>
                </a: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6EB68DF2-E1C2-FD57-2530-75972CBEEB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417" y="1256350"/>
                <a:ext cx="1879534" cy="45845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F8C32D8B-398D-9233-B65C-102146CF78C2}"/>
                  </a:ext>
                </a:extLst>
              </p:cNvPr>
              <p:cNvSpPr/>
              <p:nvPr/>
            </p:nvSpPr>
            <p:spPr>
              <a:xfrm>
                <a:off x="7649439" y="1256350"/>
                <a:ext cx="1666954" cy="458455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/>
                    <a:ea typeface="微软雅黑"/>
                    <a:sym typeface="Arial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zh-CN" altLang="en-US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/>
                    <a:ea typeface="微软雅黑"/>
                    <a:sym typeface="Arial"/>
                  </a:rPr>
                  <a:t>上的范数        </a:t>
                </a:r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F8C32D8B-398D-9233-B65C-102146CF78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439" y="1256350"/>
                <a:ext cx="1666954" cy="458455"/>
              </a:xfrm>
              <a:prstGeom prst="rect">
                <a:avLst/>
              </a:prstGeom>
              <a:blipFill>
                <a:blip r:embed="rId4"/>
                <a:stretch>
                  <a:fillRect r="-2564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对象 29">
            <a:hlinkClick r:id="" action="ppaction://ole?verb=0"/>
            <a:extLst>
              <a:ext uri="{FF2B5EF4-FFF2-40B4-BE49-F238E27FC236}">
                <a16:creationId xmlns:a16="http://schemas.microsoft.com/office/drawing/2014/main" id="{22809EE1-CE4B-98C4-CC3D-EADC118B8F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7890124"/>
              </p:ext>
            </p:extLst>
          </p:nvPr>
        </p:nvGraphicFramePr>
        <p:xfrm>
          <a:off x="2517507" y="4175765"/>
          <a:ext cx="228155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54100" imgH="545465" progId="Equation.KSEE3">
                  <p:embed/>
                </p:oleObj>
              </mc:Choice>
              <mc:Fallback>
                <p:oleObj r:id="rId5" imgW="1054100" imgH="545465" progId="Equation.KSEE3">
                  <p:embed/>
                  <p:pic>
                    <p:nvPicPr>
                      <p:cNvPr id="50" name="对象 49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7507" y="4175765"/>
                        <a:ext cx="2281555" cy="1184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hlinkClick r:id="" action="ppaction://ole?verb=0"/>
            <a:extLst>
              <a:ext uri="{FF2B5EF4-FFF2-40B4-BE49-F238E27FC236}">
                <a16:creationId xmlns:a16="http://schemas.microsoft.com/office/drawing/2014/main" id="{6C60EF8A-CEA0-442F-D569-1834734977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842635"/>
              </p:ext>
            </p:extLst>
          </p:nvPr>
        </p:nvGraphicFramePr>
        <p:xfrm>
          <a:off x="2573903" y="3150540"/>
          <a:ext cx="1649095" cy="937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62000" imgH="431800" progId="Equation.KSEE3">
                  <p:embed/>
                </p:oleObj>
              </mc:Choice>
              <mc:Fallback>
                <p:oleObj r:id="rId7" imgW="762000" imgH="431800" progId="Equation.KSEE3">
                  <p:embed/>
                  <p:pic>
                    <p:nvPicPr>
                      <p:cNvPr id="52" name="对象 5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73903" y="3150540"/>
                        <a:ext cx="1649095" cy="9372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hlinkClick r:id="" action="ppaction://ole?verb=0"/>
            <a:extLst>
              <a:ext uri="{FF2B5EF4-FFF2-40B4-BE49-F238E27FC236}">
                <a16:creationId xmlns:a16="http://schemas.microsoft.com/office/drawing/2014/main" id="{F9B40D13-5B32-6258-51A2-D9F7A565FC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711375"/>
              </p:ext>
            </p:extLst>
          </p:nvPr>
        </p:nvGraphicFramePr>
        <p:xfrm>
          <a:off x="2517507" y="2169329"/>
          <a:ext cx="1951355" cy="634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01700" imgH="292100" progId="Equation.KSEE3">
                  <p:embed/>
                </p:oleObj>
              </mc:Choice>
              <mc:Fallback>
                <p:oleObj r:id="rId9" imgW="901700" imgH="292100" progId="Equation.KSEE3">
                  <p:embed/>
                  <p:pic>
                    <p:nvPicPr>
                      <p:cNvPr id="54" name="对象 53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17507" y="2169329"/>
                        <a:ext cx="1951355" cy="634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hlinkClick r:id="" action="ppaction://ole?verb=0"/>
            <a:extLst>
              <a:ext uri="{FF2B5EF4-FFF2-40B4-BE49-F238E27FC236}">
                <a16:creationId xmlns:a16="http://schemas.microsoft.com/office/drawing/2014/main" id="{12B53165-1916-BDF2-4A19-173E617F3A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867632"/>
              </p:ext>
            </p:extLst>
          </p:nvPr>
        </p:nvGraphicFramePr>
        <p:xfrm>
          <a:off x="7247334" y="1934215"/>
          <a:ext cx="250063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155700" imgH="444500" progId="Equation.KSEE3">
                  <p:embed/>
                </p:oleObj>
              </mc:Choice>
              <mc:Fallback>
                <p:oleObj r:id="rId11" imgW="1155700" imgH="444500" progId="Equation.KSEE3">
                  <p:embed/>
                  <p:pic>
                    <p:nvPicPr>
                      <p:cNvPr id="56" name="对象 55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47334" y="1934215"/>
                        <a:ext cx="250063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hlinkClick r:id="" action="ppaction://ole?verb=0"/>
            <a:extLst>
              <a:ext uri="{FF2B5EF4-FFF2-40B4-BE49-F238E27FC236}">
                <a16:creationId xmlns:a16="http://schemas.microsoft.com/office/drawing/2014/main" id="{606FF6EF-61D8-6F24-1367-DA019A8BA5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641562"/>
              </p:ext>
            </p:extLst>
          </p:nvPr>
        </p:nvGraphicFramePr>
        <p:xfrm>
          <a:off x="7301944" y="4324625"/>
          <a:ext cx="2856865" cy="854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320165" imgH="393700" progId="Equation.KSEE3">
                  <p:embed/>
                </p:oleObj>
              </mc:Choice>
              <mc:Fallback>
                <p:oleObj r:id="rId13" imgW="1320165" imgH="393700" progId="Equation.KSEE3">
                  <p:embed/>
                  <p:pic>
                    <p:nvPicPr>
                      <p:cNvPr id="60" name="对象 59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301944" y="4324625"/>
                        <a:ext cx="2856865" cy="854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hlinkClick r:id="" action="ppaction://ole?verb=0"/>
            <a:extLst>
              <a:ext uri="{FF2B5EF4-FFF2-40B4-BE49-F238E27FC236}">
                <a16:creationId xmlns:a16="http://schemas.microsoft.com/office/drawing/2014/main" id="{6E14E5C6-C01F-C50F-070E-D2931E882D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1698933"/>
              </p:ext>
            </p:extLst>
          </p:nvPr>
        </p:nvGraphicFramePr>
        <p:xfrm>
          <a:off x="7301944" y="3158093"/>
          <a:ext cx="2446020" cy="937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130300" imgH="431800" progId="Equation.KSEE3">
                  <p:embed/>
                </p:oleObj>
              </mc:Choice>
              <mc:Fallback>
                <p:oleObj r:id="rId15" imgW="1130300" imgH="431800" progId="Equation.KSEE3">
                  <p:embed/>
                  <p:pic>
                    <p:nvPicPr>
                      <p:cNvPr id="62" name="对象 6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301944" y="3158093"/>
                        <a:ext cx="2446020" cy="937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21827245-DAAB-FA75-5C4F-065300E23B78}"/>
                  </a:ext>
                </a:extLst>
              </p:cNvPr>
              <p:cNvSpPr/>
              <p:nvPr/>
            </p:nvSpPr>
            <p:spPr>
              <a:xfrm>
                <a:off x="1172439" y="5608200"/>
                <a:ext cx="9747304" cy="458455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/>
                    <a:ea typeface="微软雅黑"/>
                    <a:sym typeface="Arial"/>
                  </a:rPr>
                  <a:t>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其中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en-US" altLang="zh-CN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  <m:sup>
                        <m:r>
                          <a:rPr lang="en-US" altLang="zh-CN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表示 </a:t>
                </a:r>
                <a14:m>
                  <m:oMath xmlns:m="http://schemas.openxmlformats.org/officeDocument/2006/math">
                    <m:r>
                      <a:rPr lang="zh-CN" altLang="en-US" sz="1800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𝐴</m:t>
                    </m:r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的共轭转置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zh-CN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max</m:t>
                        </m:r>
                      </m:sub>
                    </m:sSub>
                    <m:d>
                      <m:dPr>
                        <m:ctrlPr>
                          <a:rPr lang="zh-CN" altLang="en-US" sz="180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b="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𝑀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表示埃尔米特矩阵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微软雅黑"/>
                        <a:sym typeface="Arial"/>
                      </a:rPr>
                      <m:t>𝑀</m:t>
                    </m:r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的最大特征值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21827245-DAAB-FA75-5C4F-065300E23B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439" y="5608200"/>
                <a:ext cx="9747304" cy="458455"/>
              </a:xfrm>
              <a:prstGeom prst="rect">
                <a:avLst/>
              </a:prstGeom>
              <a:blipFill>
                <a:blip r:embed="rId17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8802837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1" grpId="0" animBg="1"/>
      <p:bldP spid="40" grpId="0" animBg="1"/>
      <p:bldP spid="39" grpId="0" animBg="1"/>
      <p:bldP spid="38" grpId="0" animBg="1"/>
      <p:bldP spid="37" grpId="0" animBg="1"/>
      <p:bldP spid="27" grpId="0"/>
      <p:bldP spid="28" grpId="0"/>
      <p:bldP spid="3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032A5-65A8-4368-466E-AF2B46064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558CD34-B2E0-3ADB-69A0-AEAB4BD54983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3F8D4188-80F4-8DBA-EB1E-912D6EAFC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诱导范数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7B4A9896-B81F-933B-3DB9-CE50C5C3AEAC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E526DFF7-73F9-A921-5628-01713D443CC6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B4516FCE-6190-11C5-3B14-40964513F62B}"/>
              </a:ext>
            </a:extLst>
          </p:cNvPr>
          <p:cNvSpPr/>
          <p:nvPr/>
        </p:nvSpPr>
        <p:spPr>
          <a:xfrm>
            <a:off x="1054646" y="1989634"/>
            <a:ext cx="10153128" cy="331236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919B060E-22E8-64CC-E816-5A226ACD8484}"/>
              </a:ext>
            </a:extLst>
          </p:cNvPr>
          <p:cNvSpPr/>
          <p:nvPr/>
        </p:nvSpPr>
        <p:spPr>
          <a:xfrm>
            <a:off x="1054646" y="1989634"/>
            <a:ext cx="1152128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12.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AC5A6333-D4A5-79FE-F15B-E9E1701DB13C}"/>
                  </a:ext>
                </a:extLst>
              </p:cNvPr>
              <p:cNvSpPr txBox="1"/>
              <p:nvPr/>
            </p:nvSpPr>
            <p:spPr>
              <a:xfrm>
                <a:off x="1054646" y="2415729"/>
                <a:ext cx="10153128" cy="2510143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 lvl="0" defTabSz="914400">
                  <a:lnSpc>
                    <a:spcPts val="3500"/>
                  </a:lnSpc>
                  <a:spcAft>
                    <a:spcPts val="600"/>
                  </a:spcAft>
                  <a:defRPr/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A</m:t>
                    </m:r>
                    <m:r>
                      <a:rPr lang="en-US" altLang="zh-CN" sz="1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Arial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</a:t>
                </a:r>
                <a:endParaRPr lang="en-US" altLang="zh-CN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 lvl="0"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(1).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func>
                      <m:func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8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naryPr>
                          <m:sub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8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func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;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𝑗</m:t>
                    </m:r>
                    <m:r>
                      <a:rPr lang="en-US" altLang="zh-CN" sz="1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=1,⋯,</m:t>
                    </m:r>
                    <m:r>
                      <a:rPr lang="en-US" altLang="zh-CN" sz="1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altLang="zh-CN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.</m:t>
                    </m:r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称此范数为矩阵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A</m:t>
                    </m:r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的列和范数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</a:p>
              <a:p>
                <a:pPr lvl="0">
                  <a:lnSpc>
                    <a:spcPts val="3500"/>
                  </a:lnSpc>
                  <a:spcAft>
                    <a:spcPts val="1200"/>
                  </a:spcAft>
                </a:pP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(2).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𝜎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𝑚𝑎𝑥</m:t>
                            </m:r>
                          </m:sub>
                        </m:sSub>
                      </m:e>
                    </m:rad>
                    <m:acc>
                      <m:accPr>
                        <m:chr m:val="̅"/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accPr>
                      <m:e>
                        <m:d>
                          <m:dPr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</m:acc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称此范数为矩阵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A</m:t>
                    </m:r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的谱范数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</a:p>
              <a:p>
                <a:pPr lvl="0">
                  <a:lnSpc>
                    <a:spcPts val="3500"/>
                  </a:lnSpc>
                </a:pP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(3).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∞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func>
                      <m:func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80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naryPr>
                          <m:sub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𝑗</m:t>
                            </m:r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8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solidFill>
                                          <a:schemeClr val="tx1">
                                            <a:lumMod val="95000"/>
                                            <a:lumOff val="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func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𝑖</m:t>
                    </m:r>
                    <m:r>
                      <a:rPr lang="en-US" altLang="zh-CN" sz="1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=1,⋯,</m:t>
                    </m:r>
                    <m:r>
                      <a:rPr lang="en-US" altLang="zh-CN" sz="1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altLang="zh-CN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.</m:t>
                    </m:r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称此范数为矩阵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A</m:t>
                    </m:r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的行和范数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</a:p>
              <a:p>
                <a:pPr lvl="0"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也可称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∞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为矩阵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A</m:t>
                    </m:r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的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1-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范数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2-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范数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和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微软雅黑"/>
                        <a:sym typeface="Arial"/>
                      </a:rPr>
                      <m:t>∞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微软雅黑"/>
                        <a:sym typeface="Arial"/>
                      </a:rPr>
                      <m:t>−</m:t>
                    </m:r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范数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AC5A6333-D4A5-79FE-F15B-E9E1701DB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2415729"/>
                <a:ext cx="10153128" cy="2510143"/>
              </a:xfrm>
              <a:prstGeom prst="rect">
                <a:avLst/>
              </a:prstGeom>
              <a:blipFill>
                <a:blip r:embed="rId3"/>
                <a:stretch>
                  <a:fillRect l="-480" b="-2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6667609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34225-7513-B8E0-DA27-B94C215BB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0A2CA720-CEE4-3824-F1B8-E27EEE94B15F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91BFCE57-2EED-426B-CAB0-D74F0CD37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矩阵测度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083CADCE-DF8E-C6F7-FEAB-0C63651A7BD1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D05A95AB-62C3-07E9-7D93-6A1F6C4B54A5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97DB22AC-4836-686D-776A-70F96927C103}"/>
              </a:ext>
            </a:extLst>
          </p:cNvPr>
          <p:cNvSpPr/>
          <p:nvPr/>
        </p:nvSpPr>
        <p:spPr>
          <a:xfrm>
            <a:off x="1054646" y="2709717"/>
            <a:ext cx="10153128" cy="180019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0D424465-E023-4A7B-8303-E915DFE14EB8}"/>
              </a:ext>
            </a:extLst>
          </p:cNvPr>
          <p:cNvSpPr/>
          <p:nvPr/>
        </p:nvSpPr>
        <p:spPr>
          <a:xfrm>
            <a:off x="1054646" y="2709717"/>
            <a:ext cx="244827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13. 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矩阵测度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31AA51E4-DEAF-A944-48A7-7CC379037217}"/>
                  </a:ext>
                </a:extLst>
              </p:cNvPr>
              <p:cNvSpPr txBox="1"/>
              <p:nvPr/>
            </p:nvSpPr>
            <p:spPr>
              <a:xfrm>
                <a:off x="1054646" y="3135812"/>
                <a:ext cx="10153128" cy="990047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上的诱导范数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则对应的矩阵测度为函数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zh-CN" altLang="en-US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定义为</a:t>
                </a:r>
                <a:endParaRPr lang="en-US" altLang="zh-CN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lim</m:t>
                        </m:r>
                      </m:e>
                      <m:lim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→</m:t>
                        </m:r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</m:sup>
                        </m:sSup>
                      </m:lim>
                    </m:limLow>
                    <m:f>
                      <m:f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𝐼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+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𝜀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𝐴</m:t>
                                </m:r>
                              </m:e>
                            </m:d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−1</m:t>
                        </m:r>
                      </m:num>
                      <m:den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den>
                    </m:f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31AA51E4-DEAF-A944-48A7-7CC379037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3135812"/>
                <a:ext cx="10153128" cy="9900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9137612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3CEF3-6403-110B-CB54-0B286BE1E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0B70AA8-A9A1-FA54-0AE9-2E58CE79C124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8BB0BA0E-E01C-34D8-5A29-13DDC4818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矩阵测度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F6367BBA-6A04-3DE0-D141-152F019C595C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D349BD75-2CEC-1BF9-EF1A-666965E6D771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B43569D7-E678-DB1B-FF88-21AA4F96749E}"/>
              </a:ext>
            </a:extLst>
          </p:cNvPr>
          <p:cNvSpPr/>
          <p:nvPr/>
        </p:nvSpPr>
        <p:spPr>
          <a:xfrm>
            <a:off x="1054646" y="1845619"/>
            <a:ext cx="10153128" cy="403244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F246822B-7497-A567-A110-7125F3A9928E}"/>
              </a:ext>
            </a:extLst>
          </p:cNvPr>
          <p:cNvSpPr/>
          <p:nvPr/>
        </p:nvSpPr>
        <p:spPr>
          <a:xfrm>
            <a:off x="1054646" y="1845619"/>
            <a:ext cx="1080120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 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37FC883F-0924-525F-2872-DA2F961EC8B2}"/>
                  </a:ext>
                </a:extLst>
              </p:cNvPr>
              <p:cNvSpPr txBox="1"/>
              <p:nvPr/>
            </p:nvSpPr>
            <p:spPr>
              <a:xfrm>
                <a:off x="1054646" y="2271714"/>
                <a:ext cx="10153128" cy="3176992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上的诱导矩阵范数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为对应的矩阵测度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那么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具有如下性质：</a:t>
                </a:r>
                <a:endParaRPr lang="en-US" altLang="zh-CN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M1)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对于每一个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A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𝑛𝑥𝑛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存在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lim</m:t>
                        </m:r>
                      </m:e>
                      <m:lim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→</m:t>
                        </m:r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</m:sup>
                        </m:sSup>
                      </m:lim>
                    </m:limLow>
                    <m:f>
                      <m:f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𝐼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+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𝜀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𝐴</m:t>
                                </m:r>
                              </m:e>
                            </m:d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−1</m:t>
                        </m:r>
                      </m:num>
                      <m:den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den>
                    </m:f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这样的极限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且是良定义的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M2)</a:t>
                </a:r>
                <a14:m>
                  <m:oMath xmlns:m="http://schemas.openxmlformats.org/officeDocument/2006/math">
                    <m:r>
                      <a:rPr lang="en-US" altLang="zh-CN" sz="1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,∀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𝐴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M3)</a:t>
                </a:r>
                <a14:m>
                  <m:oMath xmlns:m="http://schemas.openxmlformats.org/officeDocument/2006/math">
                    <m:r>
                      <a:rPr lang="en-US" altLang="zh-CN" sz="1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𝛼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𝛼𝜇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,∀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𝛼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≥0,∀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𝐴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𝑛𝑥𝑛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M4)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𝜇</m:t>
                            </m:r>
                            <m:d>
                              <m:dPr>
                                <m:ctrlP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𝐴</m:t>
                                </m:r>
                              </m:e>
                            </m:d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𝜇</m:t>
                            </m:r>
                            <m:d>
                              <m:dPr>
                                <m:ctrlP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−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𝐵</m:t>
                                </m:r>
                              </m:e>
                            </m:d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,</m:t>
                            </m:r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𝜇</m:t>
                            </m:r>
                            <m:d>
                              <m:dPr>
                                <m:ctrlP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𝐵</m:t>
                                </m:r>
                              </m:e>
                            </m:d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r>
                              <a:rPr lang="zh-CN" altLang="en-US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𝜇</m:t>
                            </m:r>
                            <m:d>
                              <m:dPr>
                                <m:ctrlP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−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𝐴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zh-CN" altLang="en-US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zh-CN" altLang="en-US" sz="1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𝐴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𝐵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M5)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为凸函数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𝛼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d>
                          <m:dPr>
                            <m:ctrlP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1−</m:t>
                            </m:r>
                            <m:r>
                              <a:rPr lang="en-US" altLang="zh-CN" sz="18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𝛼</m:t>
                            </m:r>
                          </m:e>
                        </m:d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𝛼𝜇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1−</m:t>
                        </m:r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𝛼</m:t>
                        </m:r>
                      </m:e>
                    </m:d>
                    <m:r>
                      <a:rPr lang="zh-CN" altLang="en-US" sz="1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𝛼</m:t>
                    </m:r>
                    <m:r>
                      <a:rPr lang="zh-CN" altLang="en-US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  <m:r>
                          <a:rPr lang="en-US" altLang="zh-CN" sz="1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e>
                    </m:d>
                    <m:r>
                      <a:rPr lang="zh-CN" altLang="en-US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,∀</m:t>
                    </m:r>
                    <m:r>
                      <a:rPr lang="zh-CN" altLang="en-US" sz="1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𝐴</m:t>
                    </m:r>
                    <m:r>
                      <a:rPr lang="en-US" altLang="zh-CN" sz="1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𝐵</m:t>
                    </m:r>
                    <m:r>
                      <a:rPr lang="zh-CN" altLang="en-US" sz="1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zh-CN" altLang="en-US" sz="1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M6)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如果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𝜆</m:t>
                    </m:r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为 </a:t>
                </a:r>
                <a14:m>
                  <m:oMath xmlns:m="http://schemas.openxmlformats.org/officeDocument/2006/math">
                    <m:r>
                      <a:rPr lang="zh-CN" altLang="en-US" sz="1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𝐴</m:t>
                    </m:r>
                    <m:r>
                      <a:rPr lang="zh-CN" altLang="en-US" sz="1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的特征值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func>
                      <m:funcPr>
                        <m:ctrl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Re</m:t>
                        </m:r>
                      </m:fName>
                      <m:e>
                        <m:r>
                          <a:rPr lang="zh-CN" altLang="en-US" sz="1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𝜆</m:t>
                        </m:r>
                      </m:e>
                    </m:func>
                    <m:r>
                      <a:rPr lang="zh-CN" altLang="en-US" sz="1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37FC883F-0924-525F-2872-DA2F961EC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2271714"/>
                <a:ext cx="10153128" cy="3176992"/>
              </a:xfrm>
              <a:prstGeom prst="rect">
                <a:avLst/>
              </a:prstGeom>
              <a:blipFill>
                <a:blip r:embed="rId3"/>
                <a:stretch>
                  <a:fillRect l="-480" b="-2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951853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A9C1C-9F2F-E804-A086-D5A9CA09F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5E14D46-1D2D-E589-52B8-4D00B5A64A84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8355B660-49E2-81BB-3171-49B1C7CCC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矩阵测度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0CF26529-C947-F302-2BF8-704945113F2F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0A0D6EEC-3A31-E40D-5389-1C6AC0D0804F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77824B65-92A5-1BA7-D566-868D7CBF8260}"/>
              </a:ext>
            </a:extLst>
          </p:cNvPr>
          <p:cNvSpPr/>
          <p:nvPr/>
        </p:nvSpPr>
        <p:spPr>
          <a:xfrm>
            <a:off x="1054646" y="1125539"/>
            <a:ext cx="10153128" cy="540059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AC75B9E4-1B72-E019-820D-B11395BF289F}"/>
              </a:ext>
            </a:extLst>
          </p:cNvPr>
          <p:cNvSpPr/>
          <p:nvPr/>
        </p:nvSpPr>
        <p:spPr>
          <a:xfrm>
            <a:off x="1054646" y="1125541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Proof: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4FE5C99A-474D-4861-9D35-ED10E226F20F}"/>
                  </a:ext>
                </a:extLst>
              </p:cNvPr>
              <p:cNvSpPr txBox="1"/>
              <p:nvPr/>
            </p:nvSpPr>
            <p:spPr>
              <a:xfrm>
                <a:off x="1054646" y="1551636"/>
                <a:ext cx="10153128" cy="4677403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A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sSup>
                      <m:sSup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定义 </a:t>
                </a:r>
                <a14:m>
                  <m:oMath xmlns:m="http://schemas.openxmlformats.org/officeDocument/2006/math"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e>
                    </m:d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𝐼</m:t>
                                </m:r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+</m:t>
                                </m:r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𝜀</m:t>
                                </m:r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𝐴</m:t>
                                </m:r>
                              </m:e>
                            </m:d>
                          </m:e>
                          <m:sub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−1</m:t>
                        </m:r>
                      </m:num>
                      <m:den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den>
                    </m:f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8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𝜀</m:t>
                                </m:r>
                              </m:den>
                            </m:f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  <m:f>
                      <m:f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num>
                      <m:den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den>
                    </m:f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&gt;0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显然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是连续的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 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为证明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lim</m:t>
                        </m:r>
                      </m:e>
                      <m:lim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→</m:t>
                        </m:r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</m:sup>
                        </m:sSup>
                      </m:lim>
                    </m:limLow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良定义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的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即证当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sSup>
                      <m:sSupPr>
                        <m:ctrlP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e>
                      <m:sup>
                        <m: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时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e>
                    </m:d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不增且有下界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为此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首先证明当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0&lt;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𝛿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时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有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𝛿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               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假设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0&lt;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𝛿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注意到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𝛿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𝛿</m:t>
                                </m:r>
                              </m:den>
                            </m:f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  <m:f>
                      <m:f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num>
                      <m:den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𝛿</m:t>
                        </m:r>
                      </m:den>
                    </m:f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e>
                    </m:d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8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𝜀</m:t>
                                </m:r>
                              </m:den>
                            </m:f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  <m:f>
                      <m:f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num>
                      <m:den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den>
                    </m:f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利用三角不等式和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=1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 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可以得到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 algn="ctr"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𝛿</m:t>
                                </m:r>
                              </m:den>
                            </m:f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𝜀</m:t>
                                </m:r>
                              </m:den>
                            </m:f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𝛿</m:t>
                                    </m:r>
                                  </m:den>
                                </m:f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𝜀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𝜀</m:t>
                                </m:r>
                              </m:den>
                            </m:f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C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𝛿</m:t>
                                    </m:r>
                                  </m:den>
                                </m:f>
                                <m: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𝜀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zh-CN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=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𝜀</m:t>
                                </m:r>
                              </m:den>
                            </m:f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f>
                      <m:f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𝛿</m:t>
                        </m:r>
                      </m:den>
                    </m:f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  <m:f>
                      <m:f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den>
                    </m:f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不等式左右重新排列后可得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𝛿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因此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当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时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不增加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又通过三角不等式有</a:t>
                </a:r>
                <a:endParaRPr lang="en-US" altLang="zh-CN" sz="1800" i="1" dirty="0">
                  <a:solidFill>
                    <a:schemeClr val="tx1"/>
                  </a:solidFill>
                  <a:latin typeface="Cambria Math" panose="02040503050406030204" pitchFamily="18" charset="0"/>
                  <a:sym typeface="Arial"/>
                </a:endParaRPr>
              </a:p>
              <a:p>
                <a:pPr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1−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𝜀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≤1+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&gt;0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即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acc>
                          <m:accPr>
                            <m:chr m:val="̇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acc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𝑙</m:t>
                            </m:r>
                          </m:e>
                        </m:acc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&gt;0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从而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有下界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通过前面的讨论可知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当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时有极限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因此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良定义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的．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(M1)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、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(M2)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得证．</a:t>
                </a: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4FE5C99A-474D-4861-9D35-ED10E226F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551636"/>
                <a:ext cx="10153128" cy="4677403"/>
              </a:xfrm>
              <a:prstGeom prst="rect">
                <a:avLst/>
              </a:prstGeom>
              <a:blipFill>
                <a:blip r:embed="rId3"/>
                <a:stretch>
                  <a:fillRect l="-4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3682335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A6A3D-6912-0931-2F9C-F36F7B4A5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0E97219-8DFD-A8D2-9687-7C5C33637424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C12334A6-6223-FEAA-3F03-4F12964D3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矩阵测度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FF9DFF39-5ACA-5A4E-6293-B4310C513D5F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7BE4CCFD-9049-7947-BE0F-4670CE41AF5C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25D3D234-9EC6-3417-2ECF-27ED98C49936}"/>
              </a:ext>
            </a:extLst>
          </p:cNvPr>
          <p:cNvSpPr/>
          <p:nvPr/>
        </p:nvSpPr>
        <p:spPr>
          <a:xfrm>
            <a:off x="1054646" y="1845620"/>
            <a:ext cx="10153128" cy="396043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C45F4F6A-054E-3BF7-62FD-E57A7C00F168}"/>
              </a:ext>
            </a:extLst>
          </p:cNvPr>
          <p:cNvSpPr/>
          <p:nvPr/>
        </p:nvSpPr>
        <p:spPr>
          <a:xfrm>
            <a:off x="1054646" y="1845622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Proof: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1956272B-6476-E19C-B096-7FCB4BA6CD70}"/>
                  </a:ext>
                </a:extLst>
              </p:cNvPr>
              <p:cNvSpPr txBox="1"/>
              <p:nvPr/>
            </p:nvSpPr>
            <p:spPr>
              <a:xfrm>
                <a:off x="1054646" y="2271717"/>
                <a:ext cx="10153128" cy="3176992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(M3)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中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𝛼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en-US" altLang="zh-CN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lim</m:t>
                        </m:r>
                      </m:e>
                      <m:lim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→</m:t>
                        </m:r>
                        <m:sSup>
                          <m:sSup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e>
                          <m:sup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</m:sup>
                        </m:sSup>
                      </m:lim>
                    </m:limLow>
                    <m:f>
                      <m:f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𝐼</m:t>
                                </m:r>
                                <m:r>
                                  <a:rPr lang="zh-CN" altLang="en-US" sz="18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+</m:t>
                                </m:r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𝜀𝛼</m:t>
                                </m:r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𝐴</m:t>
                                </m:r>
                              </m:e>
                            </m:d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𝑖</m:t>
                                </m:r>
                              </m:e>
                            </m:acc>
                          </m:sub>
                        </m:sSub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−1</m:t>
                        </m:r>
                      </m:num>
                      <m:den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den>
                    </m:f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lim</m:t>
                        </m:r>
                      </m:e>
                      <m:lim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𝜀𝛼</m:t>
                        </m:r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→</m:t>
                        </m:r>
                        <m:sSup>
                          <m:sSup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e>
                          <m:sup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</m:sup>
                        </m:sSup>
                      </m:lim>
                    </m:limLow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𝛼</m:t>
                    </m:r>
                    <m:f>
                      <m:f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𝐼</m:t>
                                </m:r>
                                <m:r>
                                  <a:rPr lang="zh-CN" altLang="en-US" sz="18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+</m:t>
                                </m:r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𝜀𝛼</m:t>
                                </m:r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𝐴</m:t>
                                </m:r>
                              </m:e>
                            </m:d>
                          </m:e>
                          <m:sub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−1</m:t>
                        </m:r>
                      </m:num>
                      <m:den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𝜀𝛼</m:t>
                        </m:r>
                      </m:den>
                    </m:f>
                    <m:r>
                      <a:rPr lang="en-US" altLang="zh-CN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𝛼𝜇</m:t>
                    </m:r>
                    <m:d>
                      <m:d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.</m:t>
                    </m:r>
                  </m:oMath>
                </a14:m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 为了证明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(M4),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我们先证明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由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lim</m:t>
                        </m:r>
                      </m:e>
                      <m:lim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→</m:t>
                        </m:r>
                        <m:sSup>
                          <m:sSup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e>
                          <m:sup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</m:sup>
                        </m:sSup>
                      </m:lim>
                    </m:limLow>
                    <m:sSub>
                      <m:sSub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8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𝜀</m:t>
                                </m:r>
                              </m:den>
                            </m:f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CN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B</m:t>
                            </m:r>
                          </m:e>
                        </m:d>
                      </m:e>
                      <m:sub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  <m:f>
                      <m:f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num>
                      <m:den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den>
                    </m:f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对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&gt;0, 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我们有 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𝜀</m:t>
                                </m:r>
                              </m:den>
                            </m:f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𝐵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  <m:f>
                      <m:f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num>
                      <m:den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den>
                    </m:f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2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𝜀</m:t>
                                </m:r>
                              </m:den>
                            </m:f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2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𝜀</m:t>
                                </m:r>
                              </m:den>
                            </m:f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𝐵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  <m:f>
                      <m:f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num>
                      <m:den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den>
                    </m:f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  <m:f>
                      <m:f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num>
                      <m:den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den>
                    </m:f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2</m:t>
                                    </m:r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𝜀</m:t>
                                    </m:r>
                                  </m:den>
                                </m:f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𝐼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+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𝐴</m:t>
                                </m:r>
                              </m:e>
                            </m:d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fPr>
                          <m:num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2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𝜀</m:t>
                            </m:r>
                          </m:den>
                        </m:f>
                      </m:e>
                    </m:d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zh-CN" altLang="en-US" sz="1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180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altLang="en-US" sz="180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2</m:t>
                                    </m:r>
                                    <m:r>
                                      <a:rPr lang="zh-CN" altLang="en-US" sz="1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𝜀</m:t>
                                    </m:r>
                                  </m:den>
                                </m:f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𝐼</m:t>
                                </m:r>
                                <m:r>
                                  <a:rPr lang="zh-CN" altLang="en-US" sz="18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+</m:t>
                                </m:r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𝐵</m:t>
                                </m:r>
                              </m:e>
                            </m:d>
                          </m:e>
                          <m:sub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fPr>
                          <m:num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2</m:t>
                            </m:r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𝜀</m:t>
                            </m:r>
                          </m:den>
                        </m:f>
                      </m:e>
                    </m:d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.</m:t>
                    </m:r>
                  </m:oMath>
                </a14:m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令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</m:sup>
                    </m:sSup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 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则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得证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现在把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𝐴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换成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𝐴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𝐵</m:t>
                    </m:r>
                    <m:r>
                      <a:rPr lang="en-US" altLang="zh-CN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把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𝐵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换成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𝐵</m:t>
                    </m:r>
                    <m:r>
                      <a:rPr lang="en-US" altLang="zh-CN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则上式变成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𝑢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即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e>
                    </m:d>
                    <m:r>
                      <a:rPr lang="en-US" altLang="zh-CN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通过对称有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从而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(M4)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得证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1956272B-6476-E19C-B096-7FCB4BA6C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2271717"/>
                <a:ext cx="10153128" cy="3176992"/>
              </a:xfrm>
              <a:prstGeom prst="rect">
                <a:avLst/>
              </a:prstGeom>
              <a:blipFill>
                <a:blip r:embed="rId3"/>
                <a:stretch>
                  <a:fillRect l="-480" b="-2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4252977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4CD74-E2DD-37A2-1A33-A6571332F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02DA422-8796-2AC0-4EBE-887481609178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FE927855-4EA6-D606-E535-39CF29F0D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矩阵测度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FEDD44E9-050B-E07F-A117-5A35C6124646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6C08E249-4C09-5851-5EDF-31BF5CBF9F93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DB74E976-CFDA-3C7D-37FA-B45E84E5CA64}"/>
              </a:ext>
            </a:extLst>
          </p:cNvPr>
          <p:cNvSpPr/>
          <p:nvPr/>
        </p:nvSpPr>
        <p:spPr>
          <a:xfrm>
            <a:off x="1054646" y="1845621"/>
            <a:ext cx="10153128" cy="388842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33F8A50A-5AC4-212D-2FA7-70418F8C2641}"/>
              </a:ext>
            </a:extLst>
          </p:cNvPr>
          <p:cNvSpPr/>
          <p:nvPr/>
        </p:nvSpPr>
        <p:spPr>
          <a:xfrm>
            <a:off x="1054646" y="1845623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Proof: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240F01FA-1491-C030-4B91-E59827157726}"/>
                  </a:ext>
                </a:extLst>
              </p:cNvPr>
              <p:cNvSpPr txBox="1"/>
              <p:nvPr/>
            </p:nvSpPr>
            <p:spPr>
              <a:xfrm>
                <a:off x="1054646" y="2271718"/>
                <a:ext cx="10153128" cy="3176992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(M5)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可以通过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(M3)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和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𝐵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直接得到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最后为了证明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(M6),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设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𝜆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为 </a:t>
                </a:r>
                <a14:m>
                  <m:oMath xmlns:m="http://schemas.openxmlformats.org/officeDocument/2006/math"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𝐴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的特征值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𝜈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为对应的特征向量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不失一般性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假设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𝜈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=1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 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其中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∙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上的范数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上的诱导范数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对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&gt;0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我们有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𝜀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sup</m:t>
                        </m:r>
                      </m:e>
                      <m:lim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=1</m:t>
                        </m:r>
                      </m:lim>
                    </m:limLow>
                    <m:d>
                      <m:dPr>
                        <m:begChr m:val="‖"/>
                        <m:endChr m:val="‖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𝜀</m:t>
                            </m:r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≥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𝜀</m:t>
                            </m:r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𝜈</m:t>
                        </m:r>
                      </m:e>
                    </m:d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1+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𝜀𝜆</m:t>
                        </m:r>
                      </m:e>
                    </m:d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⋅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𝜈</m:t>
                        </m:r>
                      </m:e>
                    </m:d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𝜀𝜆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类似地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可以得出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𝜀𝜆</m:t>
                        </m:r>
                      </m:e>
                    </m:d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sSub>
                      <m:sSub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𝐼</m:t>
                            </m:r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𝜀</m:t>
                            </m:r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altLang="zh-CN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&gt;</m:t>
                    </m:r>
                    <m:r>
                      <a:rPr lang="en-US" altLang="zh-CN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验证得</a:t>
                </a:r>
              </a:p>
              <a:p>
                <a:pPr algn="ctr"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Re</m:t>
                        </m:r>
                      </m:fName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𝜆</m:t>
                        </m:r>
                      </m:e>
                    </m:func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lim</m:t>
                        </m:r>
                      </m:e>
                      <m:lim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→</m:t>
                        </m:r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</m:sup>
                        </m:sSup>
                      </m:lim>
                    </m:limLow>
                    <m:f>
                      <m:f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1+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𝜀𝜆</m:t>
                            </m:r>
                          </m:e>
                        </m:d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−1</m:t>
                        </m:r>
                      </m:num>
                      <m:den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den>
                    </m:f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和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Re</m:t>
                        </m:r>
                      </m:fName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𝜆</m:t>
                        </m:r>
                      </m:e>
                    </m:func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  <m:limLow>
                      <m:limLow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lim</m:t>
                        </m:r>
                      </m:e>
                      <m:lim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→</m:t>
                        </m:r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</m:sup>
                        </m:sSup>
                      </m:lim>
                    </m:limLow>
                    <m:f>
                      <m:f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1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𝜀𝜆</m:t>
                            </m:r>
                          </m:e>
                        </m:d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−1</m:t>
                        </m:r>
                      </m:num>
                      <m:den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den>
                    </m:f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以上几个式子结合之后可得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(M6).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240F01FA-1491-C030-4B91-E59827157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2271718"/>
                <a:ext cx="10153128" cy="3176992"/>
              </a:xfrm>
              <a:prstGeom prst="rect">
                <a:avLst/>
              </a:prstGeom>
              <a:blipFill>
                <a:blip r:embed="rId3"/>
                <a:stretch>
                  <a:fillRect l="-480" b="-2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367830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77B17-1A00-77C7-6B15-44C7362D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F1239D6-CC8E-0579-2761-9576D158CC09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4E5BB16D-8EAA-5F81-FBFC-40BDBCFBC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矩阵测度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C5450B14-210B-9C52-5B22-00B8446234D1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146235D7-9C15-A8DF-791B-D4D5EBE4500E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27483CB0-AEA7-B55D-75EA-DBD1209A5A51}"/>
              </a:ext>
            </a:extLst>
          </p:cNvPr>
          <p:cNvSpPr/>
          <p:nvPr/>
        </p:nvSpPr>
        <p:spPr>
          <a:xfrm>
            <a:off x="1054646" y="2781723"/>
            <a:ext cx="10153128" cy="180019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A3ED0524-B287-31FB-8502-BDCE464829A3}"/>
              </a:ext>
            </a:extLst>
          </p:cNvPr>
          <p:cNvSpPr/>
          <p:nvPr/>
        </p:nvSpPr>
        <p:spPr>
          <a:xfrm>
            <a:off x="1054646" y="2781722"/>
            <a:ext cx="1080120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 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6DEEE46C-B1B1-9ED3-3849-7D5053EE5D17}"/>
                  </a:ext>
                </a:extLst>
              </p:cNvPr>
              <p:cNvSpPr txBox="1"/>
              <p:nvPr/>
            </p:nvSpPr>
            <p:spPr>
              <a:xfrm>
                <a:off x="1054646" y="3207817"/>
                <a:ext cx="10153128" cy="932788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∙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是定义在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上的范数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  <m: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sSup>
                      <m:sSup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是对应的诱导范数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800" i="1" dirty="0"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zh-CN" altLang="en-US" sz="1800" i="1" dirty="0"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dirty="0"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</m:e>
                    </m:d>
                    <m:r>
                      <a:rPr lang="zh-CN" altLang="en-US" sz="1800" dirty="0"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sSup>
                      <m:sSupPr>
                        <m:ctrlPr>
                          <a:rPr lang="zh-CN" altLang="en-US" sz="1800" i="1" dirty="0"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dirty="0"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e>
                      <m:sup>
                        <m:r>
                          <a:rPr lang="en-US" altLang="zh-CN" sz="1800" i="1" dirty="0"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zh-CN" altLang="en-US" sz="1800" i="1" dirty="0"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  <m:r>
                      <a:rPr lang="zh-CN" altLang="en-US" sz="1800" dirty="0"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zh-CN" altLang="en-US" sz="1800" dirty="0"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是对应的矩阵测度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𝜇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满足性质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(M1)~(M6).</a:t>
                </a: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6DEEE46C-B1B1-9ED3-3849-7D5053EE5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3207817"/>
                <a:ext cx="10153128" cy="932788"/>
              </a:xfrm>
              <a:prstGeom prst="rect">
                <a:avLst/>
              </a:prstGeom>
              <a:blipFill>
                <a:blip r:embed="rId3"/>
                <a:stretch>
                  <a:fillRect l="-480" b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5446087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4B5D9-FE65-0235-E8A1-B6622E3F5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圆角矩形 21">
            <a:extLst>
              <a:ext uri="{FF2B5EF4-FFF2-40B4-BE49-F238E27FC236}">
                <a16:creationId xmlns:a16="http://schemas.microsoft.com/office/drawing/2014/main" id="{46CD2BB2-9726-18E1-3127-7D2FF4F8C48F}"/>
              </a:ext>
            </a:extLst>
          </p:cNvPr>
          <p:cNvSpPr/>
          <p:nvPr/>
        </p:nvSpPr>
        <p:spPr>
          <a:xfrm>
            <a:off x="6046090" y="4189735"/>
            <a:ext cx="4873652" cy="118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圆角矩形 21">
            <a:extLst>
              <a:ext uri="{FF2B5EF4-FFF2-40B4-BE49-F238E27FC236}">
                <a16:creationId xmlns:a16="http://schemas.microsoft.com/office/drawing/2014/main" id="{7444C895-100E-5F9A-D071-D0832DD43D46}"/>
              </a:ext>
            </a:extLst>
          </p:cNvPr>
          <p:cNvSpPr/>
          <p:nvPr/>
        </p:nvSpPr>
        <p:spPr>
          <a:xfrm>
            <a:off x="1172438" y="4182750"/>
            <a:ext cx="4873652" cy="119126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圆角矩形 21">
            <a:extLst>
              <a:ext uri="{FF2B5EF4-FFF2-40B4-BE49-F238E27FC236}">
                <a16:creationId xmlns:a16="http://schemas.microsoft.com/office/drawing/2014/main" id="{ECC56303-A0DD-8CEA-E21A-44D3B49334EE}"/>
              </a:ext>
            </a:extLst>
          </p:cNvPr>
          <p:cNvSpPr/>
          <p:nvPr/>
        </p:nvSpPr>
        <p:spPr>
          <a:xfrm>
            <a:off x="6046090" y="3005460"/>
            <a:ext cx="4873652" cy="118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圆角矩形 21">
            <a:extLst>
              <a:ext uri="{FF2B5EF4-FFF2-40B4-BE49-F238E27FC236}">
                <a16:creationId xmlns:a16="http://schemas.microsoft.com/office/drawing/2014/main" id="{24A1E26F-C2A7-864E-53B8-A60A1683555F}"/>
              </a:ext>
            </a:extLst>
          </p:cNvPr>
          <p:cNvSpPr/>
          <p:nvPr/>
        </p:nvSpPr>
        <p:spPr>
          <a:xfrm>
            <a:off x="1172438" y="3005460"/>
            <a:ext cx="4873652" cy="118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8" name="圆角矩形 21">
            <a:extLst>
              <a:ext uri="{FF2B5EF4-FFF2-40B4-BE49-F238E27FC236}">
                <a16:creationId xmlns:a16="http://schemas.microsoft.com/office/drawing/2014/main" id="{31363847-BDDF-C021-04AE-73C01F78EADB}"/>
              </a:ext>
            </a:extLst>
          </p:cNvPr>
          <p:cNvSpPr/>
          <p:nvPr/>
        </p:nvSpPr>
        <p:spPr>
          <a:xfrm>
            <a:off x="6046090" y="1828170"/>
            <a:ext cx="4873652" cy="118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圆角矩形 21">
            <a:extLst>
              <a:ext uri="{FF2B5EF4-FFF2-40B4-BE49-F238E27FC236}">
                <a16:creationId xmlns:a16="http://schemas.microsoft.com/office/drawing/2014/main" id="{6257F87B-C93C-A138-37FD-CCE0A444BBCC}"/>
              </a:ext>
            </a:extLst>
          </p:cNvPr>
          <p:cNvSpPr/>
          <p:nvPr/>
        </p:nvSpPr>
        <p:spPr>
          <a:xfrm>
            <a:off x="1172438" y="1828170"/>
            <a:ext cx="4873652" cy="11842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1A5EB04-F86B-1EEE-D670-BE65A85CDB67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20B3D740-8DE8-BE9A-0626-3F1D88D3E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矩阵测度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3F4C406B-CB8D-F5A2-BE1F-8666C43187B0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429EC1C2-3454-9B26-C9F7-616436AE3CC0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EA088457-C1EA-7A98-B086-2CD21967582F}"/>
                  </a:ext>
                </a:extLst>
              </p:cNvPr>
              <p:cNvSpPr/>
              <p:nvPr/>
            </p:nvSpPr>
            <p:spPr>
              <a:xfrm>
                <a:off x="2553417" y="1256350"/>
                <a:ext cx="1879534" cy="458455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/>
                    <a:ea typeface="微软雅黑"/>
                    <a:sym typeface="Arial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/>
                    <a:ea typeface="微软雅黑"/>
                    <a:sym typeface="Arial"/>
                  </a:rPr>
                  <a:t>上的范数        </a:t>
                </a: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6EB68DF2-E1C2-FD57-2530-75972CBEEB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417" y="1256350"/>
                <a:ext cx="1879534" cy="458455"/>
              </a:xfrm>
              <a:prstGeom prst="rect">
                <a:avLst/>
              </a:prstGeom>
              <a:blipFill>
                <a:blip r:embed="rId3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42E33A46-348B-3022-096B-5726B38B8FDB}"/>
                  </a:ext>
                </a:extLst>
              </p:cNvPr>
              <p:cNvSpPr/>
              <p:nvPr/>
            </p:nvSpPr>
            <p:spPr>
              <a:xfrm>
                <a:off x="7402796" y="1256350"/>
                <a:ext cx="2160240" cy="458455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/>
                    <a:ea typeface="微软雅黑"/>
                    <a:sym typeface="Arial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ℂ</m:t>
                        </m:r>
                      </m:e>
                      <m:sup>
                        <m:r>
                          <a:rPr lang="zh-CN" altLang="en-US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en-US" altLang="zh-CN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Arial"/>
                          </a:rPr>
                          <m:t>×</m:t>
                        </m:r>
                        <m:r>
                          <a:rPr lang="zh-CN" altLang="en-US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/>
                    <a:ea typeface="微软雅黑"/>
                    <a:sym typeface="Arial"/>
                  </a:rPr>
                  <a:t>上的矩阵测度        </a:t>
                </a:r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42E33A46-348B-3022-096B-5726B38B8F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796" y="1256350"/>
                <a:ext cx="2160240" cy="458455"/>
              </a:xfrm>
              <a:prstGeom prst="rect">
                <a:avLst/>
              </a:prstGeom>
              <a:blipFill>
                <a:blip r:embed="rId4"/>
                <a:stretch>
                  <a:fillRect r="-563"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0" name="对象 29">
            <a:hlinkClick r:id="" action="ppaction://ole?verb=0"/>
            <a:extLst>
              <a:ext uri="{FF2B5EF4-FFF2-40B4-BE49-F238E27FC236}">
                <a16:creationId xmlns:a16="http://schemas.microsoft.com/office/drawing/2014/main" id="{51958886-5CEE-B3DC-AD7A-072E5374C8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7507" y="4175765"/>
          <a:ext cx="228155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54100" imgH="545465" progId="Equation.KSEE3">
                  <p:embed/>
                </p:oleObj>
              </mc:Choice>
              <mc:Fallback>
                <p:oleObj r:id="rId5" imgW="1054100" imgH="545465" progId="Equation.KSEE3">
                  <p:embed/>
                  <p:pic>
                    <p:nvPicPr>
                      <p:cNvPr id="30" name="对象 29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22809EE1-CE4B-98C4-CC3D-EADC118B8F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7507" y="4175765"/>
                        <a:ext cx="2281555" cy="1184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hlinkClick r:id="" action="ppaction://ole?verb=0"/>
            <a:extLst>
              <a:ext uri="{FF2B5EF4-FFF2-40B4-BE49-F238E27FC236}">
                <a16:creationId xmlns:a16="http://schemas.microsoft.com/office/drawing/2014/main" id="{095B007C-8A0D-ACE0-B48D-44109DD3C8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3903" y="3150540"/>
          <a:ext cx="1649095" cy="937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62000" imgH="431800" progId="Equation.KSEE3">
                  <p:embed/>
                </p:oleObj>
              </mc:Choice>
              <mc:Fallback>
                <p:oleObj r:id="rId7" imgW="762000" imgH="431800" progId="Equation.KSEE3">
                  <p:embed/>
                  <p:pic>
                    <p:nvPicPr>
                      <p:cNvPr id="31" name="对象 30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6C60EF8A-CEA0-442F-D569-1834734977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73903" y="3150540"/>
                        <a:ext cx="1649095" cy="9372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hlinkClick r:id="" action="ppaction://ole?verb=0"/>
            <a:extLst>
              <a:ext uri="{FF2B5EF4-FFF2-40B4-BE49-F238E27FC236}">
                <a16:creationId xmlns:a16="http://schemas.microsoft.com/office/drawing/2014/main" id="{3EACD3C4-60D1-1459-4C69-F17F011FC6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7507" y="2169329"/>
          <a:ext cx="1951355" cy="634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01700" imgH="292100" progId="Equation.KSEE3">
                  <p:embed/>
                </p:oleObj>
              </mc:Choice>
              <mc:Fallback>
                <p:oleObj r:id="rId9" imgW="901700" imgH="292100" progId="Equation.KSEE3">
                  <p:embed/>
                  <p:pic>
                    <p:nvPicPr>
                      <p:cNvPr id="32" name="对象 31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F9B40D13-5B32-6258-51A2-D9F7A565FC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17507" y="2169329"/>
                        <a:ext cx="1951355" cy="634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D11C28A6-41AB-1A27-F6F7-70A5F5C9980C}"/>
                  </a:ext>
                </a:extLst>
              </p:cNvPr>
              <p:cNvSpPr/>
              <p:nvPr/>
            </p:nvSpPr>
            <p:spPr>
              <a:xfrm>
                <a:off x="1172439" y="5608200"/>
                <a:ext cx="9747304" cy="458455"/>
              </a:xfrm>
              <a:prstGeom prst="rect">
                <a:avLst/>
              </a:prstGeom>
            </p:spPr>
            <p:txBody>
              <a:bodyPr wrap="square" lIns="91436" tIns="45718" rIns="91436" bIns="45718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/>
                    <a:ea typeface="微软雅黑"/>
                    <a:sym typeface="Arial"/>
                  </a:rPr>
                  <a:t> </a:t>
                </a:r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其中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en-US" altLang="zh-CN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  <m:sup>
                        <m:r>
                          <a:rPr lang="en-US" altLang="zh-CN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表示 </a:t>
                </a:r>
                <a14:m>
                  <m:oMath xmlns:m="http://schemas.openxmlformats.org/officeDocument/2006/math">
                    <m:r>
                      <a:rPr lang="zh-CN" altLang="en-US" sz="1800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sym typeface="Arial"/>
                      </a:rPr>
                      <m:t>𝐴</m:t>
                    </m:r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的共轭转置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en-US" altLang="zh-CN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max</m:t>
                        </m:r>
                      </m:sub>
                    </m:sSub>
                    <m:d>
                      <m:dPr>
                        <m:ctrlPr>
                          <a:rPr lang="zh-CN" altLang="en-US" sz="180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b="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𝑀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表示埃尔米特矩阵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微软雅黑"/>
                        <a:sym typeface="Arial"/>
                      </a:rPr>
                      <m:t>𝑀</m:t>
                    </m:r>
                  </m:oMath>
                </a14:m>
                <a:r>
                  <a:rPr lang="zh-CN" alt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的最大特征值</a:t>
                </a:r>
                <a:r>
                  <a:rPr lang="en-US" altLang="zh-CN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21827245-DAAB-FA75-5C4F-065300E23B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439" y="5608200"/>
                <a:ext cx="9747304" cy="458455"/>
              </a:xfrm>
              <a:prstGeom prst="rect">
                <a:avLst/>
              </a:prstGeom>
              <a:blipFill>
                <a:blip r:embed="rId17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>
            <a:hlinkClick r:id="" action="ppaction://ole?verb=0"/>
            <a:extLst>
              <a:ext uri="{FF2B5EF4-FFF2-40B4-BE49-F238E27FC236}">
                <a16:creationId xmlns:a16="http://schemas.microsoft.com/office/drawing/2014/main" id="{D3225B6D-EAB5-33BF-60B6-AFBD85C4E8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7983286"/>
              </p:ext>
            </p:extLst>
          </p:nvPr>
        </p:nvGraphicFramePr>
        <p:xfrm>
          <a:off x="6743278" y="1915011"/>
          <a:ext cx="337693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688465" imgH="571500" progId="Equation.KSEE3">
                  <p:embed/>
                </p:oleObj>
              </mc:Choice>
              <mc:Fallback>
                <p:oleObj r:id="rId18" imgW="1688465" imgH="571500" progId="Equation.KSEE3">
                  <p:embed/>
                  <p:pic>
                    <p:nvPicPr>
                      <p:cNvPr id="56" name="对象 55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743278" y="1915011"/>
                        <a:ext cx="3376930" cy="114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0"/>
            <a:extLst>
              <a:ext uri="{FF2B5EF4-FFF2-40B4-BE49-F238E27FC236}">
                <a16:creationId xmlns:a16="http://schemas.microsoft.com/office/drawing/2014/main" id="{2E05E662-5EE1-D92A-B4EB-098A5BE271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2349662"/>
              </p:ext>
            </p:extLst>
          </p:nvPr>
        </p:nvGraphicFramePr>
        <p:xfrm>
          <a:off x="6808133" y="4310702"/>
          <a:ext cx="2794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397000" imgH="457200" progId="Equation.KSEE3">
                  <p:embed/>
                </p:oleObj>
              </mc:Choice>
              <mc:Fallback>
                <p:oleObj r:id="rId20" imgW="1397000" imgH="457200" progId="Equation.KSEE3">
                  <p:embed/>
                  <p:pic>
                    <p:nvPicPr>
                      <p:cNvPr id="60" name="对象 59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808133" y="4310702"/>
                        <a:ext cx="27940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0"/>
            <a:extLst>
              <a:ext uri="{FF2B5EF4-FFF2-40B4-BE49-F238E27FC236}">
                <a16:creationId xmlns:a16="http://schemas.microsoft.com/office/drawing/2014/main" id="{55ECDC81-CC05-3805-1E43-C3CC762202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1385785"/>
              </p:ext>
            </p:extLst>
          </p:nvPr>
        </p:nvGraphicFramePr>
        <p:xfrm>
          <a:off x="6809979" y="3090092"/>
          <a:ext cx="3352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676400" imgH="571500" progId="Equation.KSEE3">
                  <p:embed/>
                </p:oleObj>
              </mc:Choice>
              <mc:Fallback>
                <p:oleObj r:id="rId22" imgW="1676400" imgH="571500" progId="Equation.KSEE3">
                  <p:embed/>
                  <p:pic>
                    <p:nvPicPr>
                      <p:cNvPr id="27" name="对象 2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809979" y="3090092"/>
                        <a:ext cx="3352800" cy="114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6170678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1" grpId="0" animBg="1"/>
      <p:bldP spid="40" grpId="0" animBg="1"/>
      <p:bldP spid="39" grpId="0" animBg="1"/>
      <p:bldP spid="38" grpId="0" animBg="1"/>
      <p:bldP spid="37" grpId="0" animBg="1"/>
      <p:bldP spid="27" grpId="0"/>
      <p:bldP spid="28" grpId="0"/>
      <p:bldP spid="3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4EBCC-6ED8-2F95-7943-4D761A575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CFDD207-BF3D-A027-6267-1595C3DC09B5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AC6EC919-742F-6D3F-A95D-A6CB343A4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矩阵测度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C1D9690A-93B3-BFC7-867D-4B166F099AF0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304CBCC6-58ED-62FB-5607-3672B8594291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2.2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B7FF0E26-AD70-C951-9B55-3616E99F7784}"/>
              </a:ext>
            </a:extLst>
          </p:cNvPr>
          <p:cNvSpPr/>
          <p:nvPr/>
        </p:nvSpPr>
        <p:spPr>
          <a:xfrm>
            <a:off x="1054646" y="1701602"/>
            <a:ext cx="10153128" cy="403244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3D64DBD9-F213-BB18-889E-BDD455ACF372}"/>
              </a:ext>
            </a:extLst>
          </p:cNvPr>
          <p:cNvSpPr/>
          <p:nvPr/>
        </p:nvSpPr>
        <p:spPr>
          <a:xfrm>
            <a:off x="1054646" y="1701601"/>
            <a:ext cx="936104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 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7116DA27-8C2F-9708-8153-D693C2CC33C1}"/>
                  </a:ext>
                </a:extLst>
              </p:cNvPr>
              <p:cNvSpPr txBox="1"/>
              <p:nvPr/>
            </p:nvSpPr>
            <p:spPr>
              <a:xfrm>
                <a:off x="1054646" y="2343017"/>
                <a:ext cx="10153128" cy="2958984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  <a:spcAft>
                    <a:spcPts val="1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𝐴</m:t>
                      </m:r>
                      <m:r>
                        <a:rPr lang="en-US" altLang="zh-C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−</m:t>
                                </m:r>
                                <m: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利用上表给出的公式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可以得到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𝜇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=4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  <a:sym typeface="Arial"/>
                          </a:rPr>
                          <m:t>𝜇</m:t>
                        </m:r>
                      </m:e>
                      <m:sub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=7</m:t>
                    </m:r>
                    <m:r>
                      <a:rPr lang="en-US" altLang="zh-CN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𝜇</m:t>
                        </m:r>
                      </m:e>
                      <m:sub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∞</m:t>
                        </m:r>
                      </m:sub>
                    </m:sSub>
                    <m:d>
                      <m:d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=4</m:t>
                    </m:r>
                    <m:r>
                      <a:rPr lang="en-US" altLang="zh-CN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  </m:t>
                    </m:r>
                    <m:sSub>
                      <m:sSub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𝜇</m:t>
                        </m:r>
                      </m:e>
                      <m:sub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∞</m:t>
                        </m:r>
                      </m:sub>
                    </m:sSub>
                    <m:d>
                      <m:d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=9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使用度量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𝜇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得到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−7≤</m:t>
                    </m:r>
                    <m:func>
                      <m:func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Re</m:t>
                        </m:r>
                      </m:fName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≤4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使用度量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𝜇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得到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−9≤</m:t>
                    </m:r>
                    <m:func>
                      <m:func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Re</m:t>
                        </m:r>
                      </m:fName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𝜆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≤4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1800" b="0" i="0" smtClean="0">
                        <a:latin typeface="Cambria Math" panose="02040503050406030204" pitchFamily="18" charset="0"/>
                        <a:sym typeface="Arial"/>
                      </a:rPr>
                      <m:t>   </m:t>
                    </m:r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𝐴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实际特征值是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−6.0426,−3.1271,2</m:t>
                        </m:r>
                        <m:d>
                          <m:dPr>
                            <m:begChr m:val=""/>
                            <m:endChr m:val="}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.1698</m:t>
                            </m:r>
                          </m:e>
                        </m:d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mPr>
                          <m:mr>
                            <m:e/>
                          </m:mr>
                        </m:m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因此包含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𝐴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的所有特征值的实部的最小区间是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−6.0426,2.1698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所以上面得到的估计值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−7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4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不算太差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下面我们计算度量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𝜇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得到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𝜇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=2.289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sSub>
                      <m:sSub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𝜇</m:t>
                        </m:r>
                      </m:e>
                      <m:sub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𝐴</m:t>
                        </m:r>
                      </m:e>
                    </m:d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=6.245</m:t>
                    </m:r>
                    <m:r>
                      <a:rPr lang="en-US" altLang="zh-CN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 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这意味着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−6.245≤</m:t>
                    </m:r>
                    <m:func>
                      <m:func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Re</m:t>
                        </m:r>
                      </m:fName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𝜆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𝑖</m:t>
                                </m:r>
                              </m:e>
                            </m:acc>
                          </m:sub>
                        </m:sSub>
                      </m:e>
                    </m:func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≤2.289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这个估计几乎完全准确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只是工作量更大．</a:t>
                </a: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7116DA27-8C2F-9708-8153-D693C2CC3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2343017"/>
                <a:ext cx="10153128" cy="2958984"/>
              </a:xfrm>
              <a:prstGeom prst="rect">
                <a:avLst/>
              </a:prstGeom>
              <a:blipFill>
                <a:blip r:embed="rId3"/>
                <a:stretch>
                  <a:fillRect l="-480" t="-4527" r="-4922" b="-2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9050163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6C29E-C3D9-F930-B0A7-0BF002BF0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标题层">
            <a:extLst>
              <a:ext uri="{FF2B5EF4-FFF2-40B4-BE49-F238E27FC236}">
                <a16:creationId xmlns:a16="http://schemas.microsoft.com/office/drawing/2014/main" id="{34F6A4D5-4A7C-E444-0DF0-1F840C5FEE76}"/>
              </a:ext>
            </a:extLst>
          </p:cNvPr>
          <p:cNvSpPr txBox="1"/>
          <p:nvPr/>
        </p:nvSpPr>
        <p:spPr bwMode="auto">
          <a:xfrm>
            <a:off x="2549257" y="2205658"/>
            <a:ext cx="896527" cy="697788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sz="37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2.1</a:t>
            </a:r>
            <a:endParaRPr lang="zh-CN" altLang="en-US" sz="3700" kern="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802A5DFF-E5E4-1E7C-02F2-868841D70953}"/>
              </a:ext>
            </a:extLst>
          </p:cNvPr>
          <p:cNvCxnSpPr/>
          <p:nvPr/>
        </p:nvCxnSpPr>
        <p:spPr>
          <a:xfrm>
            <a:off x="3445786" y="2276259"/>
            <a:ext cx="0" cy="55658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72" name="标题层">
            <a:extLst>
              <a:ext uri="{FF2B5EF4-FFF2-40B4-BE49-F238E27FC236}">
                <a16:creationId xmlns:a16="http://schemas.microsoft.com/office/drawing/2014/main" id="{364A3238-2F0B-E0B4-E424-40587F2FFD39}"/>
              </a:ext>
            </a:extLst>
          </p:cNvPr>
          <p:cNvSpPr txBox="1"/>
          <p:nvPr/>
        </p:nvSpPr>
        <p:spPr bwMode="auto">
          <a:xfrm>
            <a:off x="3537053" y="2205658"/>
            <a:ext cx="2126106" cy="697788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defTabSz="1218565">
              <a:defRPr/>
            </a:pPr>
            <a:r>
              <a:rPr lang="zh-CN" altLang="en-US" sz="3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数学基础</a:t>
            </a:r>
          </a:p>
        </p:txBody>
      </p: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68763594-ECF5-3EC9-EF4B-6CFE5B750718}"/>
              </a:ext>
            </a:extLst>
          </p:cNvPr>
          <p:cNvCxnSpPr>
            <a:cxnSpLocks/>
            <a:stCxn id="72" idx="3"/>
            <a:endCxn id="74" idx="1"/>
          </p:cNvCxnSpPr>
          <p:nvPr/>
        </p:nvCxnSpPr>
        <p:spPr>
          <a:xfrm>
            <a:off x="5663159" y="2554552"/>
            <a:ext cx="3192519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tailEnd type="oval"/>
          </a:ln>
          <a:effectLst/>
        </p:spPr>
      </p:cxnSp>
      <p:sp>
        <p:nvSpPr>
          <p:cNvPr id="74" name="标题层">
            <a:extLst>
              <a:ext uri="{FF2B5EF4-FFF2-40B4-BE49-F238E27FC236}">
                <a16:creationId xmlns:a16="http://schemas.microsoft.com/office/drawing/2014/main" id="{F307F4A3-53A8-5224-2090-955B5454241E}"/>
              </a:ext>
            </a:extLst>
          </p:cNvPr>
          <p:cNvSpPr txBox="1"/>
          <p:nvPr/>
        </p:nvSpPr>
        <p:spPr bwMode="auto">
          <a:xfrm>
            <a:off x="8855678" y="2328797"/>
            <a:ext cx="785476" cy="451510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P3</a:t>
            </a:r>
            <a:endParaRPr lang="zh-CN" altLang="en-US" kern="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0" name="标题层">
            <a:extLst>
              <a:ext uri="{FF2B5EF4-FFF2-40B4-BE49-F238E27FC236}">
                <a16:creationId xmlns:a16="http://schemas.microsoft.com/office/drawing/2014/main" id="{5ED08B1F-58DD-3B97-F254-203402D2E21F}"/>
              </a:ext>
            </a:extLst>
          </p:cNvPr>
          <p:cNvSpPr txBox="1"/>
          <p:nvPr/>
        </p:nvSpPr>
        <p:spPr bwMode="auto">
          <a:xfrm>
            <a:off x="2549259" y="3354957"/>
            <a:ext cx="896525" cy="692473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sz="37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2.2</a:t>
            </a:r>
            <a:endParaRPr lang="zh-CN" altLang="en-US" sz="3700" kern="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DEFB316B-A33F-4166-4CF8-649913641582}"/>
              </a:ext>
            </a:extLst>
          </p:cNvPr>
          <p:cNvCxnSpPr/>
          <p:nvPr/>
        </p:nvCxnSpPr>
        <p:spPr>
          <a:xfrm>
            <a:off x="3445786" y="3425558"/>
            <a:ext cx="0" cy="55658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92" name="标题层">
            <a:extLst>
              <a:ext uri="{FF2B5EF4-FFF2-40B4-BE49-F238E27FC236}">
                <a16:creationId xmlns:a16="http://schemas.microsoft.com/office/drawing/2014/main" id="{D733CE28-36E4-A965-5C95-7D3AC1423A7C}"/>
              </a:ext>
            </a:extLst>
          </p:cNvPr>
          <p:cNvSpPr txBox="1"/>
          <p:nvPr/>
        </p:nvSpPr>
        <p:spPr bwMode="auto">
          <a:xfrm>
            <a:off x="3537052" y="3354957"/>
            <a:ext cx="4528625" cy="692473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defTabSz="1218565">
              <a:defRPr/>
            </a:pPr>
            <a:r>
              <a:rPr lang="zh-CN" altLang="en-US" sz="3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诱导范数和矩阵测度</a:t>
            </a:r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705AC640-8FD2-3892-D385-C862F1E3910F}"/>
              </a:ext>
            </a:extLst>
          </p:cNvPr>
          <p:cNvCxnSpPr>
            <a:cxnSpLocks/>
            <a:stCxn id="92" idx="3"/>
            <a:endCxn id="94" idx="1"/>
          </p:cNvCxnSpPr>
          <p:nvPr/>
        </p:nvCxnSpPr>
        <p:spPr>
          <a:xfrm>
            <a:off x="8065677" y="3701194"/>
            <a:ext cx="790001" cy="2657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tailEnd type="oval"/>
          </a:ln>
          <a:effectLst/>
        </p:spPr>
      </p:cxnSp>
      <p:sp>
        <p:nvSpPr>
          <p:cNvPr id="94" name="标题层">
            <a:extLst>
              <a:ext uri="{FF2B5EF4-FFF2-40B4-BE49-F238E27FC236}">
                <a16:creationId xmlns:a16="http://schemas.microsoft.com/office/drawing/2014/main" id="{D081CDE6-6053-1F06-36BB-EC9F4E8AB07A}"/>
              </a:ext>
            </a:extLst>
          </p:cNvPr>
          <p:cNvSpPr txBox="1"/>
          <p:nvPr/>
        </p:nvSpPr>
        <p:spPr bwMode="auto">
          <a:xfrm>
            <a:off x="8855678" y="3478096"/>
            <a:ext cx="785476" cy="451510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P23</a:t>
            </a:r>
            <a:endParaRPr lang="zh-CN" altLang="en-US" kern="0" dirty="0">
              <a:solidFill>
                <a:schemeClr val="tx1">
                  <a:lumMod val="65000"/>
                  <a:lumOff val="3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5" name="标题层">
            <a:extLst>
              <a:ext uri="{FF2B5EF4-FFF2-40B4-BE49-F238E27FC236}">
                <a16:creationId xmlns:a16="http://schemas.microsoft.com/office/drawing/2014/main" id="{AFC2D3E2-84FA-8CCF-1B3D-57A292298ABA}"/>
              </a:ext>
            </a:extLst>
          </p:cNvPr>
          <p:cNvSpPr txBox="1"/>
          <p:nvPr/>
        </p:nvSpPr>
        <p:spPr bwMode="auto">
          <a:xfrm>
            <a:off x="2549257" y="4532206"/>
            <a:ext cx="896527" cy="692473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sz="3700" kern="0" dirty="0">
                <a:solidFill>
                  <a:srgbClr val="319095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2.3</a:t>
            </a:r>
            <a:endParaRPr lang="zh-CN" altLang="en-US" sz="3700" kern="0" dirty="0">
              <a:solidFill>
                <a:srgbClr val="319095"/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4BA2E530-8650-7B75-0333-BC9F6601298D}"/>
              </a:ext>
            </a:extLst>
          </p:cNvPr>
          <p:cNvCxnSpPr/>
          <p:nvPr/>
        </p:nvCxnSpPr>
        <p:spPr>
          <a:xfrm>
            <a:off x="3445786" y="4602807"/>
            <a:ext cx="0" cy="556586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/>
        </p:spPr>
      </p:cxnSp>
      <p:sp>
        <p:nvSpPr>
          <p:cNvPr id="97" name="标题层">
            <a:extLst>
              <a:ext uri="{FF2B5EF4-FFF2-40B4-BE49-F238E27FC236}">
                <a16:creationId xmlns:a16="http://schemas.microsoft.com/office/drawing/2014/main" id="{0C90DE4D-1CED-13E3-6563-50ADE735384B}"/>
              </a:ext>
            </a:extLst>
          </p:cNvPr>
          <p:cNvSpPr txBox="1"/>
          <p:nvPr/>
        </p:nvSpPr>
        <p:spPr bwMode="auto">
          <a:xfrm>
            <a:off x="3537052" y="4532206"/>
            <a:ext cx="3063749" cy="692473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defTabSz="1218565">
              <a:defRPr/>
            </a:pPr>
            <a:r>
              <a:rPr lang="zh-CN" altLang="en-US" sz="3700" b="1" dirty="0">
                <a:solidFill>
                  <a:srgbClr val="3190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压缩映射原理</a:t>
            </a:r>
          </a:p>
        </p:txBody>
      </p: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E4197D17-1420-06D2-02C7-2EB8E02A2BDB}"/>
              </a:ext>
            </a:extLst>
          </p:cNvPr>
          <p:cNvCxnSpPr>
            <a:cxnSpLocks/>
            <a:stCxn id="97" idx="3"/>
          </p:cNvCxnSpPr>
          <p:nvPr/>
        </p:nvCxnSpPr>
        <p:spPr>
          <a:xfrm>
            <a:off x="6600801" y="4878443"/>
            <a:ext cx="2254877" cy="2657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tailEnd type="oval"/>
          </a:ln>
          <a:effectLst/>
        </p:spPr>
      </p:cxnSp>
      <p:sp>
        <p:nvSpPr>
          <p:cNvPr id="99" name="标题层">
            <a:extLst>
              <a:ext uri="{FF2B5EF4-FFF2-40B4-BE49-F238E27FC236}">
                <a16:creationId xmlns:a16="http://schemas.microsoft.com/office/drawing/2014/main" id="{BE18B209-8004-0595-7A83-7076682397DE}"/>
              </a:ext>
            </a:extLst>
          </p:cNvPr>
          <p:cNvSpPr txBox="1"/>
          <p:nvPr/>
        </p:nvSpPr>
        <p:spPr bwMode="auto">
          <a:xfrm>
            <a:off x="8851154" y="4655345"/>
            <a:ext cx="790000" cy="451510"/>
          </a:xfrm>
          <a:prstGeom prst="rect">
            <a:avLst/>
          </a:prstGeom>
          <a:noFill/>
          <a:effectLst/>
        </p:spPr>
        <p:txBody>
          <a:bodyPr wrap="square" lIns="121898" tIns="60948" rIns="121898" bIns="60948">
            <a:spAutoFit/>
          </a:bodyPr>
          <a:lstStyle/>
          <a:p>
            <a:pPr algn="ctr" defTabSz="1218565">
              <a:defRPr/>
            </a:pPr>
            <a:r>
              <a:rPr lang="en-US" altLang="zh-CN" kern="0" dirty="0">
                <a:solidFill>
                  <a:srgbClr val="319095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P38</a:t>
            </a:r>
            <a:endParaRPr lang="zh-CN" altLang="en-US" kern="0" dirty="0">
              <a:solidFill>
                <a:srgbClr val="319095"/>
              </a:solidFill>
              <a:latin typeface="Impact" panose="020B080603090205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AE8675B-749B-40FA-8CEB-CE0F090573F7}"/>
              </a:ext>
            </a:extLst>
          </p:cNvPr>
          <p:cNvSpPr/>
          <p:nvPr/>
        </p:nvSpPr>
        <p:spPr>
          <a:xfrm>
            <a:off x="0" y="0"/>
            <a:ext cx="12192000" cy="1125538"/>
          </a:xfrm>
          <a:prstGeom prst="rect">
            <a:avLst/>
          </a:prstGeom>
          <a:solidFill>
            <a:srgbClr val="319095"/>
          </a:solidFill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1D7A70D-4F83-47CC-CC3E-2203B3A8D1C0}"/>
              </a:ext>
            </a:extLst>
          </p:cNvPr>
          <p:cNvSpPr/>
          <p:nvPr/>
        </p:nvSpPr>
        <p:spPr>
          <a:xfrm>
            <a:off x="3774410" y="212081"/>
            <a:ext cx="464159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 </a:t>
            </a:r>
            <a:r>
              <a:rPr lang="en-US" altLang="zh-CN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FD1935D-E5A6-EBCE-145B-8B44EAFD1461}"/>
              </a:ext>
            </a:extLst>
          </p:cNvPr>
          <p:cNvGrpSpPr/>
          <p:nvPr/>
        </p:nvGrpSpPr>
        <p:grpSpPr>
          <a:xfrm>
            <a:off x="0" y="6615474"/>
            <a:ext cx="12190412" cy="244114"/>
            <a:chOff x="-42912" y="6615474"/>
            <a:chExt cx="12190412" cy="244114"/>
          </a:xfrm>
        </p:grpSpPr>
        <p:sp>
          <p:nvSpPr>
            <p:cNvPr id="24" name="六边形 23">
              <a:extLst>
                <a:ext uri="{FF2B5EF4-FFF2-40B4-BE49-F238E27FC236}">
                  <a16:creationId xmlns:a16="http://schemas.microsoft.com/office/drawing/2014/main" id="{7C033BF9-C1ED-E593-3D0E-E4D5160F7A1B}"/>
                </a:ext>
              </a:extLst>
            </p:cNvPr>
            <p:cNvSpPr/>
            <p:nvPr/>
          </p:nvSpPr>
          <p:spPr>
            <a:xfrm>
              <a:off x="-42912" y="6615474"/>
              <a:ext cx="3041773" cy="244114"/>
            </a:xfrm>
            <a:prstGeom prst="hexagon">
              <a:avLst/>
            </a:prstGeom>
            <a:solidFill>
              <a:srgbClr val="5FCAC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017A62CB-A86F-9580-E8BB-50F0E54A5CA3}"/>
                </a:ext>
              </a:extLst>
            </p:cNvPr>
            <p:cNvSpPr/>
            <p:nvPr/>
          </p:nvSpPr>
          <p:spPr>
            <a:xfrm>
              <a:off x="2998862" y="6615474"/>
              <a:ext cx="3063750" cy="244114"/>
            </a:xfrm>
            <a:prstGeom prst="hexagon">
              <a:avLst/>
            </a:prstGeom>
            <a:solidFill>
              <a:srgbClr val="A0BF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292BE460-F193-3597-8245-5C597CDB152C}"/>
                </a:ext>
              </a:extLst>
            </p:cNvPr>
            <p:cNvSpPr/>
            <p:nvPr/>
          </p:nvSpPr>
          <p:spPr>
            <a:xfrm>
              <a:off x="6052294" y="6615474"/>
              <a:ext cx="3047603" cy="244114"/>
            </a:xfrm>
            <a:prstGeom prst="hexagon">
              <a:avLst/>
            </a:prstGeom>
            <a:solidFill>
              <a:srgbClr val="3190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六边形 26">
              <a:extLst>
                <a:ext uri="{FF2B5EF4-FFF2-40B4-BE49-F238E27FC236}">
                  <a16:creationId xmlns:a16="http://schemas.microsoft.com/office/drawing/2014/main" id="{84EAA0F1-73C4-E93E-494B-E32A27EB4895}"/>
                </a:ext>
              </a:extLst>
            </p:cNvPr>
            <p:cNvSpPr/>
            <p:nvPr/>
          </p:nvSpPr>
          <p:spPr>
            <a:xfrm>
              <a:off x="9099897" y="6615474"/>
              <a:ext cx="3047603" cy="244114"/>
            </a:xfrm>
            <a:prstGeom prst="hexagon">
              <a:avLst/>
            </a:prstGeom>
            <a:solidFill>
              <a:srgbClr val="F584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917" tIns="60958" rIns="121917" bIns="60958"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67477156"/>
      </p:ext>
    </p:extLst>
  </p:cSld>
  <p:clrMapOvr>
    <a:masterClrMapping/>
  </p:clrMapOvr>
  <p:transition spd="med">
    <p:blinds dir="vert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30D2-525A-A891-49AE-CD6CB2725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6FE0FC9-908B-141B-316B-8F6FA923607A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57F7259B-1846-3396-7852-D15312696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全局压缩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C20EA119-84C7-1D40-BF9F-54572C3BE9D8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35AA1008-F346-C94A-E000-82C1537671CD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2.3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AB2D4EAA-7002-F1A4-747A-927109EED90E}"/>
              </a:ext>
            </a:extLst>
          </p:cNvPr>
          <p:cNvSpPr/>
          <p:nvPr/>
        </p:nvSpPr>
        <p:spPr>
          <a:xfrm>
            <a:off x="1054646" y="1413570"/>
            <a:ext cx="10153128" cy="259228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286DCFA3-A5F3-3197-AC06-8085CF7C37E1}"/>
              </a:ext>
            </a:extLst>
          </p:cNvPr>
          <p:cNvSpPr/>
          <p:nvPr/>
        </p:nvSpPr>
        <p:spPr>
          <a:xfrm>
            <a:off x="1054646" y="1413570"/>
            <a:ext cx="2880320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 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全局压缩映射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83CAE962-885F-FF4C-C9EC-66D0AA76B652}"/>
                  </a:ext>
                </a:extLst>
              </p:cNvPr>
              <p:cNvSpPr txBox="1"/>
              <p:nvPr/>
            </p:nvSpPr>
            <p:spPr>
              <a:xfrm>
                <a:off x="1054646" y="1839665"/>
                <a:ext cx="10153128" cy="1888754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bg2">
                        <a:lumMod val="50000"/>
                      </a:schemeClr>
                    </a:solidFill>
                    <a:latin typeface="Arial"/>
                    <a:ea typeface="微软雅黑"/>
                    <a:sym typeface="Arial"/>
                  </a:rPr>
                  <a:t>      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是一个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Banach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假设存在一个固定常数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𝜌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&lt;1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使得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𝜌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则存在唯一的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使得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即对每一个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中的序列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定义为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+1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收敛到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此外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f>
                      <m:f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𝜌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𝜌</m:t>
                        </m:r>
                      </m:den>
                    </m:f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83CAE962-885F-FF4C-C9EC-66D0AA76B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839665"/>
                <a:ext cx="10153128" cy="1888754"/>
              </a:xfrm>
              <a:prstGeom prst="rect">
                <a:avLst/>
              </a:prstGeom>
              <a:blipFill>
                <a:blip r:embed="rId3"/>
                <a:stretch>
                  <a:fillRect l="-4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圆角矩形 21">
            <a:extLst>
              <a:ext uri="{FF2B5EF4-FFF2-40B4-BE49-F238E27FC236}">
                <a16:creationId xmlns:a16="http://schemas.microsoft.com/office/drawing/2014/main" id="{CA7F9CD7-F501-1C14-EBBA-76DD8A949ED0}"/>
              </a:ext>
            </a:extLst>
          </p:cNvPr>
          <p:cNvSpPr/>
          <p:nvPr/>
        </p:nvSpPr>
        <p:spPr>
          <a:xfrm>
            <a:off x="1054646" y="4221884"/>
            <a:ext cx="10153128" cy="216023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六边形 5">
            <a:extLst>
              <a:ext uri="{FF2B5EF4-FFF2-40B4-BE49-F238E27FC236}">
                <a16:creationId xmlns:a16="http://schemas.microsoft.com/office/drawing/2014/main" id="{066C3F96-712E-8AD5-3E8D-57A989C776C5}"/>
              </a:ext>
            </a:extLst>
          </p:cNvPr>
          <p:cNvSpPr/>
          <p:nvPr/>
        </p:nvSpPr>
        <p:spPr>
          <a:xfrm>
            <a:off x="1054646" y="4221886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BDC3E163-9D2E-C435-B9C7-9CB5FE9EB707}"/>
                  </a:ext>
                </a:extLst>
              </p:cNvPr>
              <p:cNvSpPr txBox="1"/>
              <p:nvPr/>
            </p:nvSpPr>
            <p:spPr>
              <a:xfrm>
                <a:off x="1054646" y="4647981"/>
                <a:ext cx="10153128" cy="1439914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1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）满足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𝜌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的算子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称为压缩算子；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2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使得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称为映射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的不动点；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3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f>
                      <m:f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𝜌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𝜌</m:t>
                        </m:r>
                      </m:den>
                    </m:f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给出了序列收敛到不动点的速率估计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这种收敛被称为线性收敛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BDC3E163-9D2E-C435-B9C7-9CB5FE9EB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4647981"/>
                <a:ext cx="10153128" cy="1439914"/>
              </a:xfrm>
              <a:prstGeom prst="rect">
                <a:avLst/>
              </a:prstGeom>
              <a:blipFill>
                <a:blip r:embed="rId4"/>
                <a:stretch>
                  <a:fillRect l="-4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5907360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 animBg="1"/>
      <p:bldP spid="6" grpId="0" animBg="1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FAE97-51D6-26C3-64F8-1FE8996A2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99AA950-9DD1-8BC9-4B6B-38A74268EE3C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2E04561D-D941-0023-2390-63F07152B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全局压缩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8ECBAA00-E93F-130F-48ED-D3AA89F6FA68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BEABE7D5-90A0-5E9D-1C86-64BECD65DB2F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2.3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D1A35F75-466C-9AA0-A1F2-4A09A470930F}"/>
              </a:ext>
            </a:extLst>
          </p:cNvPr>
          <p:cNvSpPr/>
          <p:nvPr/>
        </p:nvSpPr>
        <p:spPr>
          <a:xfrm>
            <a:off x="1054646" y="1413570"/>
            <a:ext cx="10153128" cy="482453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B2FBB452-66F2-5C22-128D-FD2D7DA4A7D8}"/>
              </a:ext>
            </a:extLst>
          </p:cNvPr>
          <p:cNvSpPr/>
          <p:nvPr/>
        </p:nvSpPr>
        <p:spPr>
          <a:xfrm>
            <a:off x="1054646" y="1413572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Proof: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A5A83118-1FF7-6A66-9122-8D267751CF22}"/>
                  </a:ext>
                </a:extLst>
              </p:cNvPr>
              <p:cNvSpPr txBox="1"/>
              <p:nvPr/>
            </p:nvSpPr>
            <p:spPr>
              <a:xfrm>
                <a:off x="1054646" y="1839667"/>
                <a:ext cx="10153128" cy="4087498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中任意一点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序列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满足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+1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首先证明该序列是柯西序列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对每一个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≥0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有</a:t>
                </a:r>
              </a:p>
              <a:p>
                <a:pPr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+1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𝜌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≤…≤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𝜌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𝜌</m:t>
                        </m:r>
                      </m:e>
                      <m:sup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  <m:d>
                      <m:dPr>
                        <m:begChr m:val="‖"/>
                        <m:endChr m:val="‖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</m:t>
                        </m:r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假设 </a:t>
                </a:r>
                <a14:m>
                  <m:oMath xmlns:m="http://schemas.openxmlformats.org/officeDocument/2006/math"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𝑚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𝑟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 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𝑟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≥0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</a:t>
                </a:r>
              </a:p>
              <a:p>
                <a:pPr>
                  <a:lnSpc>
                    <a:spcPts val="3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                     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𝑚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𝑟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naryPr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=0</m:t>
                        </m:r>
                      </m:sub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𝑟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−1</m:t>
                        </m:r>
                      </m:sup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𝑛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+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𝑖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𝑛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+</m:t>
                                </m:r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                                                          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naryPr>
                      <m:sub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=0</m:t>
                        </m:r>
                      </m:sub>
                      <m:sup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𝑟</m:t>
                        </m:r>
                        <m:r>
                          <a:rPr lang="en-US" altLang="zh-CN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𝜌</m:t>
                            </m:r>
                          </m:e>
                          <m:sup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p>
                        </m:sSup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𝑇</m:t>
                            </m:r>
                            <m:sSub>
                              <m:sSubPr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                                                           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naryPr>
                      <m:sub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𝑖</m:t>
                        </m:r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=0</m:t>
                        </m:r>
                      </m:sub>
                      <m:sup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𝜌</m:t>
                            </m:r>
                          </m:e>
                          <m:sup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+</m:t>
                            </m:r>
                            <m:r>
                              <a:rPr lang="en-US" altLang="zh-C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𝑖</m:t>
                            </m:r>
                          </m:sup>
                        </m:sSup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𝑇</m:t>
                            </m:r>
                            <m:sSub>
                              <m:sSubPr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altLang="zh-C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𝜌</m:t>
                            </m:r>
                          </m:e>
                          <m:sup>
                            <m:r>
                              <a:rPr lang="en-US" altLang="zh-CN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1−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𝜌</m:t>
                        </m:r>
                      </m:den>
                    </m:f>
                    <m:d>
                      <m:dPr>
                        <m:begChr m:val="‖"/>
                        <m:endChr m:val="‖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</m:t>
                        </m:r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现在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当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→∞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时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𝜌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p>
                    </m:sSup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因此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只要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足够大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可以使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𝑚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足够小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是柯西列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A5A83118-1FF7-6A66-9122-8D267751C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839667"/>
                <a:ext cx="10153128" cy="4087498"/>
              </a:xfrm>
              <a:prstGeom prst="rect">
                <a:avLst/>
              </a:prstGeom>
              <a:blipFill>
                <a:blip r:embed="rId3"/>
                <a:stretch>
                  <a:fillRect l="-480" b="-7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7189055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5E24F-4CB2-FF5D-AAE8-5E3447C80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675580C-7D90-62A6-3926-2690D150A58B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5B99B8C4-A2DB-E55A-BB97-0DE5D3889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全局压缩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A0A84393-BC36-32CF-B9FB-6D172AA1B3C1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C201B57A-B271-690E-DCCC-F1673C49985A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2.3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D1173353-1F23-49D7-24E0-7FBC390290D5}"/>
              </a:ext>
            </a:extLst>
          </p:cNvPr>
          <p:cNvSpPr/>
          <p:nvPr/>
        </p:nvSpPr>
        <p:spPr>
          <a:xfrm>
            <a:off x="1054646" y="1413570"/>
            <a:ext cx="10153128" cy="482453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E525A52B-1387-B91B-B91E-09BF84C765EA}"/>
              </a:ext>
            </a:extLst>
          </p:cNvPr>
          <p:cNvSpPr/>
          <p:nvPr/>
        </p:nvSpPr>
        <p:spPr>
          <a:xfrm>
            <a:off x="1054646" y="1413572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Proof: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AF9146D7-86FC-5221-E795-0E383780AF27}"/>
                  </a:ext>
                </a:extLst>
              </p:cNvPr>
              <p:cNvSpPr txBox="1"/>
              <p:nvPr/>
            </p:nvSpPr>
            <p:spPr>
              <a:xfrm>
                <a:off x="1054646" y="1839667"/>
                <a:ext cx="10153128" cy="4074674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又我们假设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Banach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故存在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使得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lim</m:t>
                        </m:r>
                      </m:e>
                      <m:lim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→∞</m:t>
                        </m:r>
                      </m:lim>
                    </m:limLow>
                    <m:sSub>
                      <m:sSub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b>
                    </m:sSub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 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下面证明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一致连续：事实上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&gt;0</m:t>
                    </m:r>
                    <m:r>
                      <a:rPr lang="en-US" altLang="zh-CN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en-US" altLang="zh-CN" sz="1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 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∃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𝛿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𝜀</m:t>
                        </m:r>
                      </m:num>
                      <m:den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𝜌</m:t>
                        </m:r>
                      </m:den>
                    </m:f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使得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当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𝛿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时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有 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𝜌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𝜌𝛿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+1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两边求极限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有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lim</m:t>
                        </m:r>
                      </m:e>
                      <m:lim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→∞</m:t>
                        </m:r>
                      </m:lim>
                    </m:limLow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limLow>
                          <m:limLow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lim</m:t>
                            </m:r>
                          </m:e>
                          <m:lim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→∞</m:t>
                            </m:r>
                          </m:lim>
                        </m:limLow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故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的不动点．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下面证明不动点的唯一性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若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∃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使得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 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</m:t>
                        </m:r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𝜌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又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𝜌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&lt;1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en-US" altLang="zh-CN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即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AF9146D7-86FC-5221-E795-0E383780A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839667"/>
                <a:ext cx="10153128" cy="4074674"/>
              </a:xfrm>
              <a:prstGeom prst="rect">
                <a:avLst/>
              </a:prstGeom>
              <a:blipFill>
                <a:blip r:embed="rId3"/>
                <a:stretch>
                  <a:fillRect l="-480" b="-14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5088121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1ECDD-AE3B-86D5-F5B7-F8F99D97B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2DE0233-8184-7EBD-5A26-56A8CE4584CC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575F9ABB-E103-1DC4-0FD3-D1BDAEDE4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全局压缩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3AAD5593-6DE1-DCAA-68BB-A716B1813A7E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1C40F655-4F4B-A102-5335-E21AD7FE3231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2.3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0241E0C9-6FE7-26B7-233E-6ECB3C3D5BCC}"/>
              </a:ext>
            </a:extLst>
          </p:cNvPr>
          <p:cNvSpPr/>
          <p:nvPr/>
        </p:nvSpPr>
        <p:spPr>
          <a:xfrm>
            <a:off x="1054646" y="1125538"/>
            <a:ext cx="10153128" cy="1872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FD5174F4-D934-F4A3-FFCF-F6BB0CB2129F}"/>
              </a:ext>
            </a:extLst>
          </p:cNvPr>
          <p:cNvSpPr/>
          <p:nvPr/>
        </p:nvSpPr>
        <p:spPr>
          <a:xfrm>
            <a:off x="1054646" y="1125539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Proof: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63C757D9-0631-1D02-721B-9DF61B0157C2}"/>
                  </a:ext>
                </a:extLst>
              </p:cNvPr>
              <p:cNvSpPr txBox="1"/>
              <p:nvPr/>
            </p:nvSpPr>
            <p:spPr>
              <a:xfrm>
                <a:off x="1054646" y="1551634"/>
                <a:ext cx="10153128" cy="1068017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最后证明速率估计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在不等式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𝑚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f>
                      <m:f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𝜌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𝜌</m:t>
                        </m:r>
                      </m:den>
                    </m:f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设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𝑚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→∞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 algn="ctr">
                  <a:lnSpc>
                    <a:spcPts val="3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limLow>
                          <m:limLow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𝑚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→∞</m:t>
                            </m:r>
                          </m:lim>
                        </m:limLow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𝑚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limLow>
                      <m:limLow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lim</m:t>
                        </m:r>
                      </m:e>
                      <m:lim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𝑚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→∞</m:t>
                        </m:r>
                      </m:lim>
                    </m:limLow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𝑚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f>
                      <m:f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𝜌</m:t>
                            </m:r>
                          </m:e>
                          <m:sup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1−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𝜌</m:t>
                        </m:r>
                      </m:den>
                    </m:f>
                    <m:d>
                      <m:dPr>
                        <m:begChr m:val="‖"/>
                        <m:endChr m:val="‖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</m:t>
                        </m:r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63C757D9-0631-1D02-721B-9DF61B015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551634"/>
                <a:ext cx="10153128" cy="1068017"/>
              </a:xfrm>
              <a:prstGeom prst="rect">
                <a:avLst/>
              </a:prstGeom>
              <a:blipFill>
                <a:blip r:embed="rId3"/>
                <a:stretch>
                  <a:fillRect b="-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圆角矩形 21">
            <a:extLst>
              <a:ext uri="{FF2B5EF4-FFF2-40B4-BE49-F238E27FC236}">
                <a16:creationId xmlns:a16="http://schemas.microsoft.com/office/drawing/2014/main" id="{816AAED6-1205-4931-CE50-AEA1E1327ABD}"/>
              </a:ext>
            </a:extLst>
          </p:cNvPr>
          <p:cNvSpPr/>
          <p:nvPr/>
        </p:nvSpPr>
        <p:spPr>
          <a:xfrm>
            <a:off x="1054646" y="3213769"/>
            <a:ext cx="10153128" cy="331236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六边形 5">
            <a:extLst>
              <a:ext uri="{FF2B5EF4-FFF2-40B4-BE49-F238E27FC236}">
                <a16:creationId xmlns:a16="http://schemas.microsoft.com/office/drawing/2014/main" id="{3F6794A8-2800-A40B-8BEA-07F8E20DD6AE}"/>
              </a:ext>
            </a:extLst>
          </p:cNvPr>
          <p:cNvSpPr/>
          <p:nvPr/>
        </p:nvSpPr>
        <p:spPr>
          <a:xfrm>
            <a:off x="1054646" y="3213771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552DD479-A18E-F34C-A96E-31A74FADC97F}"/>
                  </a:ext>
                </a:extLst>
              </p:cNvPr>
              <p:cNvSpPr txBox="1"/>
              <p:nvPr/>
            </p:nvSpPr>
            <p:spPr>
              <a:xfrm>
                <a:off x="1054646" y="3639866"/>
                <a:ext cx="10153128" cy="2490458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条件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𝜌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不能改成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X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≠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如：设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 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f>
                      <m:f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𝜋</m:t>
                        </m:r>
                      </m:num>
                      <m:den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den>
                    </m:f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  <m:func>
                      <m:func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arctan</m:t>
                        </m:r>
                      </m:fName>
                      <m:e>
                        <m:d>
                          <m:d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定义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</a:t>
                </a:r>
              </a:p>
              <a:p>
                <a:pPr algn="ctr">
                  <a:lnSpc>
                    <a:spcPts val="3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𝑓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=1−</m:t>
                    </m:r>
                    <m:f>
                      <m:f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num>
                      <m:den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1+</m:t>
                        </m:r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&lt;1,∀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根据中值定理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−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𝑓</m:t>
                        </m:r>
                      </m:e>
                      <m:sup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𝑧</m:t>
                        </m:r>
                      </m:e>
                    </m:d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𝑧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因此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满足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但是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⇔</m:t>
                    </m:r>
                    <m:func>
                      <m:func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arctan</m:t>
                        </m:r>
                      </m:fName>
                      <m:e>
                        <m:d>
                          <m:d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f>
                      <m:fPr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𝜋</m:t>
                        </m:r>
                      </m:num>
                      <m:den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显然不存在这样的情况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所以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中没有不动点．</a:t>
                </a:r>
              </a:p>
            </p:txBody>
          </p:sp>
        </mc:Choice>
        <mc:Fallback xmlns="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552DD479-A18E-F34C-A96E-31A74FADC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3639866"/>
                <a:ext cx="10153128" cy="2490458"/>
              </a:xfrm>
              <a:prstGeom prst="rect">
                <a:avLst/>
              </a:prstGeom>
              <a:blipFill>
                <a:blip r:embed="rId4"/>
                <a:stretch>
                  <a:fillRect l="-480" b="-4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3038855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 animBg="1"/>
      <p:bldP spid="6" grpId="0" animBg="1"/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23D0B-0718-25AE-4A58-B6E9CF38D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21">
            <a:extLst>
              <a:ext uri="{FF2B5EF4-FFF2-40B4-BE49-F238E27FC236}">
                <a16:creationId xmlns:a16="http://schemas.microsoft.com/office/drawing/2014/main" id="{E5DDBA51-B5F8-A53A-168A-4EAAD478785D}"/>
              </a:ext>
            </a:extLst>
          </p:cNvPr>
          <p:cNvSpPr/>
          <p:nvPr/>
        </p:nvSpPr>
        <p:spPr>
          <a:xfrm>
            <a:off x="1054646" y="3557483"/>
            <a:ext cx="10153128" cy="28993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F7674DE-4A17-9821-1E96-EBDADCB2D18B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0DFB21DF-2D77-544E-FB1E-BB8E80E85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全局压缩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B13D4D65-2392-BD35-F85B-30B2FE06DD8D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B1C2EEFB-2A48-6506-139D-0C3E3FD458C4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2.3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80C8F944-77D5-DC3E-3436-DAC1DF4B61F7}"/>
              </a:ext>
            </a:extLst>
          </p:cNvPr>
          <p:cNvSpPr/>
          <p:nvPr/>
        </p:nvSpPr>
        <p:spPr>
          <a:xfrm>
            <a:off x="1054646" y="1269555"/>
            <a:ext cx="10153128" cy="20882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8ABF91EB-BEF8-3546-3E28-9B34E7FE7266}"/>
              </a:ext>
            </a:extLst>
          </p:cNvPr>
          <p:cNvSpPr/>
          <p:nvPr/>
        </p:nvSpPr>
        <p:spPr>
          <a:xfrm>
            <a:off x="1054646" y="1269554"/>
            <a:ext cx="936104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 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12.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35BE42BE-51BB-B07B-DD0D-1BEA40DDF8AF}"/>
                  </a:ext>
                </a:extLst>
              </p:cNvPr>
              <p:cNvSpPr txBox="1"/>
              <p:nvPr/>
            </p:nvSpPr>
            <p:spPr>
              <a:xfrm>
                <a:off x="1054646" y="1688126"/>
                <a:ext cx="10153128" cy="1381629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 lvl="0"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是连续可微函数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假设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sup</m:t>
                        </m:r>
                      </m:e>
                      <m:lim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∈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ℝ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𝑓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𝜌</m:t>
                    </m:r>
                    <m:r>
                      <a:rPr lang="en-US" altLang="zh-CN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&lt;1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那么根据中值定理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可知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上的压缩函数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因此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存在唯一的数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  <m:r>
                      <a:rPr lang="en-US" altLang="zh-CN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使得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</a:p>
              <a:p>
                <a:pPr lvl="0" defTabSz="914400">
                  <a:lnSpc>
                    <a:spcPts val="3500"/>
                  </a:lnSpc>
                  <a:defRPr/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也就是说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任意选择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反复应用函数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可以得到序列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的极限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35BE42BE-51BB-B07B-DD0D-1BEA40DDF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688126"/>
                <a:ext cx="10153128" cy="1381629"/>
              </a:xfrm>
              <a:prstGeom prst="rect">
                <a:avLst/>
              </a:prstGeom>
              <a:blipFill>
                <a:blip r:embed="rId3"/>
                <a:stretch>
                  <a:fillRect l="-480" b="-6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C09884DC-2F23-3359-2C3F-246454E54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646" y="3557483"/>
            <a:ext cx="10153128" cy="289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02703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 animBg="1"/>
      <p:bldP spid="3" grpId="0" animBg="1"/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EA1A5-3480-556C-A73A-1578FDD65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36640D0-C05E-0E4F-FDF1-D7B420A355E5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C46F795F-C8C4-D436-0635-EC8958E72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局部压缩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6AF30644-F311-83E9-6156-ABDA364951C8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5B8C1752-180B-0477-589B-37E3D2F651DF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2.3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6BC1A048-2657-C6B7-243C-77E66480FECC}"/>
              </a:ext>
            </a:extLst>
          </p:cNvPr>
          <p:cNvSpPr/>
          <p:nvPr/>
        </p:nvSpPr>
        <p:spPr>
          <a:xfrm>
            <a:off x="1054646" y="1917626"/>
            <a:ext cx="10153128" cy="36724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81FDF1F1-F74B-E46F-55F9-0ECA3C802C5D}"/>
              </a:ext>
            </a:extLst>
          </p:cNvPr>
          <p:cNvSpPr/>
          <p:nvPr/>
        </p:nvSpPr>
        <p:spPr>
          <a:xfrm>
            <a:off x="1054646" y="1917626"/>
            <a:ext cx="2880320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 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局部压缩映射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3C6A1CF2-8AFE-EA37-588F-D221B202D13C}"/>
                  </a:ext>
                </a:extLst>
              </p:cNvPr>
              <p:cNvSpPr txBox="1"/>
              <p:nvPr/>
            </p:nvSpPr>
            <p:spPr>
              <a:xfrm>
                <a:off x="1054646" y="2343721"/>
                <a:ext cx="10153128" cy="3017269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 algn="ctr">
                  <a:lnSpc>
                    <a:spcPts val="3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是一个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Banach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的子集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假设存在一个常数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𝜌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&lt;1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使得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𝜌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存在一个元素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使得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 algn="ctr">
                  <a:lnSpc>
                    <a:spcPts val="35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𝐵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𝜖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: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≤</m:t>
                        </m:r>
                        <m:f>
                          <m:f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fPr>
                          <m:num>
                            <m:d>
                              <m:dPr>
                                <m:begChr m:val="‖"/>
                                <m:endChr m:val="‖"/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𝑇</m:t>
                                </m:r>
                                <m:sSub>
                                  <m:sSubPr>
                                    <m:ctrlP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1−</m:t>
                            </m:r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𝜌</m:t>
                            </m:r>
                          </m:den>
                        </m:f>
                      </m:e>
                    </m:d>
                    <m:r>
                      <a:rPr lang="zh-CN" altLang="en-US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⊆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在这些条件下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中恰好有一个不动点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如果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表示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中的不动点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则序列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收敛到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+1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≥0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此外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∗</m:t>
                            </m:r>
                          </m:sup>
                        </m:s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f>
                      <m:f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𝜌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𝜌</m:t>
                        </m:r>
                      </m:den>
                    </m:f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 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≥0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3C6A1CF2-8AFE-EA37-588F-D221B202D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2343721"/>
                <a:ext cx="10153128" cy="3017269"/>
              </a:xfrm>
              <a:prstGeom prst="rect">
                <a:avLst/>
              </a:prstGeom>
              <a:blipFill>
                <a:blip r:embed="rId3"/>
                <a:stretch>
                  <a:fillRect l="-4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0499742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C9F27-5CEF-0086-7502-CC5D12EA4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349E979-C433-6FB4-C8D3-6111ED8B821B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0AB6AF73-F700-2FC9-877F-14F60100D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局部压缩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4F8F2F08-D616-3BDD-CBA9-0A6C993F64D9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327C4577-BDBA-92A7-9241-E3EC1348345D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2.3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圆角矩形 21">
            <a:extLst>
              <a:ext uri="{FF2B5EF4-FFF2-40B4-BE49-F238E27FC236}">
                <a16:creationId xmlns:a16="http://schemas.microsoft.com/office/drawing/2014/main" id="{06CE736E-E67E-20AB-95C5-87E04744EC57}"/>
              </a:ext>
            </a:extLst>
          </p:cNvPr>
          <p:cNvSpPr/>
          <p:nvPr/>
        </p:nvSpPr>
        <p:spPr>
          <a:xfrm>
            <a:off x="1054646" y="1557586"/>
            <a:ext cx="10153128" cy="460850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六边形 5">
            <a:extLst>
              <a:ext uri="{FF2B5EF4-FFF2-40B4-BE49-F238E27FC236}">
                <a16:creationId xmlns:a16="http://schemas.microsoft.com/office/drawing/2014/main" id="{C9674AC9-7359-5ED6-317C-02FA94BDBF62}"/>
              </a:ext>
            </a:extLst>
          </p:cNvPr>
          <p:cNvSpPr/>
          <p:nvPr/>
        </p:nvSpPr>
        <p:spPr>
          <a:xfrm>
            <a:off x="1054646" y="1557588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585FAD4D-1AC4-D6F8-AADC-872B44CE838D}"/>
                  </a:ext>
                </a:extLst>
              </p:cNvPr>
              <p:cNvSpPr txBox="1"/>
              <p:nvPr/>
            </p:nvSpPr>
            <p:spPr>
              <a:xfrm>
                <a:off x="1054646" y="1983683"/>
                <a:ext cx="10153128" cy="3856666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1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）局部压缩映射只需在子集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𝑀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中成立即可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所以它的结论相较于全局压缩来说弱一点； 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2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）一切都取决于找到一个合适的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使得球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𝐵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包含在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𝑀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也有可能找不到这样的元素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如：设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</a:p>
              <a:p>
                <a:pPr algn="ctr">
                  <a:lnSpc>
                    <a:spcPts val="35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2,   ⅈ</m:t>
                              </m:r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𝑓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≤1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0,  </m:t>
                              </m:r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 </m:t>
                              </m:r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ⅈ</m:t>
                              </m:r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𝑓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Arial"/>
                                </a:rPr>
                                <m:t>&gt;1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选取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−1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则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上的压缩函数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但找不到一个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使得球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𝐵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包含在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𝑀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因此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𝑀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 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中没有不动点；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3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）如果找到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使得定理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5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中的假设成立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则满足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+1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≥0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的特定序列收敛到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但如果选择另一种迭代起点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不能保证最后收敛到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  <m:r>
                      <a:rPr lang="en-US" altLang="zh-CN" sz="180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.</m:t>
                    </m:r>
                  </m:oMath>
                </a14:m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585FAD4D-1AC4-D6F8-AADC-872B44CE8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983683"/>
                <a:ext cx="10153128" cy="3856666"/>
              </a:xfrm>
              <a:prstGeom prst="rect">
                <a:avLst/>
              </a:prstGeom>
              <a:blipFill>
                <a:blip r:embed="rId3"/>
                <a:stretch>
                  <a:fillRect l="-480" b="-1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7245607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80CE6-AA83-B014-8DBA-CCF1A199F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C644BE7-6809-D075-480B-FBDA1E59002A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524698E5-0188-F9BB-BE3F-DB89FC1A0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局部压缩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505C9E2D-4A4B-9C7C-A152-ED359C050348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6FE4012D-450E-EE55-2D30-7C1940D70553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2.3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F66C9F4B-0C7A-1E8A-E849-55B83B2064EC}"/>
              </a:ext>
            </a:extLst>
          </p:cNvPr>
          <p:cNvSpPr/>
          <p:nvPr/>
        </p:nvSpPr>
        <p:spPr>
          <a:xfrm>
            <a:off x="1054646" y="1773610"/>
            <a:ext cx="10153128" cy="396044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A76DAECE-0CE8-34EC-16F6-5001DBA236C3}"/>
              </a:ext>
            </a:extLst>
          </p:cNvPr>
          <p:cNvSpPr/>
          <p:nvPr/>
        </p:nvSpPr>
        <p:spPr>
          <a:xfrm>
            <a:off x="1054646" y="1773611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Proof: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7917BF5B-3599-5D97-ED30-976FA6A635E8}"/>
                  </a:ext>
                </a:extLst>
              </p:cNvPr>
              <p:cNvSpPr txBox="1"/>
              <p:nvPr/>
            </p:nvSpPr>
            <p:spPr>
              <a:xfrm>
                <a:off x="1054646" y="2199706"/>
                <a:ext cx="10153128" cy="3176992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首先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从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𝜌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我们知道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𝑇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𝑀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中至多有一个不动点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 </a:t>
                </a:r>
              </a:p>
              <a:p>
                <a:pPr>
                  <a:lnSpc>
                    <a:spcPts val="35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如果找到一个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使得定义中的球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𝐵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包含在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𝑀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则序列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⊆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𝐵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为了证明这一点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令不等式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𝑚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f>
                      <m:f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𝜌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𝜌</m:t>
                        </m:r>
                      </m:den>
                    </m:f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中的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 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 algn="ctr">
                  <a:lnSpc>
                    <a:spcPts val="35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𝑚</m:t>
                            </m:r>
                          </m:sub>
                        </m:s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f>
                      <m:f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𝑇</m:t>
                            </m:r>
                            <m:sSub>
                              <m:sSub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𝜌</m:t>
                        </m:r>
                      </m:den>
                    </m:f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</a:p>
              <a:p>
                <a:pPr>
                  <a:lnSpc>
                    <a:spcPts val="35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因为在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𝐵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中压缩条件成立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所以和全局压缩定理证明类似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</a:p>
              <a:p>
                <a:pPr>
                  <a:lnSpc>
                    <a:spcPts val="35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我们可以证明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中的柯西列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且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收敛到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中的一个元素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表示这个极限；然后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可以证明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范数函数的连续性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极限一定属于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𝐵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因此属于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𝑀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其余部分证明和全局压缩定理证明类似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7917BF5B-3599-5D97-ED30-976FA6A63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2199706"/>
                <a:ext cx="10153128" cy="3176992"/>
              </a:xfrm>
              <a:prstGeom prst="rect">
                <a:avLst/>
              </a:prstGeom>
              <a:blipFill>
                <a:blip r:embed="rId3"/>
                <a:stretch>
                  <a:fillRect l="-480" r="-240" b="-2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5972004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2E956-A0E6-C7BC-241A-A2FF1D278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21">
            <a:extLst>
              <a:ext uri="{FF2B5EF4-FFF2-40B4-BE49-F238E27FC236}">
                <a16:creationId xmlns:a16="http://schemas.microsoft.com/office/drawing/2014/main" id="{4DCBB69B-0BEB-4093-F92A-15EA5230E001}"/>
              </a:ext>
            </a:extLst>
          </p:cNvPr>
          <p:cNvSpPr/>
          <p:nvPr/>
        </p:nvSpPr>
        <p:spPr>
          <a:xfrm>
            <a:off x="1054646" y="3429797"/>
            <a:ext cx="10153128" cy="324035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2C9ECDA-9FA9-E27C-ECC9-2F5EBBBECA41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C1C48F1F-2E30-FEC1-B5D9-E30F7D6F1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局部压缩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A9CFCF6D-5FF4-26EB-4EAB-9CED5DAF8DBC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A97E8AA9-60AA-31E0-F5D4-B9E9F5362AB9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2.3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DA680CD9-D385-24B3-33B5-78A6FBD1E972}"/>
              </a:ext>
            </a:extLst>
          </p:cNvPr>
          <p:cNvSpPr/>
          <p:nvPr/>
        </p:nvSpPr>
        <p:spPr>
          <a:xfrm>
            <a:off x="1054646" y="1125539"/>
            <a:ext cx="10153128" cy="20882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0CC3806D-1B97-7F34-F436-5636BB70F7D8}"/>
              </a:ext>
            </a:extLst>
          </p:cNvPr>
          <p:cNvSpPr/>
          <p:nvPr/>
        </p:nvSpPr>
        <p:spPr>
          <a:xfrm>
            <a:off x="1054646" y="1125538"/>
            <a:ext cx="936104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 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13.</a:t>
            </a:r>
            <a:endParaRPr lang="zh-CN" altLang="en-US" sz="1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4372E44F-CF80-C0F1-8484-8649BDAC5578}"/>
                  </a:ext>
                </a:extLst>
              </p:cNvPr>
              <p:cNvSpPr txBox="1"/>
              <p:nvPr/>
            </p:nvSpPr>
            <p:spPr>
              <a:xfrm>
                <a:off x="1054646" y="1544110"/>
                <a:ext cx="10153128" cy="1381629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 lvl="0"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考虑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ℝ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是连续可微函数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假设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sup</m:t>
                        </m:r>
                      </m:e>
                      <m:lim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∈[−1,1]</m:t>
                        </m:r>
                      </m:lim>
                    </m:limLow>
                    <m:d>
                      <m:dPr>
                        <m:begChr m:val="|"/>
                        <m:endChr m:val="|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𝑓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𝜌</m:t>
                    </m:r>
                    <m:r>
                      <a:rPr lang="en-US" altLang="zh-CN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&lt;1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而且存在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使得</a:t>
                </a:r>
                <a:endParaRPr lang="en-US" altLang="zh-CN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  <a:p>
                <a:pPr lvl="0"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𝐵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f>
                          <m:f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fPr>
                          <m:num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sz="1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80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1−</m:t>
                            </m:r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𝜌</m:t>
                            </m:r>
                          </m:den>
                        </m:f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</m:t>
                        </m:r>
                        <m:f>
                          <m:f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fPr>
                          <m:num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sz="1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80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1−</m:t>
                            </m:r>
                            <m:r>
                              <a:rPr lang="zh-CN" altLang="en-US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𝜌</m:t>
                            </m:r>
                          </m:den>
                        </m:f>
                      </m:e>
                    </m:d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⊆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−1</m:t>
                        </m:r>
                        <m:r>
                          <a:rPr lang="en-US" altLang="zh-CN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</a:p>
              <a:p>
                <a:pPr lvl="0"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那么存在唯一的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−1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使得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𝑓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zh-CN" altLang="en-US" sz="18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sym typeface="Arial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sz="1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zh-CN" altLang="en-US" sz="18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sym typeface="Arial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zh-CN" altLang="en-US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,⋯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的极限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4372E44F-CF80-C0F1-8484-8649BDAC5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544110"/>
                <a:ext cx="10153128" cy="1381629"/>
              </a:xfrm>
              <a:prstGeom prst="rect">
                <a:avLst/>
              </a:prstGeom>
              <a:blipFill>
                <a:blip r:embed="rId3"/>
                <a:stretch>
                  <a:fillRect l="-480" t="-2203" b="-6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5C06188D-FD8A-72C1-6064-75490F05789D}"/>
              </a:ext>
            </a:extLst>
          </p:cNvPr>
          <p:cNvPicPr>
            <a:picLocks/>
          </p:cNvPicPr>
          <p:nvPr/>
        </p:nvPicPr>
        <p:blipFill>
          <a:blip r:embed="rId4"/>
          <a:srcRect t="4609" b="3810"/>
          <a:stretch>
            <a:fillRect/>
          </a:stretch>
        </p:blipFill>
        <p:spPr>
          <a:xfrm>
            <a:off x="1054646" y="3429796"/>
            <a:ext cx="10153128" cy="324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46576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 animBg="1"/>
      <p:bldP spid="3" grpId="0" animBg="1"/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750ED-9FBF-1F3B-6AA7-A83A0544E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7C2B514-550A-645B-02F3-64C715048823}"/>
              </a:ext>
            </a:extLst>
          </p:cNvPr>
          <p:cNvCxnSpPr/>
          <p:nvPr/>
        </p:nvCxnSpPr>
        <p:spPr>
          <a:xfrm>
            <a:off x="0" y="909514"/>
            <a:ext cx="12200731" cy="0"/>
          </a:xfrm>
          <a:prstGeom prst="line">
            <a:avLst/>
          </a:prstGeom>
          <a:ln w="28575">
            <a:solidFill>
              <a:srgbClr val="3190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43">
            <a:extLst>
              <a:ext uri="{FF2B5EF4-FFF2-40B4-BE49-F238E27FC236}">
                <a16:creationId xmlns:a16="http://schemas.microsoft.com/office/drawing/2014/main" id="{0EFDBFBB-6347-8C7D-F9F3-36DB357E1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428" y="189434"/>
            <a:ext cx="4080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微软雅黑" panose="020B0503020204020204" pitchFamily="34" charset="-122"/>
              </a:defRPr>
            </a:lvl9pPr>
          </a:lstStyle>
          <a:p>
            <a:pPr lvl="0">
              <a:defRPr/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局部压缩</a:t>
            </a:r>
          </a:p>
        </p:txBody>
      </p:sp>
      <p:sp>
        <p:nvSpPr>
          <p:cNvPr id="17" name="燕尾形 16">
            <a:extLst>
              <a:ext uri="{FF2B5EF4-FFF2-40B4-BE49-F238E27FC236}">
                <a16:creationId xmlns:a16="http://schemas.microsoft.com/office/drawing/2014/main" id="{168815B2-50C6-10B9-0BAD-D7B14A87A8F9}"/>
              </a:ext>
            </a:extLst>
          </p:cNvPr>
          <p:cNvSpPr/>
          <p:nvPr/>
        </p:nvSpPr>
        <p:spPr>
          <a:xfrm>
            <a:off x="1586327" y="1"/>
            <a:ext cx="860084" cy="909514"/>
          </a:xfrm>
          <a:prstGeom prst="chevr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id="{8E6F932D-CEA3-7B7F-6C2A-68D1B1DC4749}"/>
              </a:ext>
            </a:extLst>
          </p:cNvPr>
          <p:cNvSpPr txBox="1"/>
          <p:nvPr/>
        </p:nvSpPr>
        <p:spPr>
          <a:xfrm>
            <a:off x="500781" y="180723"/>
            <a:ext cx="841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Eras Bold ITC" panose="020B0907030504020204" pitchFamily="34" charset="0"/>
                <a:ea typeface="微软雅黑" panose="020B0503020204020204" pitchFamily="34" charset="-122"/>
                <a:cs typeface="+mn-cs"/>
              </a:rPr>
              <a:t>2.3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Eras Bold ITC" panose="020B0907030504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21">
            <a:extLst>
              <a:ext uri="{FF2B5EF4-FFF2-40B4-BE49-F238E27FC236}">
                <a16:creationId xmlns:a16="http://schemas.microsoft.com/office/drawing/2014/main" id="{F8C3DE65-8B39-BFC5-4316-CBCC4CCC03C1}"/>
              </a:ext>
            </a:extLst>
          </p:cNvPr>
          <p:cNvSpPr/>
          <p:nvPr/>
        </p:nvSpPr>
        <p:spPr>
          <a:xfrm>
            <a:off x="1054646" y="1197546"/>
            <a:ext cx="10153128" cy="34563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31F543E1-46B9-358A-3688-73A22A501838}"/>
              </a:ext>
            </a:extLst>
          </p:cNvPr>
          <p:cNvSpPr/>
          <p:nvPr/>
        </p:nvSpPr>
        <p:spPr>
          <a:xfrm>
            <a:off x="1054646" y="1197546"/>
            <a:ext cx="2880320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algn="ctr"/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 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局部压缩映射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8FB1BB28-757E-A3D9-8836-0D4CF4FFB2CC}"/>
                  </a:ext>
                </a:extLst>
              </p:cNvPr>
              <p:cNvSpPr txBox="1"/>
              <p:nvPr/>
            </p:nvSpPr>
            <p:spPr>
              <a:xfrm>
                <a:off x="1054646" y="1623641"/>
                <a:ext cx="10153128" cy="2786436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𝑋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,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是一个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Banach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空间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𝐵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中的闭球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𝐵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: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−</m:t>
                            </m:r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𝑧</m:t>
                            </m:r>
                          </m:e>
                        </m:d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≤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𝑟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𝑧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且</a:t>
                </a:r>
                <a14:m>
                  <m:oMath xmlns:m="http://schemas.openxmlformats.org/officeDocument/2006/math"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𝑟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≥0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设 </a:t>
                </a:r>
                <a14:m>
                  <m:oMath xmlns:m="http://schemas.openxmlformats.org/officeDocument/2006/math"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: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→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𝑋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是一个满足以下条件的算子：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1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）当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𝐵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时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𝐵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；            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（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2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）存在一个常数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𝜌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&lt;1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使得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𝜌</m:t>
                    </m:r>
                    <m:d>
                      <m:dPr>
                        <m:begChr m:val="‖"/>
                        <m:endChr m:val="‖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𝑦</m:t>
                        </m:r>
                      </m:e>
                    </m:d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,∀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𝑥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𝑦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𝐵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；</a:t>
                </a:r>
              </a:p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在这些条件下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𝑇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𝐵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中恰好有一个不动点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其中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表示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𝑇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在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𝐵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中的不动点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则对于每一个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𝐵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序列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收敛到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+1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=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𝑇</m:t>
                    </m:r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en-US" altLang="zh-CN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≥0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此外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≤</m:t>
                    </m:r>
                    <m:f>
                      <m:fPr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𝜌</m:t>
                            </m:r>
                          </m:e>
                          <m:sup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1−</m:t>
                        </m:r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𝜌</m:t>
                        </m:r>
                      </m:den>
                    </m:f>
                    <m:d>
                      <m:dPr>
                        <m:begChr m:val="‖"/>
                        <m:endChr m:val="‖"/>
                        <m:ctrlP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𝑇</m:t>
                        </m:r>
                        <m:sSub>
                          <m:sSubPr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,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∀</m:t>
                    </m:r>
                    <m:r>
                      <a:rPr lang="zh-CN" altLang="en-US" sz="1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𝑛</m:t>
                    </m:r>
                    <m:r>
                      <a:rPr lang="zh-CN" altLang="en-US" sz="1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≥0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  <a:endParaRPr lang="zh-CN" altLang="en-US" sz="1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endParaRPr>
              </a:p>
            </p:txBody>
          </p:sp>
        </mc:Choice>
        <mc:Fallback xmlns="">
          <p:sp>
            <p:nvSpPr>
              <p:cNvPr id="4" name="TextBox 27">
                <a:extLst>
                  <a:ext uri="{FF2B5EF4-FFF2-40B4-BE49-F238E27FC236}">
                    <a16:creationId xmlns:a16="http://schemas.microsoft.com/office/drawing/2014/main" id="{8FB1BB28-757E-A3D9-8836-0D4CF4FFB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1623641"/>
                <a:ext cx="10153128" cy="2786436"/>
              </a:xfrm>
              <a:prstGeom prst="rect">
                <a:avLst/>
              </a:prstGeom>
              <a:blipFill>
                <a:blip r:embed="rId3"/>
                <a:stretch>
                  <a:fillRect l="-480" r="-4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圆角矩形 21">
            <a:extLst>
              <a:ext uri="{FF2B5EF4-FFF2-40B4-BE49-F238E27FC236}">
                <a16:creationId xmlns:a16="http://schemas.microsoft.com/office/drawing/2014/main" id="{49E1CAE3-B8E6-D85E-905C-509C471D0091}"/>
              </a:ext>
            </a:extLst>
          </p:cNvPr>
          <p:cNvSpPr/>
          <p:nvPr/>
        </p:nvSpPr>
        <p:spPr>
          <a:xfrm>
            <a:off x="1054646" y="4797946"/>
            <a:ext cx="10153128" cy="165618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marL="0" marR="0" lvl="0" indent="0" algn="ctr" defTabSz="10883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六边形 5">
            <a:extLst>
              <a:ext uri="{FF2B5EF4-FFF2-40B4-BE49-F238E27FC236}">
                <a16:creationId xmlns:a16="http://schemas.microsoft.com/office/drawing/2014/main" id="{2B0063CB-2F0C-2A0A-620D-340F23CC1C98}"/>
              </a:ext>
            </a:extLst>
          </p:cNvPr>
          <p:cNvSpPr/>
          <p:nvPr/>
        </p:nvSpPr>
        <p:spPr>
          <a:xfrm>
            <a:off x="1054646" y="4797948"/>
            <a:ext cx="1008112" cy="449555"/>
          </a:xfrm>
          <a:prstGeom prst="hexagon">
            <a:avLst>
              <a:gd name="adj" fmla="val 0"/>
              <a:gd name="vf" fmla="val 115470"/>
            </a:avLst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72" tIns="45736" rIns="91472" bIns="45736" rtlCol="0" anchor="ctr"/>
          <a:lstStyle/>
          <a:p>
            <a:pPr lvl="0" algn="ctr"/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</a:t>
            </a:r>
            <a:r>
              <a:rPr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D9F10108-3970-FD0F-8CAB-559CC5F00F12}"/>
                  </a:ext>
                </a:extLst>
              </p:cNvPr>
              <p:cNvSpPr txBox="1"/>
              <p:nvPr/>
            </p:nvSpPr>
            <p:spPr>
              <a:xfrm>
                <a:off x="1054646" y="5224043"/>
                <a:ext cx="10153128" cy="950421"/>
              </a:xfrm>
              <a:prstGeom prst="rect">
                <a:avLst/>
              </a:prstGeom>
              <a:noFill/>
            </p:spPr>
            <p:txBody>
              <a:bodyPr wrap="square" lIns="91472" tIns="45736" rIns="91472" bIns="45736" rtlCol="0">
                <a:spAutoFit/>
              </a:bodyPr>
              <a:lstStyle/>
              <a:p>
                <a:pPr>
                  <a:lnSpc>
                    <a:spcPts val="3500"/>
                  </a:lnSpc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      定理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5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和定理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6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的区别在于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定理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6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将整个球映射到自身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定理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5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只假设对于特定的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b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0</m:t>
                        </m:r>
                      </m:sub>
                    </m:sSub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∈</m:t>
                    </m:r>
                    <m:r>
                      <a:rPr lang="zh-CN" alt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Arial"/>
                      </a:rPr>
                      <m:t>𝐵</m:t>
                    </m:r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迭代序列包含在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/>
                      </a:rPr>
                      <m:t>𝐵</m:t>
                    </m:r>
                  </m:oMath>
                </a14:m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 中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, 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因此定理</a:t>
                </a:r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6</a:t>
                </a:r>
                <a:r>
                  <a:rPr lang="zh-CN" altLang="en-US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可以从任意起点开始计算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</m:ctrlPr>
                      </m:sSupPr>
                      <m:e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zh-CN" altLang="en-US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Arial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27">
                <a:extLst>
                  <a:ext uri="{FF2B5EF4-FFF2-40B4-BE49-F238E27FC236}">
                    <a16:creationId xmlns:a16="http://schemas.microsoft.com/office/drawing/2014/main" id="{D9F10108-3970-FD0F-8CAB-559CC5F00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646" y="5224043"/>
                <a:ext cx="10153128" cy="950421"/>
              </a:xfrm>
              <a:prstGeom prst="rect">
                <a:avLst/>
              </a:prstGeom>
              <a:blipFill>
                <a:blip r:embed="rId4"/>
                <a:stretch>
                  <a:fillRect l="-480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705419"/>
      </p:ext>
    </p:extLst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 animBg="1"/>
      <p:bldP spid="6" grpId="0" animBg="1"/>
      <p:bldP spid="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>
            <a:off x="4655046" y="1127493"/>
            <a:ext cx="2880320" cy="2483034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2" name="六边形 31"/>
          <p:cNvSpPr/>
          <p:nvPr/>
        </p:nvSpPr>
        <p:spPr>
          <a:xfrm>
            <a:off x="1" y="6406814"/>
            <a:ext cx="3041773" cy="452774"/>
          </a:xfrm>
          <a:prstGeom prst="hexagon">
            <a:avLst/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" name="六边形 32"/>
          <p:cNvSpPr/>
          <p:nvPr/>
        </p:nvSpPr>
        <p:spPr>
          <a:xfrm>
            <a:off x="3041775" y="6406814"/>
            <a:ext cx="3063750" cy="452774"/>
          </a:xfrm>
          <a:prstGeom prst="hexagon">
            <a:avLst/>
          </a:prstGeom>
          <a:solidFill>
            <a:srgbClr val="A0B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六边形 33"/>
          <p:cNvSpPr/>
          <p:nvPr/>
        </p:nvSpPr>
        <p:spPr>
          <a:xfrm>
            <a:off x="6095207" y="6406814"/>
            <a:ext cx="3047603" cy="452774"/>
          </a:xfrm>
          <a:prstGeom prst="hexag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5" name="六边形 34"/>
          <p:cNvSpPr/>
          <p:nvPr/>
        </p:nvSpPr>
        <p:spPr>
          <a:xfrm>
            <a:off x="9142810" y="6406814"/>
            <a:ext cx="3047603" cy="452774"/>
          </a:xfrm>
          <a:prstGeom prst="hexagon">
            <a:avLst/>
          </a:prstGeom>
          <a:solidFill>
            <a:srgbClr val="F58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6" name="六边形 35"/>
          <p:cNvSpPr/>
          <p:nvPr/>
        </p:nvSpPr>
        <p:spPr>
          <a:xfrm flipV="1">
            <a:off x="0" y="0"/>
            <a:ext cx="3047603" cy="93401"/>
          </a:xfrm>
          <a:prstGeom prst="hexagon">
            <a:avLst/>
          </a:prstGeom>
          <a:solidFill>
            <a:srgbClr val="5FCA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367240" y="1559294"/>
            <a:ext cx="3582998" cy="2062087"/>
          </a:xfrm>
          <a:prstGeom prst="rect">
            <a:avLst/>
          </a:prstGeom>
          <a:noFill/>
        </p:spPr>
        <p:txBody>
          <a:bodyPr wrap="none" lIns="91423" tIns="45712" rIns="91423" bIns="45712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800" b="0" i="0" u="none" strike="noStrike" kern="0" cap="none" spc="0" normalizeH="0" baseline="0" noProof="0" dirty="0">
                <a:ln>
                  <a:noFill/>
                </a:ln>
                <a:solidFill>
                  <a:srgbClr val="319095"/>
                </a:solidFill>
                <a:effectLst/>
                <a:uLnTx/>
                <a:uFillTx/>
                <a:latin typeface="Impact" panose="020B0806030902050204" pitchFamily="34" charset="0"/>
              </a:rPr>
              <a:t>2025</a:t>
            </a:r>
            <a:endParaRPr kumimoji="0" lang="zh-CN" altLang="en-US" sz="12800" b="0" i="0" u="none" strike="noStrike" kern="0" cap="none" spc="0" normalizeH="0" baseline="0" noProof="0" dirty="0">
              <a:ln>
                <a:noFill/>
              </a:ln>
              <a:solidFill>
                <a:srgbClr val="319095"/>
              </a:solidFill>
              <a:effectLst/>
              <a:uLnTx/>
              <a:uFillTx/>
              <a:latin typeface="Impact" panose="020B0806030902050204" pitchFamily="34" charset="0"/>
            </a:endParaRPr>
          </a:p>
        </p:txBody>
      </p:sp>
      <p:sp>
        <p:nvSpPr>
          <p:cNvPr id="41" name="文本框 5"/>
          <p:cNvSpPr txBox="1"/>
          <p:nvPr/>
        </p:nvSpPr>
        <p:spPr>
          <a:xfrm>
            <a:off x="3674075" y="4778722"/>
            <a:ext cx="1890227" cy="384705"/>
          </a:xfrm>
          <a:prstGeom prst="rect">
            <a:avLst/>
          </a:prstGeom>
          <a:noFill/>
        </p:spPr>
        <p:txBody>
          <a:bodyPr wrap="none" lIns="91423" tIns="45712" rIns="91423" bIns="45712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汇报人：谢铭宇</a:t>
            </a:r>
            <a:endParaRPr kumimoji="0" lang="en-US" altLang="zh-CN" sz="1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693372" y="3552761"/>
            <a:ext cx="4801280" cy="1015647"/>
          </a:xfrm>
          <a:prstGeom prst="rect">
            <a:avLst/>
          </a:prstGeom>
          <a:noFill/>
          <a:ln>
            <a:noFill/>
          </a:ln>
          <a:effectLst>
            <a:glow rad="1905000">
              <a:srgbClr val="F14124">
                <a:alpha val="40000"/>
              </a:srgbClr>
            </a:glow>
            <a:softEdge rad="1270000"/>
          </a:effectLst>
        </p:spPr>
        <p:txBody>
          <a:bodyPr wrap="none" lIns="91423" tIns="45712" rIns="91423" bIns="45712">
            <a:spAutoFit/>
          </a:bodyPr>
          <a:lstStyle/>
          <a:p>
            <a:pPr lvl="0" algn="ctr" defTabSz="914400"/>
            <a:r>
              <a:rPr lang="zh-CN" altLang="en-US" sz="6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谢谢您的聆听</a:t>
            </a:r>
          </a:p>
        </p:txBody>
      </p:sp>
      <p:sp>
        <p:nvSpPr>
          <p:cNvPr id="43" name="文本框 5"/>
          <p:cNvSpPr txBox="1"/>
          <p:nvPr/>
        </p:nvSpPr>
        <p:spPr>
          <a:xfrm>
            <a:off x="5736657" y="4778722"/>
            <a:ext cx="2787908" cy="384705"/>
          </a:xfrm>
          <a:prstGeom prst="rect">
            <a:avLst/>
          </a:prstGeom>
          <a:noFill/>
        </p:spPr>
        <p:txBody>
          <a:bodyPr wrap="none" lIns="91423" tIns="45712" rIns="91423" bIns="45712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日期：</a:t>
            </a:r>
            <a:r>
              <a:rPr kumimoji="0" lang="en-US" altLang="zh-CN" sz="1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kumimoji="0" lang="zh-CN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0" lang="en-US" altLang="zh-CN" sz="1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r>
              <a:rPr kumimoji="0" lang="zh-CN" altLang="en-US" sz="19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1900" ker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kumimoji="0" lang="zh-CN" altLang="en-US" sz="19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kumimoji="0" lang="en-US" altLang="zh-CN" sz="1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8543" y="113000"/>
            <a:ext cx="2144171" cy="692493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700" kern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东南大学</a:t>
            </a:r>
            <a:endParaRPr kumimoji="0" lang="zh-CN" altLang="en-US" sz="37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19" name="六边形 18"/>
          <p:cNvSpPr/>
          <p:nvPr/>
        </p:nvSpPr>
        <p:spPr>
          <a:xfrm flipV="1">
            <a:off x="3041774" y="2632"/>
            <a:ext cx="3047603" cy="93401"/>
          </a:xfrm>
          <a:prstGeom prst="hexagon">
            <a:avLst/>
          </a:prstGeom>
          <a:solidFill>
            <a:srgbClr val="A0BF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六边形 19"/>
          <p:cNvSpPr/>
          <p:nvPr/>
        </p:nvSpPr>
        <p:spPr>
          <a:xfrm flipV="1">
            <a:off x="6083548" y="2632"/>
            <a:ext cx="3047603" cy="93401"/>
          </a:xfrm>
          <a:prstGeom prst="hexagon">
            <a:avLst/>
          </a:prstGeom>
          <a:solidFill>
            <a:srgbClr val="3190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六边形 20"/>
          <p:cNvSpPr/>
          <p:nvPr/>
        </p:nvSpPr>
        <p:spPr>
          <a:xfrm flipV="1">
            <a:off x="9142810" y="2632"/>
            <a:ext cx="3047603" cy="93401"/>
          </a:xfrm>
          <a:prstGeom prst="hexagon">
            <a:avLst/>
          </a:prstGeom>
          <a:solidFill>
            <a:srgbClr val="F58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p:transition spd="med">
    <p:blinds dir="vert"/>
  </p:transition>
</p:sld>
</file>

<file path=ppt/theme/theme1.xml><?xml version="1.0" encoding="utf-8"?>
<a:theme xmlns:a="http://schemas.openxmlformats.org/drawingml/2006/main" name="Office 主题">
  <a:themeElements>
    <a:clrScheme name="自定义 81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EF7768"/>
      </a:accent1>
      <a:accent2>
        <a:srgbClr val="C7C7C7"/>
      </a:accent2>
      <a:accent3>
        <a:srgbClr val="38B1BF"/>
      </a:accent3>
      <a:accent4>
        <a:srgbClr val="FF9933"/>
      </a:accent4>
      <a:accent5>
        <a:srgbClr val="7F7F7F"/>
      </a:accent5>
      <a:accent6>
        <a:srgbClr val="878787"/>
      </a:accent6>
      <a:hlink>
        <a:srgbClr val="006387"/>
      </a:hlink>
      <a:folHlink>
        <a:srgbClr val="8B8B8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我的主题色">
      <a:dk1>
        <a:sysClr val="windowText" lastClr="000000"/>
      </a:dk1>
      <a:lt1>
        <a:sysClr val="window" lastClr="FFFFFF"/>
      </a:lt1>
      <a:dk2>
        <a:srgbClr val="E6325C"/>
      </a:dk2>
      <a:lt2>
        <a:srgbClr val="E6325C"/>
      </a:lt2>
      <a:accent1>
        <a:srgbClr val="A3CD39"/>
      </a:accent1>
      <a:accent2>
        <a:srgbClr val="A3CD39"/>
      </a:accent2>
      <a:accent3>
        <a:srgbClr val="4EC0A5"/>
      </a:accent3>
      <a:accent4>
        <a:srgbClr val="4EC0A5"/>
      </a:accent4>
      <a:accent5>
        <a:srgbClr val="E4BE33"/>
      </a:accent5>
      <a:accent6>
        <a:srgbClr val="E4BE33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极目远眺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2959</TotalTime>
  <Words>5426</Words>
  <Application>Microsoft Office PowerPoint</Application>
  <PresentationFormat>自定义</PresentationFormat>
  <Paragraphs>438</Paragraphs>
  <Slides>48</Slides>
  <Notes>45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8" baseType="lpstr">
      <vt:lpstr>华文隶书</vt:lpstr>
      <vt:lpstr>微软雅黑</vt:lpstr>
      <vt:lpstr>Arial</vt:lpstr>
      <vt:lpstr>Calibri</vt:lpstr>
      <vt:lpstr>Cambria Math</vt:lpstr>
      <vt:lpstr>Eras Bold ITC</vt:lpstr>
      <vt:lpstr>Impact</vt:lpstr>
      <vt:lpstr>Office 主题</vt:lpstr>
      <vt:lpstr>Office 主题​​</vt:lpstr>
      <vt:lpstr>WPS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哎呀小小草</dc:subject>
  <dc:creator>Admin</dc:creator>
  <cp:lastModifiedBy>1045329623@qq.com</cp:lastModifiedBy>
  <cp:revision>275</cp:revision>
  <dcterms:created xsi:type="dcterms:W3CDTF">2015-04-23T03:04:00Z</dcterms:created>
  <dcterms:modified xsi:type="dcterms:W3CDTF">2025-09-29T08:28:07Z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2052-11.1.0.8412</vt:lpwstr>
  </property>
</Properties>
</file>