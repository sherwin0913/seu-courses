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256" r:id="rId2"/>
    <p:sldId id="309" r:id="rId3"/>
    <p:sldId id="257"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3" r:id="rId37"/>
    <p:sldId id="295" r:id="rId38"/>
    <p:sldId id="296" r:id="rId39"/>
    <p:sldId id="297" r:id="rId40"/>
    <p:sldId id="298" r:id="rId41"/>
    <p:sldId id="358" r:id="rId42"/>
    <p:sldId id="299" r:id="rId43"/>
    <p:sldId id="300" r:id="rId44"/>
    <p:sldId id="301" r:id="rId45"/>
    <p:sldId id="302" r:id="rId46"/>
    <p:sldId id="303" r:id="rId47"/>
    <p:sldId id="304" r:id="rId48"/>
    <p:sldId id="305" r:id="rId49"/>
    <p:sldId id="306" r:id="rId50"/>
    <p:sldId id="307" r:id="rId51"/>
    <p:sldId id="308"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4" autoAdjust="0"/>
    <p:restoredTop sz="85377" autoAdjust="0"/>
  </p:normalViewPr>
  <p:slideViewPr>
    <p:cSldViewPr snapToGrid="0">
      <p:cViewPr varScale="1">
        <p:scale>
          <a:sx n="50" d="100"/>
          <a:sy n="50" d="100"/>
        </p:scale>
        <p:origin x="3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9-30T05:20:53"/>
    </inkml:context>
    <inkml:brush xml:id="br0">
      <inkml:brushProperty name="width" value="0.1" units="cm"/>
      <inkml:brushProperty name="height" value="0.1" units="cm"/>
      <inkml:brushProperty name="color" value="#333333"/>
    </inkml:brush>
  </inkml:definitions>
  <inkml:trace contextRef="#ctx0" brushRef="#br0">20 64 8266,'0'0'48,"0"0"24,0 0 272,0 0-272,0 0-144,0 0 48,-19-64-784,19 64-73,0 0-319,13 5 64,-7 7-96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9-30T05:20:54.792"/>
    </inkml:context>
    <inkml:brush xml:id="br0">
      <inkml:brushProperty name="width" value="0.1" units="cm"/>
      <inkml:brushProperty name="height" value="0.1" units="cm"/>
      <inkml:brushProperty name="color" value="#333333"/>
    </inkml:brush>
  </inkml:definitions>
  <inkml:trace contextRef="#ctx0" brushRef="#br0">128 91 6729,'0'0'425,"0"0"559,0 0-736,0 0-80,0 0-24,0 0-136,0 0 48,-127-90-56,127 90-1120,2 7-753,15 10 17,-4-4-625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2021/9/30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概率空间是概率论的基础。概率的严格定义基于这个概念。概率空间(Ω, F, P)是一个总测度为1的测度空间（即P(Ω)=1）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When we want to compare the covariances between different pairs of</a:t>
            </a:r>
          </a:p>
          <a:p>
            <a:r>
              <a:rPr lang="zh-CN" altLang="en-US"/>
              <a:t>random variables, it turns out that the variance of each random variable</a:t>
            </a:r>
          </a:p>
          <a:p>
            <a:r>
              <a:rPr lang="zh-CN" altLang="en-US"/>
              <a:t>affects the value of the covariance. The normalized version of covariance</a:t>
            </a:r>
          </a:p>
          <a:p>
            <a:r>
              <a:rPr lang="zh-CN" altLang="en-US"/>
              <a:t>is called the correlation.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2sigma </a:t>
            </a:r>
            <a:r>
              <a:rPr lang="en-US" altLang="zh-CN" sz="1200" b="0" i="0" kern="1200" dirty="0">
                <a:solidFill>
                  <a:schemeClr val="tx1"/>
                </a:solidFill>
                <a:effectLst/>
                <a:latin typeface="+mn-lt"/>
                <a:ea typeface="+mn-ea"/>
                <a:cs typeface="+mn-cs"/>
              </a:rPr>
              <a:t>0.954</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3sigma0.997</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4223794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AED7FAB-279B-4D33-8977-2F301FF7C877}" type="datetimeFigureOut">
              <a:rPr lang="zh-CN" altLang="en-US" smtClean="0"/>
              <a:t>2021/9/30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7632BF4-3CE9-4654-A227-7C2EF8A219C9}"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AED7FAB-279B-4D33-8977-2F301FF7C877}" type="datetimeFigureOut">
              <a:rPr lang="zh-CN" altLang="en-US" smtClean="0"/>
              <a:t>2021/9/30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7632BF4-3CE9-4654-A227-7C2EF8A219C9}"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AED7FAB-279B-4D33-8977-2F301FF7C877}" type="datetimeFigureOut">
              <a:rPr lang="zh-CN" altLang="en-US" smtClean="0"/>
              <a:t>2021/9/30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7632BF4-3CE9-4654-A227-7C2EF8A219C9}"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AED7FAB-279B-4D33-8977-2F301FF7C877}" type="datetimeFigureOut">
              <a:rPr lang="zh-CN" altLang="en-US" smtClean="0"/>
              <a:t>2021/9/30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7632BF4-3CE9-4654-A227-7C2EF8A219C9}"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2296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6344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AED7FAB-279B-4D33-8977-2F301FF7C877}" type="datetimeFigureOut">
              <a:rPr lang="zh-CN" altLang="en-US" smtClean="0"/>
              <a:t>2021/9/30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7632BF4-3CE9-4654-A227-7C2EF8A219C9}"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AED7FAB-279B-4D33-8977-2F301FF7C877}" type="datetimeFigureOut">
              <a:rPr lang="zh-CN" altLang="en-US" smtClean="0"/>
              <a:t>2021/9/30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7632BF4-3CE9-4654-A227-7C2EF8A219C9}"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AED7FAB-279B-4D33-8977-2F301FF7C877}" type="datetimeFigureOut">
              <a:rPr lang="zh-CN" altLang="en-US" smtClean="0"/>
              <a:t>2021/9/30</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C7632BF4-3CE9-4654-A227-7C2EF8A219C9}"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AED7FAB-279B-4D33-8977-2F301FF7C877}" type="datetimeFigureOut">
              <a:rPr lang="zh-CN" altLang="en-US" smtClean="0"/>
              <a:t>2021/9/30</a:t>
            </a:fld>
            <a:endParaRPr lang="zh-CN" alt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7632BF4-3CE9-4654-A227-7C2EF8A219C9}"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AED7FAB-279B-4D33-8977-2F301FF7C877}" type="datetimeFigureOut">
              <a:rPr lang="zh-CN" altLang="en-US" smtClean="0"/>
              <a:t>2021/9/30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7632BF4-3CE9-4654-A227-7C2EF8A219C9}"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AED7FAB-279B-4D33-8977-2F301FF7C877}" type="datetimeFigureOut">
              <a:rPr lang="zh-CN" altLang="en-US" smtClean="0"/>
              <a:t>2021/9/30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7632BF4-3CE9-4654-A227-7C2EF8A219C9}"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AED7FAB-279B-4D33-8977-2F301FF7C877}" type="datetimeFigureOut">
              <a:rPr lang="zh-CN" altLang="en-US" smtClean="0"/>
              <a:t>2021/9/30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7632BF4-3CE9-4654-A227-7C2EF8A219C9}" type="slidenum">
              <a:rPr lang="zh-CN" altLang="en-US" smtClean="0"/>
              <a:t>‹#›</a:t>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1AED7FAB-279B-4D33-8977-2F301FF7C877}" type="datetimeFigureOut">
              <a:rPr lang="zh-CN" altLang="en-US" smtClean="0"/>
              <a:t>2021/9/30</a:t>
            </a:fld>
            <a:endParaRPr lang="zh-CN" alt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7632BF4-3CE9-4654-A227-7C2EF8A219C9}" type="slidenum">
              <a:rPr lang="zh-CN" altLang="en-US" smtClean="0"/>
              <a:t>‹#›</a:t>
            </a:fld>
            <a:endParaRPr lang="zh-CN" alt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6.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42.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image" Target="../media/image730.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 Id="rId4" Type="http://schemas.openxmlformats.org/officeDocument/2006/relationships/image" Target="../media/image80.png"/></Relationships>
</file>

<file path=ppt/slides/_rels/slide4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6.xml"/><Relationship Id="rId4" Type="http://schemas.openxmlformats.org/officeDocument/2006/relationships/image" Target="../media/image84.png"/></Relationships>
</file>

<file path=ppt/slides/_rels/slide4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6.xml"/><Relationship Id="rId4" Type="http://schemas.openxmlformats.org/officeDocument/2006/relationships/image" Target="../media/image84.png"/></Relationships>
</file>

<file path=ppt/slides/_rels/slide5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6.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Probability and Distributions</a:t>
            </a:r>
            <a:endParaRPr lang="zh-CN" altLang="en-US" dirty="0"/>
          </a:p>
        </p:txBody>
      </p:sp>
      <p:sp>
        <p:nvSpPr>
          <p:cNvPr id="5" name="副标题 4"/>
          <p:cNvSpPr>
            <a:spLocks noGrp="1"/>
          </p:cNvSpPr>
          <p:nvPr>
            <p:ph type="subTitle" idx="1"/>
          </p:nvPr>
        </p:nvSpPr>
        <p:spPr/>
        <p:txBody>
          <a:bodyPr/>
          <a:lstStyle/>
          <a:p>
            <a:endParaRPr lang="zh-CN" altLang="en-US"/>
          </a:p>
        </p:txBody>
      </p:sp>
      <mc:AlternateContent xmlns:mc="http://schemas.openxmlformats.org/markup-compatibility/2006">
        <mc:Choice xmlns:p14="http://schemas.microsoft.com/office/powerpoint/2010/main" Requires="p14">
          <p:contentPart p14:bwMode="auto" r:id="rId2">
            <p14:nvContentPartPr>
              <p14:cNvPr id="3" name="墨迹 2">
                <a:extLst>
                  <a:ext uri="{FF2B5EF4-FFF2-40B4-BE49-F238E27FC236}">
                    <a16:creationId xmlns:a16="http://schemas.microsoft.com/office/drawing/2014/main" id="{809957D4-C3C1-4E56-BE68-769E3FCD7C10}"/>
                  </a:ext>
                </a:extLst>
              </p14:cNvPr>
              <p14:cNvContentPartPr/>
              <p14:nvPr/>
            </p14:nvContentPartPr>
            <p14:xfrm>
              <a:off x="3390979" y="4205728"/>
              <a:ext cx="7200" cy="23400"/>
            </p14:xfrm>
          </p:contentPart>
        </mc:Choice>
        <mc:Fallback>
          <p:pic>
            <p:nvPicPr>
              <p:cNvPr id="3" name="墨迹 2">
                <a:extLst>
                  <a:ext uri="{FF2B5EF4-FFF2-40B4-BE49-F238E27FC236}">
                    <a16:creationId xmlns:a16="http://schemas.microsoft.com/office/drawing/2014/main" id="{809957D4-C3C1-4E56-BE68-769E3FCD7C10}"/>
                  </a:ext>
                </a:extLst>
              </p:cNvPr>
              <p:cNvPicPr/>
              <p:nvPr/>
            </p:nvPicPr>
            <p:blipFill>
              <a:blip r:embed="rId3"/>
              <a:stretch>
                <a:fillRect/>
              </a:stretch>
            </p:blipFill>
            <p:spPr>
              <a:xfrm>
                <a:off x="3373339" y="4187728"/>
                <a:ext cx="4284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墨迹 3">
                <a:extLst>
                  <a:ext uri="{FF2B5EF4-FFF2-40B4-BE49-F238E27FC236}">
                    <a16:creationId xmlns:a16="http://schemas.microsoft.com/office/drawing/2014/main" id="{FF81D2D5-FF33-4B7D-834D-28F6FB2CB87B}"/>
                  </a:ext>
                </a:extLst>
              </p14:cNvPr>
              <p14:cNvContentPartPr/>
              <p14:nvPr/>
            </p14:nvContentPartPr>
            <p14:xfrm>
              <a:off x="-1062581" y="4673368"/>
              <a:ext cx="46440" cy="33120"/>
            </p14:xfrm>
          </p:contentPart>
        </mc:Choice>
        <mc:Fallback>
          <p:pic>
            <p:nvPicPr>
              <p:cNvPr id="4" name="墨迹 3">
                <a:extLst>
                  <a:ext uri="{FF2B5EF4-FFF2-40B4-BE49-F238E27FC236}">
                    <a16:creationId xmlns:a16="http://schemas.microsoft.com/office/drawing/2014/main" id="{FF81D2D5-FF33-4B7D-834D-28F6FB2CB87B}"/>
                  </a:ext>
                </a:extLst>
              </p:cNvPr>
              <p:cNvPicPr/>
              <p:nvPr/>
            </p:nvPicPr>
            <p:blipFill>
              <a:blip r:embed="rId5"/>
              <a:stretch>
                <a:fillRect/>
              </a:stretch>
            </p:blipFill>
            <p:spPr>
              <a:xfrm>
                <a:off x="-1080221" y="4655728"/>
                <a:ext cx="82080" cy="6876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buFont typeface="Wingdings" panose="05000000000000000000" charset="0"/>
              <a:buChar char=""/>
            </a:pPr>
            <a:r>
              <a:rPr lang="en-US" altLang="zh-CN"/>
              <a:t>Random variables</a:t>
            </a:r>
          </a:p>
          <a:p>
            <a:pPr>
              <a:buFont typeface="Wingdings" panose="05000000000000000000" charset="0"/>
              <a:buChar char=""/>
            </a:pPr>
            <a:r>
              <a:rPr lang="en-US" altLang="zh-CN"/>
              <a:t>Bayes' Theorem</a:t>
            </a:r>
          </a:p>
          <a:p>
            <a:pPr>
              <a:buFont typeface="Wingdings" panose="05000000000000000000" charset="0"/>
              <a:buChar char=""/>
            </a:pPr>
            <a:r>
              <a:rPr lang="en-US" altLang="zh-CN" dirty="0">
                <a:sym typeface="+mn-ea"/>
              </a:rPr>
              <a:t>Means and </a:t>
            </a:r>
            <a:r>
              <a:rPr lang="en-US" altLang="zh-CN" dirty="0" err="1">
                <a:sym typeface="+mn-ea"/>
              </a:rPr>
              <a:t>Covariances</a:t>
            </a:r>
          </a:p>
          <a:p>
            <a:pPr>
              <a:buFont typeface="Wingdings" panose="05000000000000000000" charset="0"/>
              <a:buChar char=""/>
            </a:pPr>
            <a:r>
              <a:rPr lang="en-US" altLang="zh-CN" dirty="0">
                <a:sym typeface="+mn-ea"/>
              </a:rPr>
              <a:t>Sums and Transformations </a:t>
            </a:r>
          </a:p>
          <a:p>
            <a:pPr>
              <a:buFont typeface="Wingdings" panose="05000000000000000000" charset="0"/>
              <a:buChar char=""/>
            </a:pPr>
            <a:r>
              <a:rPr lang="en-US" altLang="zh-CN" dirty="0">
                <a:sym typeface="+mn-ea"/>
              </a:rPr>
              <a:t>Gaussian Distribution</a:t>
            </a:r>
            <a:endParaRPr lang="zh-CN" altLang="en-US" dirty="0"/>
          </a:p>
          <a:p>
            <a:pPr>
              <a:buFont typeface="Wingdings" panose="05000000000000000000" charset="0"/>
              <a:buChar char=""/>
            </a:pPr>
            <a:r>
              <a:rPr lang="en-US" altLang="zh-CN" dirty="0">
                <a:sym typeface="+mn-ea"/>
              </a:rPr>
              <a:t>Conjugacy and the Exponential Family</a:t>
            </a:r>
            <a:endParaRPr lang="zh-CN" altLang="en-US" dirty="0"/>
          </a:p>
          <a:p>
            <a:endParaRPr lang="en-US" altLang="zh-CN"/>
          </a:p>
          <a:p>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t> The probability space</a:t>
            </a:r>
          </a:p>
        </p:txBody>
      </p:sp>
      <p:pic>
        <p:nvPicPr>
          <p:cNvPr id="4" name="图片 3"/>
          <p:cNvPicPr>
            <a:picLocks noChangeAspect="1"/>
          </p:cNvPicPr>
          <p:nvPr/>
        </p:nvPicPr>
        <p:blipFill>
          <a:blip r:embed="rId3"/>
          <a:stretch>
            <a:fillRect/>
          </a:stretch>
        </p:blipFill>
        <p:spPr>
          <a:xfrm>
            <a:off x="1121410" y="1873250"/>
            <a:ext cx="6946900" cy="42818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a:t>Random variable</a:t>
            </a:r>
          </a:p>
        </p:txBody>
      </p:sp>
      <p:sp>
        <p:nvSpPr>
          <p:cNvPr id="3" name="内容占位符 2"/>
          <p:cNvSpPr>
            <a:spLocks noGrp="1"/>
          </p:cNvSpPr>
          <p:nvPr>
            <p:ph idx="4294967295"/>
          </p:nvPr>
        </p:nvSpPr>
        <p:spPr>
          <a:xfrm>
            <a:off x="1600200" y="1845945"/>
            <a:ext cx="7543800" cy="4023360"/>
          </a:xfrm>
        </p:spPr>
        <p:txBody>
          <a:bodyPr/>
          <a:lstStyle/>
          <a:p>
            <a:endParaRPr lang="en-US" altLang="zh-CN" dirty="0"/>
          </a:p>
          <a:p>
            <a:pPr marL="0" indent="0">
              <a:buNone/>
            </a:pPr>
            <a:endParaRPr lang="zh-CN" altLang="en-US" dirty="0"/>
          </a:p>
        </p:txBody>
      </p:sp>
      <p:pic>
        <p:nvPicPr>
          <p:cNvPr id="4" name="图片 3"/>
          <p:cNvPicPr>
            <a:picLocks noChangeAspect="1"/>
          </p:cNvPicPr>
          <p:nvPr/>
        </p:nvPicPr>
        <p:blipFill>
          <a:blip r:embed="rId2"/>
          <a:stretch>
            <a:fillRect/>
          </a:stretch>
        </p:blipFill>
        <p:spPr>
          <a:xfrm>
            <a:off x="1089660" y="1978660"/>
            <a:ext cx="6825615" cy="749935"/>
          </a:xfrm>
          <a:prstGeom prst="rect">
            <a:avLst/>
          </a:prstGeom>
        </p:spPr>
      </p:pic>
      <p:pic>
        <p:nvPicPr>
          <p:cNvPr id="5" name="图片 4"/>
          <p:cNvPicPr>
            <a:picLocks noChangeAspect="1"/>
          </p:cNvPicPr>
          <p:nvPr/>
        </p:nvPicPr>
        <p:blipFill>
          <a:blip r:embed="rId3"/>
          <a:stretch>
            <a:fillRect/>
          </a:stretch>
        </p:blipFill>
        <p:spPr>
          <a:xfrm>
            <a:off x="1089660" y="4652010"/>
            <a:ext cx="6817995" cy="1403350"/>
          </a:xfrm>
          <a:prstGeom prst="rect">
            <a:avLst/>
          </a:prstGeom>
        </p:spPr>
      </p:pic>
      <p:pic>
        <p:nvPicPr>
          <p:cNvPr id="2" name="图片 1"/>
          <p:cNvPicPr>
            <a:picLocks noChangeAspect="1"/>
          </p:cNvPicPr>
          <p:nvPr/>
        </p:nvPicPr>
        <p:blipFill>
          <a:blip r:embed="rId4"/>
          <a:stretch>
            <a:fillRect/>
          </a:stretch>
        </p:blipFill>
        <p:spPr>
          <a:xfrm>
            <a:off x="1089660" y="2728595"/>
            <a:ext cx="4290060" cy="223520"/>
          </a:xfrm>
          <a:prstGeom prst="rect">
            <a:avLst/>
          </a:prstGeom>
        </p:spPr>
      </p:pic>
      <p:pic>
        <p:nvPicPr>
          <p:cNvPr id="6" name="图片 5"/>
          <p:cNvPicPr>
            <a:picLocks noChangeAspect="1"/>
          </p:cNvPicPr>
          <p:nvPr/>
        </p:nvPicPr>
        <p:blipFill>
          <a:blip r:embed="rId5"/>
          <a:stretch>
            <a:fillRect/>
          </a:stretch>
        </p:blipFill>
        <p:spPr>
          <a:xfrm>
            <a:off x="2047240" y="3263900"/>
            <a:ext cx="3695700" cy="330200"/>
          </a:xfrm>
          <a:prstGeom prst="rect">
            <a:avLst/>
          </a:prstGeom>
        </p:spPr>
      </p:pic>
      <p:pic>
        <p:nvPicPr>
          <p:cNvPr id="8" name="图片 7"/>
          <p:cNvPicPr>
            <a:picLocks noChangeAspect="1"/>
          </p:cNvPicPr>
          <p:nvPr/>
        </p:nvPicPr>
        <p:blipFill>
          <a:blip r:embed="rId6"/>
          <a:stretch>
            <a:fillRect/>
          </a:stretch>
        </p:blipFill>
        <p:spPr>
          <a:xfrm>
            <a:off x="5742940" y="3276600"/>
            <a:ext cx="1117600" cy="317500"/>
          </a:xfrm>
          <a:prstGeom prst="rect">
            <a:avLst/>
          </a:prstGeom>
        </p:spPr>
      </p:pic>
      <p:pic>
        <p:nvPicPr>
          <p:cNvPr id="9" name="图片 8"/>
          <p:cNvPicPr>
            <a:picLocks noChangeAspect="1"/>
          </p:cNvPicPr>
          <p:nvPr/>
        </p:nvPicPr>
        <p:blipFill>
          <a:blip r:embed="rId7"/>
          <a:stretch>
            <a:fillRect/>
          </a:stretch>
        </p:blipFill>
        <p:spPr>
          <a:xfrm>
            <a:off x="2047240" y="4104005"/>
            <a:ext cx="1384300" cy="292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029583" y="2709785"/>
            <a:ext cx="2270957" cy="1120237"/>
          </a:xfrm>
          <a:prstGeom prst="rect">
            <a:avLst/>
          </a:prstGeom>
        </p:spPr>
      </p:pic>
      <p:pic>
        <p:nvPicPr>
          <p:cNvPr id="5" name="图片 4"/>
          <p:cNvPicPr>
            <a:picLocks noChangeAspect="1"/>
          </p:cNvPicPr>
          <p:nvPr/>
        </p:nvPicPr>
        <p:blipFill>
          <a:blip r:embed="rId3"/>
          <a:stretch>
            <a:fillRect/>
          </a:stretch>
        </p:blipFill>
        <p:spPr>
          <a:xfrm>
            <a:off x="1029335" y="2077085"/>
            <a:ext cx="1536065" cy="301625"/>
          </a:xfrm>
          <a:prstGeom prst="rect">
            <a:avLst/>
          </a:prstGeom>
        </p:spPr>
      </p:pic>
      <p:sp>
        <p:nvSpPr>
          <p:cNvPr id="6" name="文本框 5"/>
          <p:cNvSpPr txBox="1"/>
          <p:nvPr/>
        </p:nvSpPr>
        <p:spPr>
          <a:xfrm>
            <a:off x="4430498" y="2077055"/>
            <a:ext cx="3879273" cy="1198880"/>
          </a:xfrm>
          <a:prstGeom prst="rect">
            <a:avLst/>
          </a:prstGeom>
          <a:noFill/>
        </p:spPr>
        <p:txBody>
          <a:bodyPr wrap="square" rtlCol="0">
            <a:spAutoFit/>
          </a:bodyPr>
          <a:lstStyle/>
          <a:p>
            <a:r>
              <a:rPr lang="en-US" altLang="zh-CN" dirty="0"/>
              <a:t>p(x) is the </a:t>
            </a:r>
            <a:r>
              <a:rPr lang="en-US" altLang="zh-CN" i="1" dirty="0"/>
              <a:t>prior</a:t>
            </a:r>
            <a:r>
              <a:rPr lang="en-US" altLang="zh-CN" dirty="0"/>
              <a:t>, which encapsulates our subjective prior knowledge of the unobserved (latent) variable x before observing any data.</a:t>
            </a:r>
            <a:endParaRPr lang="zh-CN" altLang="en-US" dirty="0"/>
          </a:p>
        </p:txBody>
      </p:sp>
      <p:sp>
        <p:nvSpPr>
          <p:cNvPr id="7" name="文本框 6"/>
          <p:cNvSpPr txBox="1"/>
          <p:nvPr/>
        </p:nvSpPr>
        <p:spPr>
          <a:xfrm>
            <a:off x="4574540" y="3672205"/>
            <a:ext cx="3879215" cy="645160"/>
          </a:xfrm>
          <a:prstGeom prst="rect">
            <a:avLst/>
          </a:prstGeom>
          <a:noFill/>
        </p:spPr>
        <p:txBody>
          <a:bodyPr wrap="square" rtlCol="0">
            <a:spAutoFit/>
          </a:bodyPr>
          <a:lstStyle/>
          <a:p>
            <a:r>
              <a:rPr lang="en-US" altLang="zh-CN" dirty="0"/>
              <a:t>The </a:t>
            </a:r>
            <a:r>
              <a:rPr lang="en-US" altLang="zh-CN" i="1" dirty="0"/>
              <a:t>likelihood </a:t>
            </a:r>
            <a:r>
              <a:rPr lang="en-US" altLang="zh-CN" dirty="0"/>
              <a:t>p(y|x) describes how x and y are related</a:t>
            </a:r>
            <a:endParaRPr lang="zh-CN" altLang="en-US" dirty="0"/>
          </a:p>
        </p:txBody>
      </p:sp>
      <p:sp>
        <p:nvSpPr>
          <p:cNvPr id="8" name="文本框 7"/>
          <p:cNvSpPr txBox="1"/>
          <p:nvPr/>
        </p:nvSpPr>
        <p:spPr>
          <a:xfrm>
            <a:off x="1029335" y="4008755"/>
            <a:ext cx="3401060" cy="2030095"/>
          </a:xfrm>
          <a:prstGeom prst="rect">
            <a:avLst/>
          </a:prstGeom>
          <a:noFill/>
        </p:spPr>
        <p:txBody>
          <a:bodyPr wrap="square" rtlCol="0">
            <a:spAutoFit/>
          </a:bodyPr>
          <a:lstStyle/>
          <a:p>
            <a:r>
              <a:rPr lang="en-US" altLang="zh-CN"/>
              <a:t>The </a:t>
            </a:r>
            <a:r>
              <a:rPr lang="en-US" altLang="zh-CN" i="1"/>
              <a:t>posterior </a:t>
            </a:r>
            <a:r>
              <a:rPr lang="en-US" altLang="zh-CN"/>
              <a:t>p(x|y) is the quantity of interest in Bayesian statistics posterior </a:t>
            </a:r>
            <a:r>
              <a:rPr lang="en-US" altLang="zh-CN" dirty="0"/>
              <a:t>because it expresses exactly what we are interested in, i.e., what we know about x after having observed y</a:t>
            </a:r>
            <a:endParaRPr lang="zh-CN" altLang="en-US" dirty="0"/>
          </a:p>
        </p:txBody>
      </p:sp>
      <p:pic>
        <p:nvPicPr>
          <p:cNvPr id="12" name="图片 11"/>
          <p:cNvPicPr>
            <a:picLocks noChangeAspect="1"/>
          </p:cNvPicPr>
          <p:nvPr/>
        </p:nvPicPr>
        <p:blipFill>
          <a:blip r:embed="rId4"/>
          <a:stretch>
            <a:fillRect/>
          </a:stretch>
        </p:blipFill>
        <p:spPr>
          <a:xfrm>
            <a:off x="4529984" y="4776736"/>
            <a:ext cx="3779848" cy="495343"/>
          </a:xfrm>
          <a:prstGeom prst="rect">
            <a:avLst/>
          </a:prstGeom>
        </p:spPr>
      </p:pic>
      <p:sp>
        <p:nvSpPr>
          <p:cNvPr id="13" name="文本框 12"/>
          <p:cNvSpPr txBox="1"/>
          <p:nvPr/>
        </p:nvSpPr>
        <p:spPr>
          <a:xfrm>
            <a:off x="4732655" y="5541010"/>
            <a:ext cx="3836670" cy="368300"/>
          </a:xfrm>
          <a:prstGeom prst="rect">
            <a:avLst/>
          </a:prstGeom>
          <a:noFill/>
        </p:spPr>
        <p:txBody>
          <a:bodyPr wrap="square" rtlCol="0">
            <a:spAutoFit/>
          </a:bodyPr>
          <a:lstStyle/>
          <a:p>
            <a:r>
              <a:rPr lang="en-US" altLang="zh-CN" i="1" dirty="0"/>
              <a:t>marginal likelihood</a:t>
            </a:r>
            <a:r>
              <a:rPr lang="en-US" altLang="zh-CN" dirty="0"/>
              <a:t>/</a:t>
            </a:r>
            <a:r>
              <a:rPr lang="en-US" altLang="zh-CN" i="1" dirty="0"/>
              <a:t>evidence</a:t>
            </a:r>
            <a:endParaRPr lang="zh-CN" altLang="en-US" dirty="0"/>
          </a:p>
        </p:txBody>
      </p:sp>
      <p:cxnSp>
        <p:nvCxnSpPr>
          <p:cNvPr id="14" name="直接箭头连接符 13"/>
          <p:cNvCxnSpPr/>
          <p:nvPr/>
        </p:nvCxnSpPr>
        <p:spPr>
          <a:xfrm flipV="1">
            <a:off x="3224530" y="2462530"/>
            <a:ext cx="1066165" cy="6197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2820670" y="3543300"/>
            <a:ext cx="2204720" cy="12820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1495425" y="3702050"/>
            <a:ext cx="230505" cy="2736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2576195" y="3255010"/>
            <a:ext cx="1958975" cy="5187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Means and </a:t>
            </a:r>
            <a:r>
              <a:rPr lang="en-US" altLang="zh-CN" dirty="0" err="1"/>
              <a:t>Covariances</a:t>
            </a:r>
            <a:endParaRPr lang="zh-CN" altLang="en-US" dirty="0"/>
          </a:p>
        </p:txBody>
      </p:sp>
      <p:pic>
        <p:nvPicPr>
          <p:cNvPr id="4" name="图片 3"/>
          <p:cNvPicPr>
            <a:picLocks noChangeAspect="1"/>
          </p:cNvPicPr>
          <p:nvPr/>
        </p:nvPicPr>
        <p:blipFill>
          <a:blip r:embed="rId2"/>
          <a:stretch>
            <a:fillRect/>
          </a:stretch>
        </p:blipFill>
        <p:spPr>
          <a:xfrm>
            <a:off x="1049020" y="1867535"/>
            <a:ext cx="6581775" cy="431165"/>
          </a:xfrm>
          <a:prstGeom prst="rect">
            <a:avLst/>
          </a:prstGeom>
        </p:spPr>
      </p:pic>
      <p:pic>
        <p:nvPicPr>
          <p:cNvPr id="5" name="图片 4"/>
          <p:cNvPicPr>
            <a:picLocks noChangeAspect="1"/>
          </p:cNvPicPr>
          <p:nvPr/>
        </p:nvPicPr>
        <p:blipFill>
          <a:blip r:embed="rId3"/>
          <a:stretch>
            <a:fillRect/>
          </a:stretch>
        </p:blipFill>
        <p:spPr>
          <a:xfrm>
            <a:off x="1004570" y="2355215"/>
            <a:ext cx="6556375" cy="39712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073150" y="2053590"/>
            <a:ext cx="6963410" cy="1355090"/>
          </a:xfrm>
          <a:prstGeom prst="rect">
            <a:avLst/>
          </a:prstGeom>
        </p:spPr>
      </p:pic>
      <p:pic>
        <p:nvPicPr>
          <p:cNvPr id="5" name="图片 4"/>
          <p:cNvPicPr>
            <a:picLocks noChangeAspect="1"/>
          </p:cNvPicPr>
          <p:nvPr/>
        </p:nvPicPr>
        <p:blipFill>
          <a:blip r:embed="rId3"/>
          <a:stretch>
            <a:fillRect/>
          </a:stretch>
        </p:blipFill>
        <p:spPr>
          <a:xfrm>
            <a:off x="1073150" y="4206240"/>
            <a:ext cx="6997065" cy="13481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937260" y="2254250"/>
            <a:ext cx="7315200" cy="27666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pic>
        <p:nvPicPr>
          <p:cNvPr id="4" name="图片 3"/>
          <p:cNvPicPr>
            <a:picLocks noChangeAspect="1"/>
          </p:cNvPicPr>
          <p:nvPr/>
        </p:nvPicPr>
        <p:blipFill>
          <a:blip r:embed="rId3"/>
          <a:stretch>
            <a:fillRect/>
          </a:stretch>
        </p:blipFill>
        <p:spPr>
          <a:xfrm>
            <a:off x="1159510" y="1870710"/>
            <a:ext cx="6717030" cy="1350645"/>
          </a:xfrm>
          <a:prstGeom prst="rect">
            <a:avLst/>
          </a:prstGeom>
        </p:spPr>
      </p:pic>
      <p:pic>
        <p:nvPicPr>
          <p:cNvPr id="5" name="图片 4"/>
          <p:cNvPicPr>
            <a:picLocks noChangeAspect="1"/>
          </p:cNvPicPr>
          <p:nvPr/>
        </p:nvPicPr>
        <p:blipFill>
          <a:blip r:embed="rId4"/>
          <a:stretch>
            <a:fillRect/>
          </a:stretch>
        </p:blipFill>
        <p:spPr>
          <a:xfrm>
            <a:off x="1188085" y="3585845"/>
            <a:ext cx="6659880" cy="26073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Empirical Means and </a:t>
            </a:r>
            <a:r>
              <a:rPr lang="en-US" altLang="zh-CN" dirty="0" err="1"/>
              <a:t>Covariances</a:t>
            </a:r>
            <a:endParaRPr lang="zh-CN" altLang="en-US" dirty="0"/>
          </a:p>
        </p:txBody>
      </p:sp>
      <p:pic>
        <p:nvPicPr>
          <p:cNvPr id="4" name="图片 3"/>
          <p:cNvPicPr>
            <a:picLocks noChangeAspect="1"/>
          </p:cNvPicPr>
          <p:nvPr/>
        </p:nvPicPr>
        <p:blipFill>
          <a:blip r:embed="rId2"/>
          <a:stretch>
            <a:fillRect/>
          </a:stretch>
        </p:blipFill>
        <p:spPr>
          <a:xfrm>
            <a:off x="917575" y="2303145"/>
            <a:ext cx="7449185" cy="33458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Sums and Transformations of Random Variables</a:t>
            </a:r>
            <a:endParaRPr lang="zh-CN" altLang="en-US" dirty="0"/>
          </a:p>
        </p:txBody>
      </p:sp>
      <p:pic>
        <p:nvPicPr>
          <p:cNvPr id="4" name="图片 3"/>
          <p:cNvPicPr>
            <a:picLocks noChangeAspect="1"/>
          </p:cNvPicPr>
          <p:nvPr/>
        </p:nvPicPr>
        <p:blipFill>
          <a:blip r:embed="rId2"/>
          <a:stretch>
            <a:fillRect/>
          </a:stretch>
        </p:blipFill>
        <p:spPr>
          <a:xfrm>
            <a:off x="1155700" y="1877060"/>
            <a:ext cx="6878320" cy="1847850"/>
          </a:xfrm>
          <a:prstGeom prst="rect">
            <a:avLst/>
          </a:prstGeom>
        </p:spPr>
      </p:pic>
      <p:pic>
        <p:nvPicPr>
          <p:cNvPr id="5" name="图片 4"/>
          <p:cNvPicPr>
            <a:picLocks noChangeAspect="1"/>
          </p:cNvPicPr>
          <p:nvPr/>
        </p:nvPicPr>
        <p:blipFill>
          <a:blip r:embed="rId3"/>
          <a:stretch>
            <a:fillRect/>
          </a:stretch>
        </p:blipFill>
        <p:spPr>
          <a:xfrm>
            <a:off x="1471295" y="4007485"/>
            <a:ext cx="1522095" cy="332105"/>
          </a:xfrm>
          <a:prstGeom prst="rect">
            <a:avLst/>
          </a:prstGeom>
        </p:spPr>
      </p:pic>
      <p:pic>
        <p:nvPicPr>
          <p:cNvPr id="6" name="图片 5"/>
          <p:cNvPicPr>
            <a:picLocks noChangeAspect="1"/>
          </p:cNvPicPr>
          <p:nvPr/>
        </p:nvPicPr>
        <p:blipFill>
          <a:blip r:embed="rId4"/>
          <a:stretch>
            <a:fillRect/>
          </a:stretch>
        </p:blipFill>
        <p:spPr>
          <a:xfrm>
            <a:off x="1155700" y="4775200"/>
            <a:ext cx="6786880" cy="7486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784225" y="2501900"/>
            <a:ext cx="7621270" cy="21856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Gaussian Distribution</a:t>
            </a:r>
            <a:endParaRPr lang="zh-CN" altLang="en-US" dirty="0"/>
          </a:p>
        </p:txBody>
      </p:sp>
      <p:sp>
        <p:nvSpPr>
          <p:cNvPr id="3" name="内容占位符 2"/>
          <p:cNvSpPr>
            <a:spLocks noGrp="1"/>
          </p:cNvSpPr>
          <p:nvPr>
            <p:ph idx="4294967295"/>
          </p:nvPr>
        </p:nvSpPr>
        <p:spPr>
          <a:xfrm>
            <a:off x="822960" y="1929130"/>
            <a:ext cx="7543800" cy="1156970"/>
          </a:xfrm>
        </p:spPr>
        <p:txBody>
          <a:bodyPr>
            <a:normAutofit/>
          </a:bodyPr>
          <a:lstStyle/>
          <a:p>
            <a:r>
              <a:rPr lang="en-US" altLang="zh-CN" dirty="0"/>
              <a:t>The Gaussian distribution arises naturally when we consider sums of independent and identically distributed random variables. </a:t>
            </a:r>
          </a:p>
          <a:p>
            <a:r>
              <a:rPr lang="en-US" altLang="zh-CN" dirty="0"/>
              <a:t>This is known as the central limit theorem.</a:t>
            </a:r>
            <a:endParaRPr lang="zh-CN" altLang="en-US" dirty="0"/>
          </a:p>
        </p:txBody>
      </p:sp>
      <p:pic>
        <p:nvPicPr>
          <p:cNvPr id="4" name="图片 3"/>
          <p:cNvPicPr>
            <a:picLocks noChangeAspect="1"/>
          </p:cNvPicPr>
          <p:nvPr/>
        </p:nvPicPr>
        <p:blipFill>
          <a:blip r:embed="rId2"/>
          <a:stretch>
            <a:fillRect/>
          </a:stretch>
        </p:blipFill>
        <p:spPr>
          <a:xfrm>
            <a:off x="1087120" y="3315970"/>
            <a:ext cx="3848100" cy="658495"/>
          </a:xfrm>
          <a:prstGeom prst="rect">
            <a:avLst/>
          </a:prstGeom>
        </p:spPr>
      </p:pic>
      <p:pic>
        <p:nvPicPr>
          <p:cNvPr id="5" name="图片 4"/>
          <p:cNvPicPr>
            <a:picLocks noChangeAspect="1"/>
          </p:cNvPicPr>
          <p:nvPr/>
        </p:nvPicPr>
        <p:blipFill>
          <a:blip r:embed="rId3"/>
          <a:stretch>
            <a:fillRect/>
          </a:stretch>
        </p:blipFill>
        <p:spPr>
          <a:xfrm>
            <a:off x="854710" y="4192905"/>
            <a:ext cx="7480935" cy="1181100"/>
          </a:xfrm>
          <a:prstGeom prst="rect">
            <a:avLst/>
          </a:prstGeom>
        </p:spPr>
      </p:pic>
      <p:pic>
        <p:nvPicPr>
          <p:cNvPr id="6" name="图片 5"/>
          <p:cNvPicPr>
            <a:picLocks noChangeAspect="1"/>
          </p:cNvPicPr>
          <p:nvPr/>
        </p:nvPicPr>
        <p:blipFill>
          <a:blip r:embed="rId4"/>
          <a:stretch>
            <a:fillRect/>
          </a:stretch>
        </p:blipFill>
        <p:spPr>
          <a:xfrm>
            <a:off x="1087120" y="5750560"/>
            <a:ext cx="3999865" cy="3702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920240" y="1868170"/>
            <a:ext cx="5302885" cy="41744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768350" y="2152650"/>
            <a:ext cx="7598410" cy="37350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a:t>Marginals and Conditionals of Gaussians</a:t>
            </a:r>
          </a:p>
        </p:txBody>
      </p:sp>
      <p:pic>
        <p:nvPicPr>
          <p:cNvPr id="4" name="图片 3"/>
          <p:cNvPicPr>
            <a:picLocks noChangeAspect="1"/>
          </p:cNvPicPr>
          <p:nvPr/>
        </p:nvPicPr>
        <p:blipFill>
          <a:blip r:embed="rId2"/>
          <a:stretch>
            <a:fillRect/>
          </a:stretch>
        </p:blipFill>
        <p:spPr>
          <a:xfrm>
            <a:off x="1504950" y="2379980"/>
            <a:ext cx="3566795" cy="754380"/>
          </a:xfrm>
          <a:prstGeom prst="rect">
            <a:avLst/>
          </a:prstGeom>
        </p:spPr>
      </p:pic>
      <p:pic>
        <p:nvPicPr>
          <p:cNvPr id="5" name="图片 4"/>
          <p:cNvPicPr>
            <a:picLocks noChangeAspect="1"/>
          </p:cNvPicPr>
          <p:nvPr/>
        </p:nvPicPr>
        <p:blipFill>
          <a:blip r:embed="rId3"/>
          <a:stretch>
            <a:fillRect/>
          </a:stretch>
        </p:blipFill>
        <p:spPr>
          <a:xfrm>
            <a:off x="1148080" y="3776980"/>
            <a:ext cx="5518150" cy="13373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a:t>Applications</a:t>
            </a:r>
          </a:p>
        </p:txBody>
      </p:sp>
      <p:sp>
        <p:nvSpPr>
          <p:cNvPr id="4" name="文本框 3"/>
          <p:cNvSpPr txBox="1"/>
          <p:nvPr/>
        </p:nvSpPr>
        <p:spPr>
          <a:xfrm>
            <a:off x="1054735" y="3406775"/>
            <a:ext cx="7017385" cy="1476375"/>
          </a:xfrm>
          <a:prstGeom prst="rect">
            <a:avLst/>
          </a:prstGeom>
          <a:noFill/>
        </p:spPr>
        <p:txBody>
          <a:bodyPr wrap="square" rtlCol="0">
            <a:spAutoFit/>
          </a:bodyPr>
          <a:lstStyle/>
          <a:p>
            <a:r>
              <a:rPr lang="en-US" altLang="zh-CN" dirty="0"/>
              <a:t>Gaussian processes which are a practical implementation of a distribution over functions. In a Gaussian process, we make assumptions of joint </a:t>
            </a:r>
            <a:r>
              <a:rPr lang="en-US" altLang="zh-CN" dirty="0" err="1"/>
              <a:t>Gaussianity</a:t>
            </a:r>
            <a:r>
              <a:rPr lang="en-US" altLang="zh-CN" dirty="0"/>
              <a:t> of random variables. By (Gaussian) conditioning on observed data, we can determine a posterior distribution over functions.</a:t>
            </a:r>
            <a:endParaRPr lang="zh-CN" altLang="en-US" dirty="0"/>
          </a:p>
        </p:txBody>
      </p:sp>
      <p:sp>
        <p:nvSpPr>
          <p:cNvPr id="5" name="文本框 4"/>
          <p:cNvSpPr txBox="1"/>
          <p:nvPr/>
        </p:nvSpPr>
        <p:spPr>
          <a:xfrm>
            <a:off x="1122680" y="5158740"/>
            <a:ext cx="7188200" cy="645160"/>
          </a:xfrm>
          <a:prstGeom prst="rect">
            <a:avLst/>
          </a:prstGeom>
          <a:noFill/>
        </p:spPr>
        <p:txBody>
          <a:bodyPr wrap="square" rtlCol="0">
            <a:spAutoFit/>
          </a:bodyPr>
          <a:lstStyle/>
          <a:p>
            <a:r>
              <a:rPr lang="en-US" altLang="zh-CN" dirty="0"/>
              <a:t>Latent linear Gaussian models which include probabilistic principal component analysis.</a:t>
            </a:r>
            <a:endParaRPr lang="zh-CN" altLang="en-US" dirty="0"/>
          </a:p>
        </p:txBody>
      </p:sp>
      <p:sp>
        <p:nvSpPr>
          <p:cNvPr id="6" name="文本框 5"/>
          <p:cNvSpPr txBox="1"/>
          <p:nvPr/>
        </p:nvSpPr>
        <p:spPr>
          <a:xfrm>
            <a:off x="1122680" y="2051050"/>
            <a:ext cx="5912485" cy="1198880"/>
          </a:xfrm>
          <a:prstGeom prst="rect">
            <a:avLst/>
          </a:prstGeom>
          <a:noFill/>
        </p:spPr>
        <p:txBody>
          <a:bodyPr wrap="square" rtlCol="0">
            <a:spAutoFit/>
          </a:bodyPr>
          <a:lstStyle/>
          <a:p>
            <a:r>
              <a:rPr lang="en-US" altLang="zh-CN" dirty="0"/>
              <a:t>The </a:t>
            </a:r>
            <a:r>
              <a:rPr lang="en-US" altLang="zh-CN" dirty="0" err="1"/>
              <a:t>Kalman</a:t>
            </a:r>
            <a:r>
              <a:rPr lang="en-US" altLang="zh-CN" dirty="0"/>
              <a:t> filter (</a:t>
            </a:r>
            <a:r>
              <a:rPr lang="en-US" altLang="zh-CN" dirty="0" err="1"/>
              <a:t>Kalman</a:t>
            </a:r>
            <a:r>
              <a:rPr lang="en-US" altLang="zh-CN" dirty="0"/>
              <a:t>, 1960), one of the most central algorithms for state estimation in signal processing, does nothing but computing Gaussian conditionals of joint distributions.</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endParaRPr lang="zh-CN" altLang="en-US"/>
          </a:p>
        </p:txBody>
      </p:sp>
      <p:sp>
        <p:nvSpPr>
          <p:cNvPr id="3" name="内容占位符 2"/>
          <p:cNvSpPr>
            <a:spLocks noGrp="1"/>
          </p:cNvSpPr>
          <p:nvPr>
            <p:ph idx="4294967295"/>
          </p:nvPr>
        </p:nvSpPr>
        <p:spPr>
          <a:xfrm>
            <a:off x="1084580" y="1845945"/>
            <a:ext cx="3107055" cy="468630"/>
          </a:xfrm>
        </p:spPr>
        <p:txBody>
          <a:bodyPr/>
          <a:lstStyle/>
          <a:p>
            <a:r>
              <a:rPr lang="en-US" altLang="zh-CN" dirty="0"/>
              <a:t>The marginal distribution</a:t>
            </a:r>
            <a:endParaRPr lang="zh-CN" altLang="en-US" dirty="0"/>
          </a:p>
        </p:txBody>
      </p:sp>
      <p:pic>
        <p:nvPicPr>
          <p:cNvPr id="4" name="图片 3"/>
          <p:cNvPicPr>
            <a:picLocks noChangeAspect="1"/>
          </p:cNvPicPr>
          <p:nvPr/>
        </p:nvPicPr>
        <p:blipFill>
          <a:blip r:embed="rId2"/>
          <a:stretch>
            <a:fillRect/>
          </a:stretch>
        </p:blipFill>
        <p:spPr>
          <a:xfrm>
            <a:off x="1172582" y="2314783"/>
            <a:ext cx="3383573" cy="533446"/>
          </a:xfrm>
          <a:prstGeom prst="rect">
            <a:avLst/>
          </a:prstGeom>
        </p:spPr>
      </p:pic>
      <p:pic>
        <p:nvPicPr>
          <p:cNvPr id="7" name="图片 6"/>
          <p:cNvPicPr>
            <a:picLocks noChangeAspect="1"/>
          </p:cNvPicPr>
          <p:nvPr/>
        </p:nvPicPr>
        <p:blipFill>
          <a:blip r:embed="rId3"/>
          <a:stretch>
            <a:fillRect/>
          </a:stretch>
        </p:blipFill>
        <p:spPr>
          <a:xfrm>
            <a:off x="1084521" y="2957402"/>
            <a:ext cx="4016088" cy="3193057"/>
          </a:xfrm>
          <a:prstGeom prst="rect">
            <a:avLst/>
          </a:prstGeom>
        </p:spPr>
      </p:pic>
      <p:pic>
        <p:nvPicPr>
          <p:cNvPr id="8" name="图片 7"/>
          <p:cNvPicPr>
            <a:picLocks noChangeAspect="1"/>
          </p:cNvPicPr>
          <p:nvPr/>
        </p:nvPicPr>
        <p:blipFill>
          <a:blip r:embed="rId4"/>
          <a:stretch>
            <a:fillRect/>
          </a:stretch>
        </p:blipFill>
        <p:spPr>
          <a:xfrm>
            <a:off x="5402451" y="4199224"/>
            <a:ext cx="2964437" cy="70872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4" name="图片 3"/>
          <p:cNvPicPr>
            <a:picLocks noChangeAspect="1"/>
          </p:cNvPicPr>
          <p:nvPr/>
        </p:nvPicPr>
        <p:blipFill>
          <a:blip r:embed="rId3"/>
          <a:stretch>
            <a:fillRect/>
          </a:stretch>
        </p:blipFill>
        <p:spPr>
          <a:xfrm>
            <a:off x="1066800" y="2299970"/>
            <a:ext cx="6833235" cy="31229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Product of Gaussian Densities</a:t>
            </a:r>
            <a:endParaRPr lang="zh-CN" altLang="en-US" dirty="0"/>
          </a:p>
        </p:txBody>
      </p:sp>
      <p:sp>
        <p:nvSpPr>
          <p:cNvPr id="3" name="内容占位符 2"/>
          <p:cNvSpPr>
            <a:spLocks noGrp="1"/>
          </p:cNvSpPr>
          <p:nvPr>
            <p:ph idx="4294967295"/>
          </p:nvPr>
        </p:nvSpPr>
        <p:spPr>
          <a:xfrm>
            <a:off x="923290" y="2004695"/>
            <a:ext cx="7543800" cy="1041400"/>
          </a:xfrm>
        </p:spPr>
        <p:txBody>
          <a:bodyPr/>
          <a:lstStyle/>
          <a:p>
            <a:r>
              <a:rPr lang="en-US" altLang="zh-CN" dirty="0"/>
              <a:t>Bayes’ Theorem to compute the posterior, which results in a multiplication of the likelihood and the prior, that is, the multiplication of two Gaussian densities.</a:t>
            </a:r>
            <a:endParaRPr lang="zh-CN" altLang="en-US" dirty="0"/>
          </a:p>
        </p:txBody>
      </p:sp>
      <p:pic>
        <p:nvPicPr>
          <p:cNvPr id="4" name="图片 3"/>
          <p:cNvPicPr>
            <a:picLocks noChangeAspect="1"/>
          </p:cNvPicPr>
          <p:nvPr/>
        </p:nvPicPr>
        <p:blipFill>
          <a:blip r:embed="rId2"/>
          <a:stretch>
            <a:fillRect/>
          </a:stretch>
        </p:blipFill>
        <p:spPr>
          <a:xfrm>
            <a:off x="1189355" y="3279140"/>
            <a:ext cx="2217420" cy="299720"/>
          </a:xfrm>
          <a:prstGeom prst="rect">
            <a:avLst/>
          </a:prstGeom>
        </p:spPr>
      </p:pic>
      <p:pic>
        <p:nvPicPr>
          <p:cNvPr id="5" name="图片 4"/>
          <p:cNvPicPr>
            <a:picLocks noChangeAspect="1"/>
          </p:cNvPicPr>
          <p:nvPr/>
        </p:nvPicPr>
        <p:blipFill>
          <a:blip r:embed="rId3"/>
          <a:stretch>
            <a:fillRect/>
          </a:stretch>
        </p:blipFill>
        <p:spPr>
          <a:xfrm>
            <a:off x="4265295" y="3279140"/>
            <a:ext cx="1239520" cy="327660"/>
          </a:xfrm>
          <a:prstGeom prst="rect">
            <a:avLst/>
          </a:prstGeom>
        </p:spPr>
      </p:pic>
      <p:pic>
        <p:nvPicPr>
          <p:cNvPr id="6" name="图片 5"/>
          <p:cNvPicPr>
            <a:picLocks noChangeAspect="1"/>
          </p:cNvPicPr>
          <p:nvPr/>
        </p:nvPicPr>
        <p:blipFill>
          <a:blip r:embed="rId4"/>
          <a:stretch>
            <a:fillRect/>
          </a:stretch>
        </p:blipFill>
        <p:spPr>
          <a:xfrm>
            <a:off x="1030605" y="3935095"/>
            <a:ext cx="6924040" cy="1299210"/>
          </a:xfrm>
          <a:prstGeom prst="rect">
            <a:avLst/>
          </a:prstGeom>
        </p:spPr>
      </p:pic>
      <p:pic>
        <p:nvPicPr>
          <p:cNvPr id="7" name="图片 6"/>
          <p:cNvPicPr>
            <a:picLocks noChangeAspect="1"/>
          </p:cNvPicPr>
          <p:nvPr/>
        </p:nvPicPr>
        <p:blipFill>
          <a:blip r:embed="rId5"/>
          <a:stretch>
            <a:fillRect/>
          </a:stretch>
        </p:blipFill>
        <p:spPr>
          <a:xfrm>
            <a:off x="1189355" y="5691505"/>
            <a:ext cx="3818255" cy="28511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Sums and Linear Transformations</a:t>
            </a:r>
            <a:endParaRPr lang="zh-CN" altLang="en-US" dirty="0"/>
          </a:p>
        </p:txBody>
      </p:sp>
      <p:pic>
        <p:nvPicPr>
          <p:cNvPr id="4" name="图片 3"/>
          <p:cNvPicPr>
            <a:picLocks noChangeAspect="1"/>
          </p:cNvPicPr>
          <p:nvPr/>
        </p:nvPicPr>
        <p:blipFill>
          <a:blip r:embed="rId2"/>
          <a:stretch>
            <a:fillRect/>
          </a:stretch>
        </p:blipFill>
        <p:spPr>
          <a:xfrm>
            <a:off x="925195" y="1825625"/>
            <a:ext cx="5084445" cy="351790"/>
          </a:xfrm>
          <a:prstGeom prst="rect">
            <a:avLst/>
          </a:prstGeom>
        </p:spPr>
      </p:pic>
      <p:pic>
        <p:nvPicPr>
          <p:cNvPr id="5" name="图片 4"/>
          <p:cNvPicPr>
            <a:picLocks noChangeAspect="1"/>
          </p:cNvPicPr>
          <p:nvPr/>
        </p:nvPicPr>
        <p:blipFill>
          <a:blip r:embed="rId3"/>
          <a:stretch>
            <a:fillRect/>
          </a:stretch>
        </p:blipFill>
        <p:spPr>
          <a:xfrm>
            <a:off x="1009650" y="2531745"/>
            <a:ext cx="3530600" cy="479425"/>
          </a:xfrm>
          <a:prstGeom prst="rect">
            <a:avLst/>
          </a:prstGeom>
        </p:spPr>
      </p:pic>
      <p:pic>
        <p:nvPicPr>
          <p:cNvPr id="6" name="图片 5"/>
          <p:cNvPicPr>
            <a:picLocks noChangeAspect="1"/>
          </p:cNvPicPr>
          <p:nvPr/>
        </p:nvPicPr>
        <p:blipFill>
          <a:blip r:embed="rId4"/>
          <a:stretch>
            <a:fillRect/>
          </a:stretch>
        </p:blipFill>
        <p:spPr>
          <a:xfrm>
            <a:off x="734060" y="3692525"/>
            <a:ext cx="7383780" cy="15868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115695" y="1852930"/>
            <a:ext cx="6913245" cy="446151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803275" y="1823720"/>
            <a:ext cx="5955030" cy="2065655"/>
          </a:xfrm>
          <a:prstGeom prst="rect">
            <a:avLst/>
          </a:prstGeom>
        </p:spPr>
      </p:pic>
      <p:pic>
        <p:nvPicPr>
          <p:cNvPr id="5" name="图片 4"/>
          <p:cNvPicPr>
            <a:picLocks noChangeAspect="1"/>
          </p:cNvPicPr>
          <p:nvPr/>
        </p:nvPicPr>
        <p:blipFill>
          <a:blip r:embed="rId3"/>
          <a:stretch>
            <a:fillRect/>
          </a:stretch>
        </p:blipFill>
        <p:spPr>
          <a:xfrm>
            <a:off x="942975" y="4176395"/>
            <a:ext cx="5934710" cy="1999615"/>
          </a:xfrm>
          <a:prstGeom prst="rect">
            <a:avLst/>
          </a:prstGeom>
        </p:spPr>
      </p:pic>
      <p:pic>
        <p:nvPicPr>
          <p:cNvPr id="6" name="图片 5"/>
          <p:cNvPicPr>
            <a:picLocks noChangeAspect="1"/>
          </p:cNvPicPr>
          <p:nvPr/>
        </p:nvPicPr>
        <p:blipFill>
          <a:blip r:embed="rId4"/>
          <a:stretch>
            <a:fillRect/>
          </a:stretch>
        </p:blipFill>
        <p:spPr>
          <a:xfrm>
            <a:off x="7115175" y="5093970"/>
            <a:ext cx="1671955" cy="2768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367155" y="3664585"/>
            <a:ext cx="1276350" cy="280670"/>
          </a:xfrm>
          <a:prstGeom prst="rect">
            <a:avLst/>
          </a:prstGeom>
        </p:spPr>
      </p:pic>
      <p:pic>
        <p:nvPicPr>
          <p:cNvPr id="5" name="图片 4"/>
          <p:cNvPicPr>
            <a:picLocks noChangeAspect="1"/>
          </p:cNvPicPr>
          <p:nvPr/>
        </p:nvPicPr>
        <p:blipFill>
          <a:blip r:embed="rId3"/>
          <a:stretch>
            <a:fillRect/>
          </a:stretch>
        </p:blipFill>
        <p:spPr>
          <a:xfrm>
            <a:off x="3116580" y="3650615"/>
            <a:ext cx="937895" cy="294005"/>
          </a:xfrm>
          <a:prstGeom prst="rect">
            <a:avLst/>
          </a:prstGeom>
        </p:spPr>
      </p:pic>
      <p:pic>
        <p:nvPicPr>
          <p:cNvPr id="6" name="图片 5"/>
          <p:cNvPicPr>
            <a:picLocks noChangeAspect="1"/>
          </p:cNvPicPr>
          <p:nvPr/>
        </p:nvPicPr>
        <p:blipFill>
          <a:blip r:embed="rId4"/>
          <a:stretch>
            <a:fillRect/>
          </a:stretch>
        </p:blipFill>
        <p:spPr>
          <a:xfrm>
            <a:off x="1252855" y="4292600"/>
            <a:ext cx="3054985" cy="404495"/>
          </a:xfrm>
          <a:prstGeom prst="rect">
            <a:avLst/>
          </a:prstGeom>
        </p:spPr>
      </p:pic>
      <p:pic>
        <p:nvPicPr>
          <p:cNvPr id="7" name="图片 6"/>
          <p:cNvPicPr>
            <a:picLocks noChangeAspect="1"/>
          </p:cNvPicPr>
          <p:nvPr/>
        </p:nvPicPr>
        <p:blipFill>
          <a:blip r:embed="rId5"/>
          <a:stretch>
            <a:fillRect/>
          </a:stretch>
        </p:blipFill>
        <p:spPr>
          <a:xfrm>
            <a:off x="1252855" y="5027930"/>
            <a:ext cx="3631565" cy="457835"/>
          </a:xfrm>
          <a:prstGeom prst="rect">
            <a:avLst/>
          </a:prstGeom>
        </p:spPr>
      </p:pic>
      <p:pic>
        <p:nvPicPr>
          <p:cNvPr id="8" name="图片 7"/>
          <p:cNvPicPr>
            <a:picLocks noChangeAspect="1"/>
          </p:cNvPicPr>
          <p:nvPr/>
        </p:nvPicPr>
        <p:blipFill>
          <a:blip r:embed="rId6"/>
          <a:stretch>
            <a:fillRect/>
          </a:stretch>
        </p:blipFill>
        <p:spPr>
          <a:xfrm>
            <a:off x="1252855" y="5744210"/>
            <a:ext cx="2666365" cy="463550"/>
          </a:xfrm>
          <a:prstGeom prst="rect">
            <a:avLst/>
          </a:prstGeom>
        </p:spPr>
      </p:pic>
      <p:pic>
        <p:nvPicPr>
          <p:cNvPr id="12" name="图片 11"/>
          <p:cNvPicPr>
            <a:picLocks noChangeAspect="1"/>
          </p:cNvPicPr>
          <p:nvPr/>
        </p:nvPicPr>
        <p:blipFill>
          <a:blip r:embed="rId7"/>
          <a:stretch>
            <a:fillRect/>
          </a:stretch>
        </p:blipFill>
        <p:spPr>
          <a:xfrm>
            <a:off x="1252855" y="1866900"/>
            <a:ext cx="6562090" cy="145478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Sampling from Multivariate Gaussian Distributions</a:t>
            </a:r>
            <a:endParaRPr lang="zh-CN" altLang="en-US" dirty="0"/>
          </a:p>
        </p:txBody>
      </p:sp>
      <p:sp>
        <p:nvSpPr>
          <p:cNvPr id="4" name="文本框 3"/>
          <p:cNvSpPr txBox="1"/>
          <p:nvPr/>
        </p:nvSpPr>
        <p:spPr>
          <a:xfrm>
            <a:off x="1265382" y="1881478"/>
            <a:ext cx="5052291" cy="922020"/>
          </a:xfrm>
          <a:prstGeom prst="rect">
            <a:avLst/>
          </a:prstGeom>
          <a:noFill/>
        </p:spPr>
        <p:txBody>
          <a:bodyPr wrap="square" rtlCol="0">
            <a:spAutoFit/>
          </a:bodyPr>
          <a:lstStyle/>
          <a:p>
            <a:r>
              <a:rPr lang="en-US" altLang="zh-CN" dirty="0"/>
              <a:t>A source of pseudo-random numbers that provide a uniform sample in the</a:t>
            </a:r>
          </a:p>
          <a:p>
            <a:r>
              <a:rPr lang="en-US" altLang="zh-CN" dirty="0"/>
              <a:t>interval [0,1]</a:t>
            </a:r>
            <a:endParaRPr lang="zh-CN" altLang="en-US" dirty="0"/>
          </a:p>
        </p:txBody>
      </p:sp>
      <p:sp>
        <p:nvSpPr>
          <p:cNvPr id="5" name="文本框 4"/>
          <p:cNvSpPr txBox="1"/>
          <p:nvPr/>
        </p:nvSpPr>
        <p:spPr>
          <a:xfrm>
            <a:off x="1256088" y="3294207"/>
            <a:ext cx="5504872" cy="922020"/>
          </a:xfrm>
          <a:prstGeom prst="rect">
            <a:avLst/>
          </a:prstGeom>
          <a:noFill/>
        </p:spPr>
        <p:txBody>
          <a:bodyPr wrap="square" rtlCol="0">
            <a:spAutoFit/>
          </a:bodyPr>
          <a:lstStyle/>
          <a:p>
            <a:r>
              <a:rPr lang="en-US" altLang="zh-CN" dirty="0"/>
              <a:t>Use a non-linear transformation such as the</a:t>
            </a:r>
          </a:p>
          <a:p>
            <a:r>
              <a:rPr lang="en-US" altLang="zh-CN" dirty="0" err="1"/>
              <a:t>Box-Muller</a:t>
            </a:r>
            <a:r>
              <a:rPr lang="en-US" altLang="zh-CN" dirty="0"/>
              <a:t> transform (</a:t>
            </a:r>
            <a:r>
              <a:rPr lang="en-US" altLang="zh-CN" dirty="0" err="1"/>
              <a:t>Devroye</a:t>
            </a:r>
            <a:r>
              <a:rPr lang="en-US" altLang="zh-CN" dirty="0"/>
              <a:t>, 1986) to obtain a sample from a univariate Gaussian</a:t>
            </a:r>
            <a:endParaRPr lang="zh-CN" altLang="en-US" dirty="0"/>
          </a:p>
        </p:txBody>
      </p:sp>
      <p:sp>
        <p:nvSpPr>
          <p:cNvPr id="6" name="文本框 5"/>
          <p:cNvSpPr txBox="1"/>
          <p:nvPr/>
        </p:nvSpPr>
        <p:spPr>
          <a:xfrm>
            <a:off x="1255857" y="4970434"/>
            <a:ext cx="5495636" cy="922020"/>
          </a:xfrm>
          <a:prstGeom prst="rect">
            <a:avLst/>
          </a:prstGeom>
          <a:noFill/>
        </p:spPr>
        <p:txBody>
          <a:bodyPr wrap="square" rtlCol="0">
            <a:spAutoFit/>
          </a:bodyPr>
          <a:lstStyle/>
          <a:p>
            <a:r>
              <a:rPr lang="en-US" altLang="zh-CN" dirty="0"/>
              <a:t>We collate a vector of these samples to obtain a</a:t>
            </a:r>
          </a:p>
          <a:p>
            <a:r>
              <a:rPr lang="en-US" altLang="zh-CN" dirty="0"/>
              <a:t>sample from a multivariate standard normal </a:t>
            </a:r>
            <a:r>
              <a:rPr lang="en-US" altLang="zh-CN" dirty="0" err="1"/>
              <a:t>gaussion</a:t>
            </a:r>
            <a:r>
              <a:rPr lang="en-US" altLang="zh-CN" dirty="0"/>
              <a:t> distribution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sp>
        <p:nvSpPr>
          <p:cNvPr id="4" name="文本框 3"/>
          <p:cNvSpPr txBox="1"/>
          <p:nvPr/>
        </p:nvSpPr>
        <p:spPr>
          <a:xfrm>
            <a:off x="1033780" y="1825625"/>
            <a:ext cx="7047865" cy="922020"/>
          </a:xfrm>
          <a:prstGeom prst="rect">
            <a:avLst/>
          </a:prstGeom>
          <a:noFill/>
        </p:spPr>
        <p:txBody>
          <a:bodyPr wrap="square" rtlCol="0">
            <a:spAutoFit/>
          </a:bodyPr>
          <a:lstStyle/>
          <a:p>
            <a:r>
              <a:rPr lang="en-US" altLang="zh-CN" dirty="0"/>
              <a:t>For a general multivariate Gaussian, that is, where the mean is non</a:t>
            </a:r>
          </a:p>
          <a:p>
            <a:r>
              <a:rPr lang="en-US" altLang="zh-CN" dirty="0"/>
              <a:t>zero and the covariance is not the identity matrix, we use the properties of linear transformations of a Gaussian random variable.</a:t>
            </a:r>
            <a:endParaRPr lang="zh-CN" altLang="en-US" dirty="0"/>
          </a:p>
        </p:txBody>
      </p:sp>
      <p:pic>
        <p:nvPicPr>
          <p:cNvPr id="5" name="图片 4"/>
          <p:cNvPicPr>
            <a:picLocks noChangeAspect="1"/>
          </p:cNvPicPr>
          <p:nvPr/>
        </p:nvPicPr>
        <p:blipFill>
          <a:blip r:embed="rId2"/>
          <a:stretch>
            <a:fillRect/>
          </a:stretch>
        </p:blipFill>
        <p:spPr>
          <a:xfrm>
            <a:off x="1153160" y="3493770"/>
            <a:ext cx="6928485" cy="18827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Conjugacy and the Exponential Family</a:t>
            </a:r>
            <a:endParaRPr lang="zh-CN" altLang="en-US" dirty="0"/>
          </a:p>
        </p:txBody>
      </p:sp>
      <p:sp>
        <p:nvSpPr>
          <p:cNvPr id="4" name="文本框 3"/>
          <p:cNvSpPr txBox="1"/>
          <p:nvPr/>
        </p:nvSpPr>
        <p:spPr>
          <a:xfrm>
            <a:off x="962371" y="1908060"/>
            <a:ext cx="6862619" cy="368300"/>
          </a:xfrm>
          <a:prstGeom prst="rect">
            <a:avLst/>
          </a:prstGeom>
          <a:noFill/>
        </p:spPr>
        <p:txBody>
          <a:bodyPr wrap="square" rtlCol="0">
            <a:spAutoFit/>
          </a:bodyPr>
          <a:lstStyle/>
          <a:p>
            <a:r>
              <a:rPr lang="en-US" altLang="zh-CN" dirty="0"/>
              <a:t>Desired probability distributions in the machine learning context</a:t>
            </a:r>
            <a:endParaRPr lang="zh-CN" altLang="en-US" dirty="0"/>
          </a:p>
        </p:txBody>
      </p:sp>
      <p:pic>
        <p:nvPicPr>
          <p:cNvPr id="5" name="图片 4"/>
          <p:cNvPicPr>
            <a:picLocks noChangeAspect="1"/>
          </p:cNvPicPr>
          <p:nvPr/>
        </p:nvPicPr>
        <p:blipFill>
          <a:blip r:embed="rId3"/>
          <a:stretch>
            <a:fillRect/>
          </a:stretch>
        </p:blipFill>
        <p:spPr>
          <a:xfrm>
            <a:off x="1071245" y="2628900"/>
            <a:ext cx="6645275" cy="1863725"/>
          </a:xfrm>
          <a:prstGeom prst="rect">
            <a:avLst/>
          </a:prstGeom>
        </p:spPr>
      </p:pic>
      <p:sp>
        <p:nvSpPr>
          <p:cNvPr id="6" name="文本框 5"/>
          <p:cNvSpPr txBox="1"/>
          <p:nvPr/>
        </p:nvSpPr>
        <p:spPr>
          <a:xfrm>
            <a:off x="1179830" y="4756785"/>
            <a:ext cx="6536055" cy="922020"/>
          </a:xfrm>
          <a:prstGeom prst="rect">
            <a:avLst/>
          </a:prstGeom>
          <a:noFill/>
        </p:spPr>
        <p:txBody>
          <a:bodyPr wrap="square" rtlCol="0">
            <a:spAutoFit/>
          </a:bodyPr>
          <a:lstStyle/>
          <a:p>
            <a:r>
              <a:rPr lang="en-US" altLang="zh-CN" i="1" dirty="0"/>
              <a:t>Exponential family</a:t>
            </a:r>
            <a:r>
              <a:rPr lang="en-US" altLang="zh-CN" dirty="0"/>
              <a:t> provides the right balance of generality while retaining favorable computation and inference properties.</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923925" y="1921510"/>
            <a:ext cx="7543165" cy="3413125"/>
          </a:xfrm>
          <a:prstGeom prst="rect">
            <a:avLst/>
          </a:prstGeom>
        </p:spPr>
      </p:pic>
      <p:pic>
        <p:nvPicPr>
          <p:cNvPr id="5" name="图片 4"/>
          <p:cNvPicPr>
            <a:picLocks noChangeAspect="1"/>
          </p:cNvPicPr>
          <p:nvPr/>
        </p:nvPicPr>
        <p:blipFill>
          <a:blip r:embed="rId3"/>
          <a:stretch>
            <a:fillRect/>
          </a:stretch>
        </p:blipFill>
        <p:spPr>
          <a:xfrm>
            <a:off x="2369985" y="2504991"/>
            <a:ext cx="4198984" cy="247671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grpSp>
        <p:nvGrpSpPr>
          <p:cNvPr id="9" name="组合 8"/>
          <p:cNvGrpSpPr/>
          <p:nvPr/>
        </p:nvGrpSpPr>
        <p:grpSpPr>
          <a:xfrm>
            <a:off x="1019175" y="1955800"/>
            <a:ext cx="7151370" cy="3809365"/>
            <a:chOff x="1914" y="3012"/>
            <a:chExt cx="8244" cy="4572"/>
          </a:xfrm>
        </p:grpSpPr>
        <p:pic>
          <p:nvPicPr>
            <p:cNvPr id="4" name="图片 3"/>
            <p:cNvPicPr>
              <a:picLocks noChangeAspect="1"/>
            </p:cNvPicPr>
            <p:nvPr/>
          </p:nvPicPr>
          <p:blipFill>
            <a:blip r:embed="rId2"/>
            <a:stretch>
              <a:fillRect/>
            </a:stretch>
          </p:blipFill>
          <p:spPr>
            <a:xfrm>
              <a:off x="1914" y="3012"/>
              <a:ext cx="8245" cy="3072"/>
            </a:xfrm>
            <a:prstGeom prst="rect">
              <a:avLst/>
            </a:prstGeom>
          </p:spPr>
        </p:pic>
        <p:pic>
          <p:nvPicPr>
            <p:cNvPr id="5" name="图片 4"/>
            <p:cNvPicPr>
              <a:picLocks noChangeAspect="1"/>
            </p:cNvPicPr>
            <p:nvPr/>
          </p:nvPicPr>
          <p:blipFill>
            <a:blip r:embed="rId3"/>
            <a:stretch>
              <a:fillRect/>
            </a:stretch>
          </p:blipFill>
          <p:spPr>
            <a:xfrm>
              <a:off x="1914" y="6084"/>
              <a:ext cx="8244" cy="1500"/>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278255" y="1823720"/>
            <a:ext cx="6586855" cy="439801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endParaRPr lang="zh-CN" altLang="en-US"/>
          </a:p>
        </p:txBody>
      </p:sp>
      <p:pic>
        <p:nvPicPr>
          <p:cNvPr id="5" name="内容占位符 4"/>
          <p:cNvPicPr>
            <a:picLocks noGrp="1" noChangeAspect="1"/>
          </p:cNvPicPr>
          <p:nvPr>
            <p:ph idx="4294967295"/>
          </p:nvPr>
        </p:nvPicPr>
        <p:blipFill>
          <a:blip r:embed="rId2"/>
          <a:stretch>
            <a:fillRect/>
          </a:stretch>
        </p:blipFill>
        <p:spPr>
          <a:xfrm>
            <a:off x="1479550" y="4112895"/>
            <a:ext cx="5924550" cy="2159635"/>
          </a:xfrm>
          <a:prstGeom prst="rect">
            <a:avLst/>
          </a:prstGeom>
        </p:spPr>
      </p:pic>
      <p:pic>
        <p:nvPicPr>
          <p:cNvPr id="4" name="图片 3"/>
          <p:cNvPicPr>
            <a:picLocks noChangeAspect="1"/>
          </p:cNvPicPr>
          <p:nvPr/>
        </p:nvPicPr>
        <p:blipFill>
          <a:blip r:embed="rId3"/>
          <a:stretch>
            <a:fillRect/>
          </a:stretch>
        </p:blipFill>
        <p:spPr>
          <a:xfrm>
            <a:off x="2436273" y="1737526"/>
            <a:ext cx="3779848" cy="220237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Conjugacy</a:t>
            </a:r>
            <a:endParaRPr lang="zh-CN" altLang="en-US" dirty="0"/>
          </a:p>
        </p:txBody>
      </p:sp>
      <p:sp>
        <p:nvSpPr>
          <p:cNvPr id="4" name="文本框 3"/>
          <p:cNvSpPr txBox="1"/>
          <p:nvPr/>
        </p:nvSpPr>
        <p:spPr>
          <a:xfrm>
            <a:off x="823018" y="2123124"/>
            <a:ext cx="7850909" cy="2861310"/>
          </a:xfrm>
          <a:prstGeom prst="rect">
            <a:avLst/>
          </a:prstGeom>
          <a:noFill/>
        </p:spPr>
        <p:txBody>
          <a:bodyPr wrap="square" rtlCol="0">
            <a:spAutoFit/>
          </a:bodyPr>
          <a:lstStyle/>
          <a:p>
            <a:r>
              <a:rPr lang="en-US" altLang="zh-CN" dirty="0"/>
              <a:t>According to Bayes’ theorem (6.23), the posterior is proportional to the</a:t>
            </a:r>
          </a:p>
          <a:p>
            <a:r>
              <a:rPr lang="en-US" altLang="zh-CN" dirty="0"/>
              <a:t>product of the prior and the likelihood. </a:t>
            </a:r>
          </a:p>
          <a:p>
            <a:endParaRPr lang="en-US" altLang="zh-CN" dirty="0"/>
          </a:p>
          <a:p>
            <a:r>
              <a:rPr lang="en-US" altLang="zh-CN" dirty="0"/>
              <a:t>The specification of the prior canbe tricky for two reasons: </a:t>
            </a:r>
          </a:p>
          <a:p>
            <a:pPr marL="342900" indent="-342900">
              <a:buFont typeface="Arial" panose="020B0604020202020204" pitchFamily="34" charset="0"/>
              <a:buChar char="•"/>
            </a:pPr>
            <a:r>
              <a:rPr lang="en-US" altLang="zh-CN" dirty="0"/>
              <a:t>The prior should encapsulate our knowledge about the problem before we see any data. This is often difficult to describe. </a:t>
            </a:r>
          </a:p>
          <a:p>
            <a:pPr marL="342900" indent="-342900">
              <a:buFont typeface="Arial" panose="020B0604020202020204" pitchFamily="34" charset="0"/>
              <a:buChar char="•"/>
            </a:pPr>
            <a:r>
              <a:rPr lang="en-US" altLang="zh-CN" dirty="0"/>
              <a:t>It is often not possible to compute the posterior distribution analytically. </a:t>
            </a:r>
          </a:p>
          <a:p>
            <a:endParaRPr lang="en-US" altLang="zh-CN" dirty="0"/>
          </a:p>
          <a:p>
            <a:r>
              <a:rPr lang="en-US" altLang="zh-CN" dirty="0"/>
              <a:t>However, there are some priors that are computationally convenient: </a:t>
            </a:r>
            <a:r>
              <a:rPr lang="en-US" altLang="zh-CN" i="1" dirty="0"/>
              <a:t>conjugate priors</a:t>
            </a:r>
            <a:r>
              <a:rPr lang="en-US" altLang="zh-CN" dirty="0"/>
              <a:t>.</a:t>
            </a:r>
            <a:endParaRPr lang="zh-CN" altLang="en-US" dirty="0"/>
          </a:p>
        </p:txBody>
      </p:sp>
      <p:pic>
        <p:nvPicPr>
          <p:cNvPr id="5" name="图片 4"/>
          <p:cNvPicPr>
            <a:picLocks noChangeAspect="1"/>
          </p:cNvPicPr>
          <p:nvPr/>
        </p:nvPicPr>
        <p:blipFill>
          <a:blip r:embed="rId2"/>
          <a:stretch>
            <a:fillRect/>
          </a:stretch>
        </p:blipFill>
        <p:spPr>
          <a:xfrm>
            <a:off x="822960" y="5215890"/>
            <a:ext cx="7028815" cy="6902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814830" y="1080770"/>
            <a:ext cx="5514975" cy="469709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822960" y="2135505"/>
            <a:ext cx="7183120" cy="369697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160145" y="2390140"/>
            <a:ext cx="6464935" cy="1613535"/>
          </a:xfrm>
          <a:prstGeom prst="rect">
            <a:avLst/>
          </a:prstGeom>
        </p:spPr>
      </p:pic>
      <p:sp>
        <p:nvSpPr>
          <p:cNvPr id="5" name="文本框 4"/>
          <p:cNvSpPr txBox="1"/>
          <p:nvPr/>
        </p:nvSpPr>
        <p:spPr>
          <a:xfrm>
            <a:off x="1291590" y="4442460"/>
            <a:ext cx="6333490" cy="645160"/>
          </a:xfrm>
          <a:prstGeom prst="rect">
            <a:avLst/>
          </a:prstGeom>
          <a:noFill/>
        </p:spPr>
        <p:txBody>
          <a:bodyPr wrap="square" rtlCol="0">
            <a:spAutoFit/>
          </a:bodyPr>
          <a:lstStyle/>
          <a:p>
            <a:r>
              <a:rPr lang="en-US" altLang="zh-CN" dirty="0"/>
              <a:t>The reason why the Gaussian likelihood appears twice</a:t>
            </a:r>
            <a:r>
              <a:rPr lang="zh-CN" altLang="en-US" dirty="0"/>
              <a:t>： </a:t>
            </a:r>
            <a:r>
              <a:rPr lang="en-US" altLang="zh-CN" dirty="0"/>
              <a:t>distinguish the univariate from the multivariate case.</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Exponential Family</a:t>
            </a:r>
            <a:endParaRPr lang="zh-CN" altLang="en-US" dirty="0"/>
          </a:p>
        </p:txBody>
      </p:sp>
      <p:sp>
        <p:nvSpPr>
          <p:cNvPr id="4" name="文本框 3"/>
          <p:cNvSpPr txBox="1"/>
          <p:nvPr/>
        </p:nvSpPr>
        <p:spPr>
          <a:xfrm>
            <a:off x="822960" y="1883410"/>
            <a:ext cx="7416165" cy="1198880"/>
          </a:xfrm>
          <a:prstGeom prst="rect">
            <a:avLst/>
          </a:prstGeom>
          <a:noFill/>
        </p:spPr>
        <p:txBody>
          <a:bodyPr wrap="square" rtlCol="0">
            <a:spAutoFit/>
          </a:bodyPr>
          <a:lstStyle/>
          <a:p>
            <a:r>
              <a:rPr lang="en-US" altLang="zh-CN" dirty="0"/>
              <a:t>There are three possible levels of abstraction we can have when considering distributions (of discrete or continuous random variables). At level one (the most concrete end of the spectrum), we have a particular named distribution with fixed parameters</a:t>
            </a:r>
            <a:endParaRPr lang="zh-CN" altLang="en-US" dirty="0"/>
          </a:p>
        </p:txBody>
      </p:sp>
      <p:sp>
        <p:nvSpPr>
          <p:cNvPr id="5" name="文本框 4"/>
          <p:cNvSpPr txBox="1"/>
          <p:nvPr/>
        </p:nvSpPr>
        <p:spPr>
          <a:xfrm>
            <a:off x="789594" y="3468543"/>
            <a:ext cx="7610763" cy="645160"/>
          </a:xfrm>
          <a:prstGeom prst="rect">
            <a:avLst/>
          </a:prstGeom>
          <a:noFill/>
        </p:spPr>
        <p:txBody>
          <a:bodyPr wrap="square" rtlCol="0">
            <a:spAutoFit/>
          </a:bodyPr>
          <a:lstStyle/>
          <a:p>
            <a:r>
              <a:rPr lang="en-US" altLang="zh-CN" dirty="0"/>
              <a:t>The second level of abstraction, that is, we fix the parametric</a:t>
            </a:r>
          </a:p>
          <a:p>
            <a:r>
              <a:rPr lang="en-US" altLang="zh-CN" dirty="0"/>
              <a:t>form (the univariate Gaussian) and infer the parameters from data.</a:t>
            </a:r>
            <a:endParaRPr lang="zh-CN" altLang="en-US" dirty="0"/>
          </a:p>
        </p:txBody>
      </p:sp>
      <p:sp>
        <p:nvSpPr>
          <p:cNvPr id="6" name="文本框 5"/>
          <p:cNvSpPr txBox="1"/>
          <p:nvPr/>
        </p:nvSpPr>
        <p:spPr>
          <a:xfrm>
            <a:off x="822960" y="4618355"/>
            <a:ext cx="7247255" cy="1476375"/>
          </a:xfrm>
          <a:prstGeom prst="rect">
            <a:avLst/>
          </a:prstGeom>
          <a:noFill/>
        </p:spPr>
        <p:txBody>
          <a:bodyPr wrap="square" rtlCol="0">
            <a:spAutoFit/>
          </a:bodyPr>
          <a:lstStyle/>
          <a:p>
            <a:r>
              <a:rPr lang="en-US" altLang="zh-CN" dirty="0"/>
              <a:t>A third level of abstraction is to consider families of distributions, and in this book, we consider the exponential family. The univariate Gaussian is an example of a member of the exponential family. Many of the widely used statistical models, including all the prevously “named” models  are members of the exponential family.</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1516380" y="4949190"/>
            <a:ext cx="2351405" cy="390525"/>
          </a:xfrm>
          <a:prstGeom prst="rect">
            <a:avLst/>
          </a:prstGeom>
        </p:spPr>
      </p:pic>
      <p:sp>
        <p:nvSpPr>
          <p:cNvPr id="6" name="文本框 5"/>
          <p:cNvSpPr txBox="1"/>
          <p:nvPr/>
        </p:nvSpPr>
        <p:spPr>
          <a:xfrm>
            <a:off x="4916805" y="4891405"/>
            <a:ext cx="3586480" cy="645160"/>
          </a:xfrm>
          <a:prstGeom prst="rect">
            <a:avLst/>
          </a:prstGeom>
          <a:noFill/>
        </p:spPr>
        <p:txBody>
          <a:bodyPr wrap="square" rtlCol="0">
            <a:spAutoFit/>
          </a:bodyPr>
          <a:lstStyle/>
          <a:p>
            <a:r>
              <a:rPr lang="en-US" altLang="zh-CN" dirty="0"/>
              <a:t>The parameters are called the </a:t>
            </a:r>
            <a:r>
              <a:rPr lang="en-US" altLang="zh-CN" i="1" dirty="0"/>
              <a:t>natural parameters</a:t>
            </a:r>
            <a:r>
              <a:rPr lang="en-US" altLang="zh-CN" dirty="0"/>
              <a:t>.</a:t>
            </a:r>
            <a:endParaRPr lang="zh-CN" altLang="en-US" dirty="0"/>
          </a:p>
        </p:txBody>
      </p:sp>
      <p:grpSp>
        <p:nvGrpSpPr>
          <p:cNvPr id="7" name="组合 6"/>
          <p:cNvGrpSpPr/>
          <p:nvPr/>
        </p:nvGrpSpPr>
        <p:grpSpPr>
          <a:xfrm>
            <a:off x="1131570" y="1907540"/>
            <a:ext cx="6885940" cy="2791460"/>
            <a:chOff x="1782" y="3004"/>
            <a:chExt cx="10844" cy="4396"/>
          </a:xfrm>
        </p:grpSpPr>
        <p:pic>
          <p:nvPicPr>
            <p:cNvPr id="4" name="图片 3"/>
            <p:cNvPicPr>
              <a:picLocks noChangeAspect="1"/>
            </p:cNvPicPr>
            <p:nvPr/>
          </p:nvPicPr>
          <p:blipFill>
            <a:blip r:embed="rId3"/>
            <a:stretch>
              <a:fillRect/>
            </a:stretch>
          </p:blipFill>
          <p:spPr>
            <a:xfrm>
              <a:off x="1793" y="3004"/>
              <a:ext cx="10814" cy="4045"/>
            </a:xfrm>
            <a:prstGeom prst="rect">
              <a:avLst/>
            </a:prstGeom>
          </p:spPr>
        </p:pic>
        <p:sp>
          <p:nvSpPr>
            <p:cNvPr id="2" name="矩形 1"/>
            <p:cNvSpPr/>
            <p:nvPr/>
          </p:nvSpPr>
          <p:spPr>
            <a:xfrm>
              <a:off x="9866" y="5850"/>
              <a:ext cx="2760" cy="9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782" y="6256"/>
              <a:ext cx="8084" cy="1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grpSp>
        <p:nvGrpSpPr>
          <p:cNvPr id="9" name="组合 8"/>
          <p:cNvGrpSpPr/>
          <p:nvPr/>
        </p:nvGrpSpPr>
        <p:grpSpPr>
          <a:xfrm>
            <a:off x="1254760" y="1765300"/>
            <a:ext cx="6680200" cy="4357370"/>
            <a:chOff x="2087" y="3096"/>
            <a:chExt cx="8184" cy="5618"/>
          </a:xfrm>
        </p:grpSpPr>
        <p:pic>
          <p:nvPicPr>
            <p:cNvPr id="4" name="图片 3"/>
            <p:cNvPicPr>
              <a:picLocks noChangeAspect="1"/>
            </p:cNvPicPr>
            <p:nvPr/>
          </p:nvPicPr>
          <p:blipFill>
            <a:blip r:embed="rId2"/>
            <a:stretch>
              <a:fillRect/>
            </a:stretch>
          </p:blipFill>
          <p:spPr>
            <a:xfrm>
              <a:off x="2087" y="3096"/>
              <a:ext cx="8185" cy="4608"/>
            </a:xfrm>
            <a:prstGeom prst="rect">
              <a:avLst/>
            </a:prstGeom>
          </p:spPr>
        </p:pic>
        <p:pic>
          <p:nvPicPr>
            <p:cNvPr id="5" name="图片 4"/>
            <p:cNvPicPr>
              <a:picLocks noChangeAspect="1"/>
            </p:cNvPicPr>
            <p:nvPr/>
          </p:nvPicPr>
          <p:blipFill>
            <a:blip r:embed="rId3"/>
            <a:stretch>
              <a:fillRect/>
            </a:stretch>
          </p:blipFill>
          <p:spPr>
            <a:xfrm>
              <a:off x="2127" y="7682"/>
              <a:ext cx="8101" cy="1032"/>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882140" y="1039495"/>
            <a:ext cx="5695315" cy="524764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026160" y="1880870"/>
            <a:ext cx="4318000" cy="492760"/>
          </a:xfrm>
          <a:prstGeom prst="rect">
            <a:avLst/>
          </a:prstGeom>
        </p:spPr>
      </p:pic>
      <p:pic>
        <p:nvPicPr>
          <p:cNvPr id="5" name="图片 4"/>
          <p:cNvPicPr>
            <a:picLocks noChangeAspect="1"/>
          </p:cNvPicPr>
          <p:nvPr/>
        </p:nvPicPr>
        <p:blipFill>
          <a:blip r:embed="rId3"/>
          <a:stretch>
            <a:fillRect/>
          </a:stretch>
        </p:blipFill>
        <p:spPr>
          <a:xfrm>
            <a:off x="1026160" y="2765425"/>
            <a:ext cx="7137400" cy="312674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片 2"/>
          <p:cNvPicPr>
            <a:picLocks noChangeAspect="1"/>
          </p:cNvPicPr>
          <p:nvPr>
            <p:custDataLst>
              <p:tags r:id="rId1"/>
            </p:custDataLst>
          </p:nvPr>
        </p:nvPicPr>
        <p:blipFill>
          <a:blip r:embed="rId3"/>
          <a:stretch>
            <a:fillRect/>
          </a:stretch>
        </p:blipFill>
        <p:spPr>
          <a:xfrm>
            <a:off x="1566545" y="1430020"/>
            <a:ext cx="6056630" cy="458152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Change of Variables/Inverse Transform</a:t>
            </a:r>
            <a:endParaRPr lang="zh-CN" altLang="en-US" dirty="0"/>
          </a:p>
        </p:txBody>
      </p:sp>
      <mc:AlternateContent xmlns:mc="http://schemas.openxmlformats.org/markup-compatibility/2006" xmlns:a14="http://schemas.microsoft.com/office/drawing/2010/main">
        <mc:Choice Requires="a14">
          <p:sp>
            <p:nvSpPr>
              <p:cNvPr id="5" name="文本框 4"/>
              <p:cNvSpPr txBox="1"/>
              <p:nvPr/>
            </p:nvSpPr>
            <p:spPr>
              <a:xfrm>
                <a:off x="822960" y="1899285"/>
                <a:ext cx="7169150" cy="739775"/>
              </a:xfrm>
              <a:prstGeom prst="rect">
                <a:avLst/>
              </a:prstGeom>
              <a:noFill/>
            </p:spPr>
            <p:txBody>
              <a:bodyPr wrap="square" rtlCol="0">
                <a:spAutoFit/>
              </a:bodyPr>
              <a:lstStyle/>
              <a:p>
                <a:r>
                  <a:rPr lang="en-US" altLang="zh-CN" dirty="0"/>
                  <a:t>Assuming that </a:t>
                </a:r>
                <a14:m>
                  <m:oMath xmlns:m="http://schemas.openxmlformats.org/officeDocument/2006/math">
                    <m:r>
                      <a:rPr lang="en-US" altLang="zh-CN" i="1" dirty="0">
                        <a:latin typeface="Cambria Math" charset="0"/>
                        <a:cs typeface="Cambria Math" charset="0"/>
                      </a:rPr>
                      <m:t>𝑥</m:t>
                    </m:r>
                  </m:oMath>
                </a14:m>
                <a:r>
                  <a:rPr lang="en-US" altLang="zh-CN" dirty="0"/>
                  <a:t> is a random variable distributed according to the univariate normal distribution N(0, 1), what is the distribution of </a:t>
                </a:r>
                <a14:m>
                  <m:oMath xmlns:m="http://schemas.openxmlformats.org/officeDocument/2006/math">
                    <m:sSup>
                      <m:sSupPr>
                        <m:ctrlPr>
                          <a:rPr lang="en-US" altLang="zh-CN" i="1" dirty="0">
                            <a:latin typeface="Cambria Math" panose="02040503050406030204" pitchFamily="18" charset="0"/>
                            <a:cs typeface="Cambria Math" charset="0"/>
                          </a:rPr>
                        </m:ctrlPr>
                      </m:sSupPr>
                      <m:e>
                        <m:r>
                          <a:rPr lang="en-US" altLang="zh-CN" i="1" dirty="0">
                            <a:latin typeface="Cambria Math" charset="0"/>
                            <a:cs typeface="Cambria Math" charset="0"/>
                          </a:rPr>
                          <m:t>𝑥</m:t>
                        </m:r>
                      </m:e>
                      <m:sup>
                        <m:r>
                          <a:rPr lang="en-US" altLang="zh-CN" i="1" dirty="0">
                            <a:latin typeface="Cambria Math" charset="0"/>
                            <a:cs typeface="Cambria Math" charset="0"/>
                          </a:rPr>
                          <m:t>2</m:t>
                        </m:r>
                      </m:sup>
                    </m:sSup>
                  </m:oMath>
                </a14:m>
                <a:r>
                  <a:rPr lang="en-US" altLang="zh-CN" dirty="0"/>
                  <a:t>?</a:t>
                </a:r>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822960" y="1899285"/>
                <a:ext cx="7169150" cy="739775"/>
              </a:xfrm>
              <a:prstGeom prst="rect">
                <a:avLst/>
              </a:prstGeom>
              <a:blipFill rotWithShape="1">
                <a:blip r:embed="rId2"/>
                <a:stretch>
                  <a:fillRect/>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923925" y="2813050"/>
                <a:ext cx="7281545" cy="739775"/>
              </a:xfrm>
              <a:prstGeom prst="rect">
                <a:avLst/>
              </a:prstGeom>
              <a:noFill/>
            </p:spPr>
            <p:txBody>
              <a:bodyPr wrap="square" rtlCol="0">
                <a:spAutoFit/>
              </a:bodyPr>
              <a:lstStyle/>
              <a:p>
                <a:r>
                  <a:rPr lang="en-US" altLang="zh-CN" dirty="0"/>
                  <a:t>Given that </a:t>
                </a:r>
                <a14:m>
                  <m:oMath xmlns:m="http://schemas.openxmlformats.org/officeDocument/2006/math">
                    <m:sSub>
                      <m:sSubPr>
                        <m:ctrlPr>
                          <a:rPr lang="en-US" altLang="zh-CN" i="1" dirty="0">
                            <a:latin typeface="Cambria Math" panose="02040503050406030204" pitchFamily="18" charset="0"/>
                            <a:cs typeface="Cambria Math" charset="0"/>
                          </a:rPr>
                        </m:ctrlPr>
                      </m:sSubPr>
                      <m:e>
                        <m:r>
                          <a:rPr lang="en-US" altLang="zh-CN" i="1" dirty="0">
                            <a:latin typeface="Cambria Math" charset="0"/>
                            <a:cs typeface="Cambria Math" charset="0"/>
                          </a:rPr>
                          <m:t>𝑥</m:t>
                        </m:r>
                      </m:e>
                      <m:sub>
                        <m:r>
                          <a:rPr lang="en-US" altLang="zh-CN" i="1" dirty="0">
                            <a:latin typeface="Cambria Math" charset="0"/>
                            <a:cs typeface="Cambria Math" charset="0"/>
                          </a:rPr>
                          <m:t>1</m:t>
                        </m:r>
                      </m:sub>
                    </m:sSub>
                  </m:oMath>
                </a14:m>
                <a:r>
                  <a:rPr lang="en-US" altLang="zh-CN" dirty="0"/>
                  <a:t> and </a:t>
                </a:r>
                <a14:m>
                  <m:oMath xmlns:m="http://schemas.openxmlformats.org/officeDocument/2006/math">
                    <m:sSub>
                      <m:sSubPr>
                        <m:ctrlPr>
                          <a:rPr lang="en-US" altLang="zh-CN" i="1" dirty="0">
                            <a:latin typeface="Cambria Math" panose="02040503050406030204" pitchFamily="18" charset="0"/>
                            <a:cs typeface="Cambria Math" charset="0"/>
                          </a:rPr>
                        </m:ctrlPr>
                      </m:sSubPr>
                      <m:e>
                        <m:r>
                          <a:rPr lang="en-US" altLang="zh-CN" i="1" dirty="0">
                            <a:latin typeface="Cambria Math" charset="0"/>
                            <a:cs typeface="Cambria Math" charset="0"/>
                          </a:rPr>
                          <m:t>𝑥</m:t>
                        </m:r>
                      </m:e>
                      <m:sub>
                        <m:r>
                          <a:rPr lang="en-US" altLang="zh-CN" i="1" dirty="0">
                            <a:latin typeface="Cambria Math" charset="0"/>
                            <a:cs typeface="Cambria Math" charset="0"/>
                          </a:rPr>
                          <m:t>2</m:t>
                        </m:r>
                      </m:sub>
                    </m:sSub>
                  </m:oMath>
                </a14:m>
                <a:r>
                  <a:rPr lang="en-US" altLang="zh-CN" dirty="0">
                    <a:sym typeface="+mn-ea"/>
                  </a:rPr>
                  <a:t> </a:t>
                </a:r>
                <a:r>
                  <a:rPr lang="en-US" altLang="zh-CN" dirty="0"/>
                  <a:t> are univariate standard normal, what is the distribution of (1/2) (</a:t>
                </a:r>
                <a14:m>
                  <m:oMath xmlns:m="http://schemas.openxmlformats.org/officeDocument/2006/math">
                    <m:sSub>
                      <m:sSubPr>
                        <m:ctrlPr>
                          <a:rPr lang="en-US" altLang="zh-CN" i="1" dirty="0">
                            <a:latin typeface="Cambria Math" panose="02040503050406030204" pitchFamily="18" charset="0"/>
                            <a:cs typeface="Cambria Math" charset="0"/>
                          </a:rPr>
                        </m:ctrlPr>
                      </m:sSubPr>
                      <m:e>
                        <m:r>
                          <a:rPr lang="en-US" altLang="zh-CN" i="1" dirty="0">
                            <a:latin typeface="Cambria Math" charset="0"/>
                            <a:cs typeface="Cambria Math" charset="0"/>
                          </a:rPr>
                          <m:t>𝑥</m:t>
                        </m:r>
                      </m:e>
                      <m:sub>
                        <m:r>
                          <a:rPr lang="en-US" altLang="zh-CN" i="1" dirty="0">
                            <a:latin typeface="Cambria Math" charset="0"/>
                            <a:cs typeface="Cambria Math" charset="0"/>
                          </a:rPr>
                          <m:t>1</m:t>
                        </m:r>
                      </m:sub>
                    </m:sSub>
                  </m:oMath>
                </a14:m>
                <a:r>
                  <a:rPr lang="en-US" altLang="zh-CN" dirty="0">
                    <a:sym typeface="+mn-ea"/>
                  </a:rPr>
                  <a:t> </a:t>
                </a:r>
                <a:r>
                  <a:rPr lang="en-US" altLang="zh-CN" dirty="0"/>
                  <a:t> + </a:t>
                </a:r>
                <a14:m>
                  <m:oMath xmlns:m="http://schemas.openxmlformats.org/officeDocument/2006/math">
                    <m:sSub>
                      <m:sSubPr>
                        <m:ctrlPr>
                          <a:rPr lang="en-US" altLang="zh-CN" i="1" dirty="0">
                            <a:latin typeface="Cambria Math" panose="02040503050406030204" pitchFamily="18" charset="0"/>
                            <a:cs typeface="Cambria Math" charset="0"/>
                          </a:rPr>
                        </m:ctrlPr>
                      </m:sSubPr>
                      <m:e>
                        <m:r>
                          <a:rPr lang="en-US" altLang="zh-CN" i="1" dirty="0">
                            <a:latin typeface="Cambria Math" charset="0"/>
                            <a:cs typeface="Cambria Math" charset="0"/>
                          </a:rPr>
                          <m:t>𝑥</m:t>
                        </m:r>
                      </m:e>
                      <m:sub>
                        <m:r>
                          <a:rPr lang="en-US" altLang="zh-CN" i="1" dirty="0">
                            <a:latin typeface="Cambria Math" charset="0"/>
                            <a:cs typeface="Cambria Math" charset="0"/>
                          </a:rPr>
                          <m:t>2</m:t>
                        </m:r>
                      </m:sub>
                    </m:sSub>
                  </m:oMath>
                </a14:m>
                <a:r>
                  <a:rPr lang="en-US" altLang="zh-CN" dirty="0">
                    <a:sym typeface="+mn-ea"/>
                  </a:rPr>
                  <a:t> </a:t>
                </a:r>
                <a:r>
                  <a:rPr lang="en-US" altLang="zh-CN" dirty="0"/>
                  <a:t>)?</a:t>
                </a:r>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923925" y="2813050"/>
                <a:ext cx="7281545" cy="739775"/>
              </a:xfrm>
              <a:prstGeom prst="rect">
                <a:avLst/>
              </a:prstGeom>
              <a:blipFill rotWithShape="1">
                <a:blip r:embed="rId3"/>
                <a:stretch>
                  <a:fillRect/>
                </a:stretch>
              </a:blipFill>
            </p:spPr>
            <p:txBody>
              <a:bodyPr/>
              <a:lstStyle/>
              <a:p>
                <a:r>
                  <a:rPr lang="zh-CN" altLang="en-US">
                    <a:noFill/>
                  </a:rPr>
                  <a:t> </a:t>
                </a:r>
                <a:endParaRPr lang="zh-CN" altLang="en-US">
                  <a:noFill/>
                </a:endParaRPr>
              </a:p>
            </p:txBody>
          </p:sp>
        </mc:Fallback>
      </mc:AlternateContent>
      <p:sp>
        <p:nvSpPr>
          <p:cNvPr id="7" name="文本框 6"/>
          <p:cNvSpPr txBox="1"/>
          <p:nvPr/>
        </p:nvSpPr>
        <p:spPr>
          <a:xfrm>
            <a:off x="923925" y="3992880"/>
            <a:ext cx="7068185" cy="1198880"/>
          </a:xfrm>
          <a:prstGeom prst="rect">
            <a:avLst/>
          </a:prstGeom>
          <a:noFill/>
        </p:spPr>
        <p:txBody>
          <a:bodyPr wrap="square" rtlCol="0">
            <a:spAutoFit/>
          </a:bodyPr>
          <a:lstStyle/>
          <a:p>
            <a:r>
              <a:rPr lang="en-US" altLang="zh-CN"/>
              <a:t>We will look at two approaches for obtaining distributions of transformations of random variables: a direct approach using the definition of a cumulative distribution function and a change-of variable approach that uses the chain rule of calculus</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Distribution Function Technique</a:t>
            </a:r>
            <a:endParaRPr lang="zh-CN" altLang="en-US" dirty="0"/>
          </a:p>
        </p:txBody>
      </p:sp>
      <p:pic>
        <p:nvPicPr>
          <p:cNvPr id="4" name="图片 3"/>
          <p:cNvPicPr>
            <a:picLocks noChangeAspect="1"/>
          </p:cNvPicPr>
          <p:nvPr/>
        </p:nvPicPr>
        <p:blipFill>
          <a:blip r:embed="rId2"/>
          <a:stretch>
            <a:fillRect/>
          </a:stretch>
        </p:blipFill>
        <p:spPr>
          <a:xfrm>
            <a:off x="822960" y="2303145"/>
            <a:ext cx="7333615" cy="314261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sp>
        <p:nvSpPr>
          <p:cNvPr id="4" name="文本框 3"/>
          <p:cNvSpPr txBox="1"/>
          <p:nvPr/>
        </p:nvSpPr>
        <p:spPr>
          <a:xfrm>
            <a:off x="951230" y="1879600"/>
            <a:ext cx="6993890" cy="645160"/>
          </a:xfrm>
          <a:prstGeom prst="rect">
            <a:avLst/>
          </a:prstGeom>
          <a:noFill/>
        </p:spPr>
        <p:txBody>
          <a:bodyPr wrap="square" rtlCol="0">
            <a:spAutoFit/>
          </a:bodyPr>
          <a:lstStyle/>
          <a:p>
            <a:r>
              <a:rPr lang="en-US" altLang="zh-CN" dirty="0"/>
              <a:t>For a random variable X and a function U, we find the pdf of the random variable Y := U(X) by</a:t>
            </a:r>
            <a:endParaRPr lang="zh-CN" altLang="en-US" dirty="0"/>
          </a:p>
        </p:txBody>
      </p:sp>
      <p:pic>
        <p:nvPicPr>
          <p:cNvPr id="5" name="图片 4"/>
          <p:cNvPicPr>
            <a:picLocks noChangeAspect="1"/>
          </p:cNvPicPr>
          <p:nvPr/>
        </p:nvPicPr>
        <p:blipFill>
          <a:blip r:embed="rId2"/>
          <a:stretch>
            <a:fillRect/>
          </a:stretch>
        </p:blipFill>
        <p:spPr>
          <a:xfrm>
            <a:off x="951230" y="3074035"/>
            <a:ext cx="7129780" cy="204279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832372" y="632217"/>
            <a:ext cx="5479255" cy="559356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822960" y="2078990"/>
            <a:ext cx="7426960" cy="1781810"/>
          </a:xfrm>
          <a:prstGeom prst="rect">
            <a:avLst/>
          </a:prstGeom>
        </p:spPr>
      </p:pic>
      <p:sp>
        <p:nvSpPr>
          <p:cNvPr id="5" name="文本框 4"/>
          <p:cNvSpPr txBox="1"/>
          <p:nvPr/>
        </p:nvSpPr>
        <p:spPr>
          <a:xfrm>
            <a:off x="996315" y="5471795"/>
            <a:ext cx="3421380" cy="368300"/>
          </a:xfrm>
          <a:prstGeom prst="rect">
            <a:avLst/>
          </a:prstGeom>
          <a:noFill/>
        </p:spPr>
        <p:txBody>
          <a:bodyPr wrap="square" rtlCol="0">
            <a:spAutoFit/>
          </a:bodyPr>
          <a:lstStyle/>
          <a:p>
            <a:r>
              <a:rPr lang="en-US" altLang="zh-CN" i="1" dirty="0"/>
              <a:t>Probability integral transform</a:t>
            </a:r>
            <a:endParaRPr lang="zh-CN" altLang="en-US" dirty="0"/>
          </a:p>
        </p:txBody>
      </p:sp>
      <p:pic>
        <p:nvPicPr>
          <p:cNvPr id="2" name="图片 1"/>
          <p:cNvPicPr>
            <a:picLocks noChangeAspect="1"/>
          </p:cNvPicPr>
          <p:nvPr/>
        </p:nvPicPr>
        <p:blipFill>
          <a:blip r:embed="rId3"/>
          <a:stretch>
            <a:fillRect/>
          </a:stretch>
        </p:blipFill>
        <p:spPr>
          <a:xfrm>
            <a:off x="961390" y="4130040"/>
            <a:ext cx="7150735" cy="723900"/>
          </a:xfrm>
          <a:prstGeom prst="rect">
            <a:avLst/>
          </a:prstGeom>
        </p:spPr>
      </p:pic>
      <p:pic>
        <p:nvPicPr>
          <p:cNvPr id="3" name="图片 2"/>
          <p:cNvPicPr>
            <a:picLocks noChangeAspect="1"/>
          </p:cNvPicPr>
          <p:nvPr/>
        </p:nvPicPr>
        <p:blipFill>
          <a:blip r:embed="rId4"/>
          <a:stretch>
            <a:fillRect/>
          </a:stretch>
        </p:blipFill>
        <p:spPr>
          <a:xfrm>
            <a:off x="996315" y="4759325"/>
            <a:ext cx="1587500" cy="5715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Change of Variables</a:t>
            </a:r>
            <a:endParaRPr lang="zh-CN" altLang="en-US" dirty="0"/>
          </a:p>
        </p:txBody>
      </p:sp>
      <p:pic>
        <p:nvPicPr>
          <p:cNvPr id="4" name="图片 3"/>
          <p:cNvPicPr>
            <a:picLocks noChangeAspect="1"/>
          </p:cNvPicPr>
          <p:nvPr/>
        </p:nvPicPr>
        <p:blipFill>
          <a:blip r:embed="rId2"/>
          <a:stretch>
            <a:fillRect/>
          </a:stretch>
        </p:blipFill>
        <p:spPr>
          <a:xfrm>
            <a:off x="1063625" y="1885950"/>
            <a:ext cx="7016750" cy="408686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1236345" y="1883410"/>
            <a:ext cx="6671310" cy="1250950"/>
          </a:xfrm>
          <a:prstGeom prst="rect">
            <a:avLst/>
          </a:prstGeom>
        </p:spPr>
      </p:pic>
      <p:pic>
        <p:nvPicPr>
          <p:cNvPr id="6" name="图片 5"/>
          <p:cNvPicPr>
            <a:picLocks noChangeAspect="1"/>
          </p:cNvPicPr>
          <p:nvPr/>
        </p:nvPicPr>
        <p:blipFill>
          <a:blip r:embed="rId3"/>
          <a:stretch>
            <a:fillRect/>
          </a:stretch>
        </p:blipFill>
        <p:spPr>
          <a:xfrm>
            <a:off x="1236345" y="3336290"/>
            <a:ext cx="6587490" cy="1059815"/>
          </a:xfrm>
          <a:prstGeom prst="rect">
            <a:avLst/>
          </a:prstGeom>
        </p:spPr>
      </p:pic>
      <p:pic>
        <p:nvPicPr>
          <p:cNvPr id="7" name="图片 6"/>
          <p:cNvPicPr>
            <a:picLocks noChangeAspect="1"/>
          </p:cNvPicPr>
          <p:nvPr/>
        </p:nvPicPr>
        <p:blipFill>
          <a:blip r:embed="rId4"/>
          <a:stretch>
            <a:fillRect/>
          </a:stretch>
        </p:blipFill>
        <p:spPr>
          <a:xfrm>
            <a:off x="1236345" y="4721225"/>
            <a:ext cx="6563995" cy="103251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endParaRPr lang="zh-CN" altLang="en-US"/>
          </a:p>
        </p:txBody>
      </p:sp>
      <p:pic>
        <p:nvPicPr>
          <p:cNvPr id="6" name="图片 5"/>
          <p:cNvPicPr>
            <a:picLocks noChangeAspect="1"/>
          </p:cNvPicPr>
          <p:nvPr/>
        </p:nvPicPr>
        <p:blipFill>
          <a:blip r:embed="rId2"/>
          <a:stretch>
            <a:fillRect/>
          </a:stretch>
        </p:blipFill>
        <p:spPr>
          <a:xfrm>
            <a:off x="2589530" y="3658235"/>
            <a:ext cx="3388360" cy="661035"/>
          </a:xfrm>
          <a:prstGeom prst="rect">
            <a:avLst/>
          </a:prstGeom>
        </p:spPr>
      </p:pic>
      <p:pic>
        <p:nvPicPr>
          <p:cNvPr id="7" name="图片 6"/>
          <p:cNvPicPr>
            <a:picLocks noChangeAspect="1"/>
          </p:cNvPicPr>
          <p:nvPr/>
        </p:nvPicPr>
        <p:blipFill>
          <a:blip r:embed="rId3"/>
          <a:stretch>
            <a:fillRect/>
          </a:stretch>
        </p:blipFill>
        <p:spPr>
          <a:xfrm>
            <a:off x="2620645" y="4765675"/>
            <a:ext cx="3325495" cy="728345"/>
          </a:xfrm>
          <a:prstGeom prst="rect">
            <a:avLst/>
          </a:prstGeom>
        </p:spPr>
      </p:pic>
      <p:pic>
        <p:nvPicPr>
          <p:cNvPr id="2" name="图片 1"/>
          <p:cNvPicPr>
            <a:picLocks noChangeAspect="1"/>
          </p:cNvPicPr>
          <p:nvPr/>
        </p:nvPicPr>
        <p:blipFill>
          <a:blip r:embed="rId4"/>
          <a:stretch>
            <a:fillRect/>
          </a:stretch>
        </p:blipFill>
        <p:spPr>
          <a:xfrm>
            <a:off x="1215390" y="2158365"/>
            <a:ext cx="6563995" cy="103251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940435" y="2386330"/>
            <a:ext cx="7263130" cy="225806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321435" y="1737360"/>
            <a:ext cx="6334760" cy="1748790"/>
          </a:xfrm>
          <a:prstGeom prst="rect">
            <a:avLst/>
          </a:prstGeom>
        </p:spPr>
      </p:pic>
      <p:pic>
        <p:nvPicPr>
          <p:cNvPr id="5" name="图片 4"/>
          <p:cNvPicPr>
            <a:picLocks noChangeAspect="1"/>
          </p:cNvPicPr>
          <p:nvPr/>
        </p:nvPicPr>
        <p:blipFill>
          <a:blip r:embed="rId3"/>
          <a:stretch>
            <a:fillRect/>
          </a:stretch>
        </p:blipFill>
        <p:spPr>
          <a:xfrm>
            <a:off x="1370965" y="3635375"/>
            <a:ext cx="6285230" cy="1355725"/>
          </a:xfrm>
          <a:prstGeom prst="rect">
            <a:avLst/>
          </a:prstGeom>
        </p:spPr>
      </p:pic>
      <p:pic>
        <p:nvPicPr>
          <p:cNvPr id="6" name="图片 5"/>
          <p:cNvPicPr>
            <a:picLocks noChangeAspect="1"/>
          </p:cNvPicPr>
          <p:nvPr/>
        </p:nvPicPr>
        <p:blipFill>
          <a:blip r:embed="rId4"/>
          <a:stretch>
            <a:fillRect/>
          </a:stretch>
        </p:blipFill>
        <p:spPr>
          <a:xfrm>
            <a:off x="1487805" y="5103495"/>
            <a:ext cx="2317115" cy="495300"/>
          </a:xfrm>
          <a:prstGeom prst="rect">
            <a:avLst/>
          </a:prstGeom>
        </p:spPr>
      </p:pic>
      <p:pic>
        <p:nvPicPr>
          <p:cNvPr id="7" name="图片 6"/>
          <p:cNvPicPr>
            <a:picLocks noChangeAspect="1"/>
          </p:cNvPicPr>
          <p:nvPr/>
        </p:nvPicPr>
        <p:blipFill>
          <a:blip r:embed="rId5"/>
          <a:stretch>
            <a:fillRect/>
          </a:stretch>
        </p:blipFill>
        <p:spPr>
          <a:xfrm>
            <a:off x="1328848" y="5774926"/>
            <a:ext cx="3436918" cy="449619"/>
          </a:xfrm>
          <a:prstGeom prst="rect">
            <a:avLst/>
          </a:prstGeom>
        </p:spPr>
      </p:pic>
      <p:pic>
        <p:nvPicPr>
          <p:cNvPr id="8" name="图片 7"/>
          <p:cNvPicPr>
            <a:picLocks noChangeAspect="1"/>
          </p:cNvPicPr>
          <p:nvPr/>
        </p:nvPicPr>
        <p:blipFill>
          <a:blip r:embed="rId6"/>
          <a:stretch>
            <a:fillRect/>
          </a:stretch>
        </p:blipFill>
        <p:spPr>
          <a:xfrm>
            <a:off x="5609850" y="5724736"/>
            <a:ext cx="2004234" cy="510584"/>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297,&quot;width&quot;:7003}"/>
</p:tagLst>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126</TotalTime>
  <Words>866</Words>
  <Application>Microsoft Office PowerPoint</Application>
  <PresentationFormat>全屏显示(4:3)</PresentationFormat>
  <Paragraphs>71</Paragraphs>
  <Slides>51</Slides>
  <Notes>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51</vt:i4>
      </vt:variant>
    </vt:vector>
  </HeadingPairs>
  <TitlesOfParts>
    <vt:vector size="58" baseType="lpstr">
      <vt:lpstr>宋体</vt:lpstr>
      <vt:lpstr>Arial</vt:lpstr>
      <vt:lpstr>Calibri</vt:lpstr>
      <vt:lpstr>Calibri Light</vt:lpstr>
      <vt:lpstr>Cambria Math</vt:lpstr>
      <vt:lpstr>Wingdings</vt:lpstr>
      <vt:lpstr>回顾</vt:lpstr>
      <vt:lpstr>Probability and Distributions</vt:lpstr>
      <vt:lpstr>PowerPoint 演示文稿</vt:lpstr>
      <vt:lpstr> The probability space</vt:lpstr>
      <vt:lpstr>Random variable</vt:lpstr>
      <vt:lpstr>PowerPoint 演示文稿</vt:lpstr>
      <vt:lpstr>Means and Covariances</vt:lpstr>
      <vt:lpstr>PowerPoint 演示文稿</vt:lpstr>
      <vt:lpstr>PowerPoint 演示文稿</vt:lpstr>
      <vt:lpstr>PowerPoint 演示文稿</vt:lpstr>
      <vt:lpstr>Empirical Means and Covariances</vt:lpstr>
      <vt:lpstr>Sums and Transformations of Random Variables</vt:lpstr>
      <vt:lpstr>PowerPoint 演示文稿</vt:lpstr>
      <vt:lpstr>Gaussian Distribution</vt:lpstr>
      <vt:lpstr>PowerPoint 演示文稿</vt:lpstr>
      <vt:lpstr>PowerPoint 演示文稿</vt:lpstr>
      <vt:lpstr>Marginals and Conditionals of Gaussians</vt:lpstr>
      <vt:lpstr>Applications</vt:lpstr>
      <vt:lpstr>PowerPoint 演示文稿</vt:lpstr>
      <vt:lpstr>PowerPoint 演示文稿</vt:lpstr>
      <vt:lpstr>Product of Gaussian Densities</vt:lpstr>
      <vt:lpstr>Sums and Linear Transformations</vt:lpstr>
      <vt:lpstr>PowerPoint 演示文稿</vt:lpstr>
      <vt:lpstr>PowerPoint 演示文稿</vt:lpstr>
      <vt:lpstr>PowerPoint 演示文稿</vt:lpstr>
      <vt:lpstr>Sampling from Multivariate Gaussian Distributions</vt:lpstr>
      <vt:lpstr>PowerPoint 演示文稿</vt:lpstr>
      <vt:lpstr>Conjugacy and the Exponential Family</vt:lpstr>
      <vt:lpstr>PowerPoint 演示文稿</vt:lpstr>
      <vt:lpstr>PowerPoint 演示文稿</vt:lpstr>
      <vt:lpstr>PowerPoint 演示文稿</vt:lpstr>
      <vt:lpstr>PowerPoint 演示文稿</vt:lpstr>
      <vt:lpstr>Conjugacy</vt:lpstr>
      <vt:lpstr>PowerPoint 演示文稿</vt:lpstr>
      <vt:lpstr>PowerPoint 演示文稿</vt:lpstr>
      <vt:lpstr>PowerPoint 演示文稿</vt:lpstr>
      <vt:lpstr>Exponential Family</vt:lpstr>
      <vt:lpstr>PowerPoint 演示文稿</vt:lpstr>
      <vt:lpstr>PowerPoint 演示文稿</vt:lpstr>
      <vt:lpstr>PowerPoint 演示文稿</vt:lpstr>
      <vt:lpstr>PowerPoint 演示文稿</vt:lpstr>
      <vt:lpstr>PowerPoint 演示文稿</vt:lpstr>
      <vt:lpstr>Change of Variables/Inverse Transform</vt:lpstr>
      <vt:lpstr>Distribution Function Technique</vt:lpstr>
      <vt:lpstr>PowerPoint 演示文稿</vt:lpstr>
      <vt:lpstr>PowerPoint 演示文稿</vt:lpstr>
      <vt:lpstr>PowerPoint 演示文稿</vt:lpstr>
      <vt:lpstr>Change of Variables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and Distributions</dc:title>
  <dc:creator>admin</dc:creator>
  <cp:lastModifiedBy>wsco</cp:lastModifiedBy>
  <cp:revision>33</cp:revision>
  <dcterms:created xsi:type="dcterms:W3CDTF">2020-08-10T12:33:00Z</dcterms:created>
  <dcterms:modified xsi:type="dcterms:W3CDTF">2021-09-30T05:28:50Z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